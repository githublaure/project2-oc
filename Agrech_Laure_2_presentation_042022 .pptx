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9"/>
  </p:notesMasterIdLst>
  <p:sldIdLst>
    <p:sldId id="256" r:id="rId2"/>
    <p:sldId id="257" r:id="rId3"/>
    <p:sldId id="261" r:id="rId4"/>
    <p:sldId id="296" r:id="rId5"/>
    <p:sldId id="297" r:id="rId6"/>
    <p:sldId id="298" r:id="rId7"/>
    <p:sldId id="308" r:id="rId8"/>
    <p:sldId id="309" r:id="rId9"/>
    <p:sldId id="321" r:id="rId10"/>
    <p:sldId id="299" r:id="rId11"/>
    <p:sldId id="300" r:id="rId12"/>
    <p:sldId id="318" r:id="rId13"/>
    <p:sldId id="319" r:id="rId14"/>
    <p:sldId id="303" r:id="rId15"/>
    <p:sldId id="322" r:id="rId16"/>
    <p:sldId id="301" r:id="rId17"/>
    <p:sldId id="320" r:id="rId18"/>
    <p:sldId id="313" r:id="rId19"/>
    <p:sldId id="302" r:id="rId20"/>
    <p:sldId id="316" r:id="rId21"/>
    <p:sldId id="314" r:id="rId22"/>
    <p:sldId id="305" r:id="rId23"/>
    <p:sldId id="317" r:id="rId24"/>
    <p:sldId id="310" r:id="rId25"/>
    <p:sldId id="307" r:id="rId26"/>
    <p:sldId id="311" r:id="rId27"/>
    <p:sldId id="278" r:id="rId28"/>
  </p:sldIdLst>
  <p:sldSz cx="9144000" cy="5143500" type="screen16x9"/>
  <p:notesSz cx="6858000" cy="9144000"/>
  <p:embeddedFontLst>
    <p:embeddedFont>
      <p:font typeface="Andale Mono" panose="020B0509000000000004" pitchFamily="49" charset="0"/>
      <p:regular r:id="rId30"/>
    </p:embeddedFont>
    <p:embeddedFont>
      <p:font typeface="Dosis" pitchFamily="2" charset="77"/>
      <p:regular r:id="rId31"/>
      <p:bold r:id="rId32"/>
    </p:embeddedFont>
    <p:embeddedFont>
      <p:font typeface="Nunito" pitchFamily="2" charset="77"/>
      <p:regular r:id="rId33"/>
      <p:bold r:id="rId34"/>
      <p:italic r:id="rId35"/>
      <p:boldItalic r:id="rId36"/>
    </p:embeddedFont>
    <p:embeddedFont>
      <p:font typeface="Sniglet" pitchFamily="8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000000"/>
    <a:srgbClr val="FFFD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A78245-F04A-4819-98CB-A0784EEE9882}">
  <a:tblStyle styleId="{0FA78245-F04A-4819-98CB-A0784EEE988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0B4C3CC-C3A9-4D13-B8F7-F7B8FBA7BB3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27F97BB-C833-4FB7-BDE5-3F7075034690}" styleName="Style à thème 2 - Accentuation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EBBBCC-DAD2-459C-BE2E-F6DE35CF9A28}" styleName="Style foncé 2 - Accentuation 3/Accentuation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64"/>
    <p:restoredTop sz="94621"/>
  </p:normalViewPr>
  <p:slideViewPr>
    <p:cSldViewPr snapToGrid="0" snapToObjects="1">
      <p:cViewPr varScale="1">
        <p:scale>
          <a:sx n="144" d="100"/>
          <a:sy n="144" d="100"/>
        </p:scale>
        <p:origin x="520"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188095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107170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61"/>
        <p:cNvGrpSpPr/>
        <p:nvPr/>
      </p:nvGrpSpPr>
      <p:grpSpPr>
        <a:xfrm>
          <a:off x="0" y="0"/>
          <a:ext cx="0" cy="0"/>
          <a:chOff x="0" y="0"/>
          <a:chExt cx="0" cy="0"/>
        </a:xfrm>
      </p:grpSpPr>
      <p:sp>
        <p:nvSpPr>
          <p:cNvPr id="162" name="Google Shape;162;p2"/>
          <p:cNvSpPr txBox="1">
            <a:spLocks noGrp="1"/>
          </p:cNvSpPr>
          <p:nvPr>
            <p:ph type="ctrTitle"/>
          </p:nvPr>
        </p:nvSpPr>
        <p:spPr>
          <a:xfrm>
            <a:off x="2305100" y="1161050"/>
            <a:ext cx="61530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2"/>
              </a:buClr>
              <a:buSzPts val="4800"/>
              <a:buNone/>
              <a:defRPr sz="4800" b="0">
                <a:solidFill>
                  <a:schemeClr val="dk2"/>
                </a:solidFill>
              </a:defRPr>
            </a:lvl1pPr>
            <a:lvl2pPr lvl="1" algn="r">
              <a:spcBef>
                <a:spcPts val="0"/>
              </a:spcBef>
              <a:spcAft>
                <a:spcPts val="0"/>
              </a:spcAft>
              <a:buClr>
                <a:schemeClr val="dk2"/>
              </a:buClr>
              <a:buSzPts val="4800"/>
              <a:buNone/>
              <a:defRPr sz="4800" b="0">
                <a:solidFill>
                  <a:schemeClr val="dk2"/>
                </a:solidFill>
              </a:defRPr>
            </a:lvl2pPr>
            <a:lvl3pPr lvl="2" algn="r">
              <a:spcBef>
                <a:spcPts val="0"/>
              </a:spcBef>
              <a:spcAft>
                <a:spcPts val="0"/>
              </a:spcAft>
              <a:buClr>
                <a:schemeClr val="dk2"/>
              </a:buClr>
              <a:buSzPts val="4800"/>
              <a:buNone/>
              <a:defRPr sz="4800" b="0">
                <a:solidFill>
                  <a:schemeClr val="dk2"/>
                </a:solidFill>
              </a:defRPr>
            </a:lvl3pPr>
            <a:lvl4pPr lvl="3" algn="r">
              <a:spcBef>
                <a:spcPts val="0"/>
              </a:spcBef>
              <a:spcAft>
                <a:spcPts val="0"/>
              </a:spcAft>
              <a:buClr>
                <a:schemeClr val="dk2"/>
              </a:buClr>
              <a:buSzPts val="4800"/>
              <a:buNone/>
              <a:defRPr sz="4800" b="0">
                <a:solidFill>
                  <a:schemeClr val="dk2"/>
                </a:solidFill>
              </a:defRPr>
            </a:lvl4pPr>
            <a:lvl5pPr lvl="4" algn="r">
              <a:spcBef>
                <a:spcPts val="0"/>
              </a:spcBef>
              <a:spcAft>
                <a:spcPts val="0"/>
              </a:spcAft>
              <a:buClr>
                <a:schemeClr val="dk2"/>
              </a:buClr>
              <a:buSzPts val="4800"/>
              <a:buNone/>
              <a:defRPr sz="4800" b="0">
                <a:solidFill>
                  <a:schemeClr val="dk2"/>
                </a:solidFill>
              </a:defRPr>
            </a:lvl5pPr>
            <a:lvl6pPr lvl="5" algn="r">
              <a:spcBef>
                <a:spcPts val="0"/>
              </a:spcBef>
              <a:spcAft>
                <a:spcPts val="0"/>
              </a:spcAft>
              <a:buClr>
                <a:schemeClr val="dk2"/>
              </a:buClr>
              <a:buSzPts val="4800"/>
              <a:buNone/>
              <a:defRPr sz="4800" b="0">
                <a:solidFill>
                  <a:schemeClr val="dk2"/>
                </a:solidFill>
              </a:defRPr>
            </a:lvl6pPr>
            <a:lvl7pPr lvl="6" algn="r">
              <a:spcBef>
                <a:spcPts val="0"/>
              </a:spcBef>
              <a:spcAft>
                <a:spcPts val="0"/>
              </a:spcAft>
              <a:buClr>
                <a:schemeClr val="dk2"/>
              </a:buClr>
              <a:buSzPts val="4800"/>
              <a:buNone/>
              <a:defRPr sz="4800" b="0">
                <a:solidFill>
                  <a:schemeClr val="dk2"/>
                </a:solidFill>
              </a:defRPr>
            </a:lvl7pPr>
            <a:lvl8pPr lvl="7" algn="r">
              <a:spcBef>
                <a:spcPts val="0"/>
              </a:spcBef>
              <a:spcAft>
                <a:spcPts val="0"/>
              </a:spcAft>
              <a:buClr>
                <a:schemeClr val="dk2"/>
              </a:buClr>
              <a:buSzPts val="4800"/>
              <a:buNone/>
              <a:defRPr sz="4800" b="0">
                <a:solidFill>
                  <a:schemeClr val="dk2"/>
                </a:solidFill>
              </a:defRPr>
            </a:lvl8pPr>
            <a:lvl9pPr lvl="8" algn="r">
              <a:spcBef>
                <a:spcPts val="0"/>
              </a:spcBef>
              <a:spcAft>
                <a:spcPts val="0"/>
              </a:spcAft>
              <a:buClr>
                <a:schemeClr val="dk2"/>
              </a:buClr>
              <a:buSzPts val="4800"/>
              <a:buNone/>
              <a:defRPr sz="4800" b="0">
                <a:solidFill>
                  <a:schemeClr val="dk2"/>
                </a:solidFill>
              </a:defRPr>
            </a:lvl9pPr>
          </a:lstStyle>
          <a:p>
            <a:endParaRPr/>
          </a:p>
        </p:txBody>
      </p:sp>
      <p:sp>
        <p:nvSpPr>
          <p:cNvPr id="163" name="Google Shape;163;p2"/>
          <p:cNvSpPr/>
          <p:nvPr/>
        </p:nvSpPr>
        <p:spPr>
          <a:xfrm>
            <a:off x="723692" y="4220091"/>
            <a:ext cx="794875" cy="985737"/>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4" name="Google Shape;164;p2"/>
          <p:cNvSpPr/>
          <p:nvPr/>
        </p:nvSpPr>
        <p:spPr>
          <a:xfrm>
            <a:off x="-58319" y="3053287"/>
            <a:ext cx="782014" cy="890356"/>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5" name="Google Shape;165;p2"/>
          <p:cNvSpPr/>
          <p:nvPr/>
        </p:nvSpPr>
        <p:spPr>
          <a:xfrm>
            <a:off x="4025101" y="3422420"/>
            <a:ext cx="370865" cy="809588"/>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6" name="Google Shape;166;p2"/>
          <p:cNvSpPr/>
          <p:nvPr/>
        </p:nvSpPr>
        <p:spPr>
          <a:xfrm>
            <a:off x="3078045" y="3128354"/>
            <a:ext cx="730671" cy="895811"/>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7" name="Google Shape;167;p2"/>
          <p:cNvSpPr/>
          <p:nvPr/>
        </p:nvSpPr>
        <p:spPr>
          <a:xfrm>
            <a:off x="5401648" y="3285712"/>
            <a:ext cx="805934" cy="75083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8" name="Google Shape;168;p2"/>
          <p:cNvSpPr/>
          <p:nvPr/>
        </p:nvSpPr>
        <p:spPr>
          <a:xfrm>
            <a:off x="8364459" y="3346843"/>
            <a:ext cx="873792" cy="600260"/>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9" name="Google Shape;169;p2"/>
          <p:cNvSpPr/>
          <p:nvPr/>
        </p:nvSpPr>
        <p:spPr>
          <a:xfrm>
            <a:off x="4551116" y="3125540"/>
            <a:ext cx="657208" cy="679227"/>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0" name="Google Shape;170;p2"/>
          <p:cNvSpPr/>
          <p:nvPr/>
        </p:nvSpPr>
        <p:spPr>
          <a:xfrm>
            <a:off x="4419881" y="3994834"/>
            <a:ext cx="919681" cy="950908"/>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1" name="Google Shape;171;p2"/>
          <p:cNvSpPr/>
          <p:nvPr/>
        </p:nvSpPr>
        <p:spPr>
          <a:xfrm>
            <a:off x="2644912" y="4036538"/>
            <a:ext cx="890356" cy="7068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2" name="Google Shape;172;p2"/>
          <p:cNvSpPr/>
          <p:nvPr/>
        </p:nvSpPr>
        <p:spPr>
          <a:xfrm>
            <a:off x="2116542" y="3186156"/>
            <a:ext cx="829755" cy="78016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3" name="Google Shape;173;p2"/>
          <p:cNvSpPr/>
          <p:nvPr/>
        </p:nvSpPr>
        <p:spPr>
          <a:xfrm>
            <a:off x="1347361" y="3186147"/>
            <a:ext cx="599146" cy="706812"/>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4" name="Google Shape;174;p2"/>
          <p:cNvSpPr/>
          <p:nvPr/>
        </p:nvSpPr>
        <p:spPr>
          <a:xfrm>
            <a:off x="2681615" y="4813558"/>
            <a:ext cx="816944" cy="313967"/>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5" name="Google Shape;175;p2"/>
          <p:cNvSpPr/>
          <p:nvPr/>
        </p:nvSpPr>
        <p:spPr>
          <a:xfrm>
            <a:off x="7146421" y="4508764"/>
            <a:ext cx="1040884" cy="73062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6" name="Google Shape;176;p2"/>
          <p:cNvSpPr/>
          <p:nvPr/>
        </p:nvSpPr>
        <p:spPr>
          <a:xfrm>
            <a:off x="7146430" y="3104432"/>
            <a:ext cx="684732" cy="721463"/>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7" name="Google Shape;177;p2"/>
          <p:cNvSpPr/>
          <p:nvPr/>
        </p:nvSpPr>
        <p:spPr>
          <a:xfrm>
            <a:off x="5262207" y="4729516"/>
            <a:ext cx="525046" cy="372666"/>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8" name="Google Shape;178;p2"/>
          <p:cNvSpPr/>
          <p:nvPr/>
        </p:nvSpPr>
        <p:spPr>
          <a:xfrm>
            <a:off x="8376372" y="4729061"/>
            <a:ext cx="508532" cy="324976"/>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9" name="Google Shape;179;p2"/>
          <p:cNvSpPr/>
          <p:nvPr/>
        </p:nvSpPr>
        <p:spPr>
          <a:xfrm>
            <a:off x="3808716" y="4429326"/>
            <a:ext cx="570935" cy="567282"/>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0" name="Google Shape;180;p2"/>
          <p:cNvSpPr/>
          <p:nvPr/>
        </p:nvSpPr>
        <p:spPr>
          <a:xfrm>
            <a:off x="7975391" y="3053272"/>
            <a:ext cx="541560" cy="67927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1" name="Google Shape;181;p2"/>
          <p:cNvSpPr/>
          <p:nvPr/>
        </p:nvSpPr>
        <p:spPr>
          <a:xfrm>
            <a:off x="1570785" y="4028295"/>
            <a:ext cx="734324" cy="723314"/>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2" name="Google Shape;182;p2"/>
          <p:cNvSpPr/>
          <p:nvPr/>
        </p:nvSpPr>
        <p:spPr>
          <a:xfrm>
            <a:off x="247060" y="4094875"/>
            <a:ext cx="275434" cy="244207"/>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3" name="Google Shape;183;p2"/>
          <p:cNvSpPr/>
          <p:nvPr/>
        </p:nvSpPr>
        <p:spPr>
          <a:xfrm>
            <a:off x="8516944" y="4082884"/>
            <a:ext cx="690236" cy="510383"/>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4" name="Google Shape;184;p2"/>
          <p:cNvSpPr/>
          <p:nvPr/>
        </p:nvSpPr>
        <p:spPr>
          <a:xfrm>
            <a:off x="859713" y="3417443"/>
            <a:ext cx="317620" cy="659010"/>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5" name="Google Shape;185;p2"/>
          <p:cNvSpPr/>
          <p:nvPr/>
        </p:nvSpPr>
        <p:spPr>
          <a:xfrm rot="1920742">
            <a:off x="5707038" y="4213989"/>
            <a:ext cx="884797" cy="750834"/>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6" name="Google Shape;186;p2"/>
          <p:cNvSpPr/>
          <p:nvPr/>
        </p:nvSpPr>
        <p:spPr>
          <a:xfrm rot="-3496844">
            <a:off x="115839" y="4509560"/>
            <a:ext cx="537852" cy="464440"/>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7" name="Google Shape;187;p2"/>
          <p:cNvSpPr/>
          <p:nvPr/>
        </p:nvSpPr>
        <p:spPr>
          <a:xfrm>
            <a:off x="7518184" y="3966329"/>
            <a:ext cx="846269" cy="598458"/>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8" name="Google Shape;188;p2"/>
          <p:cNvSpPr/>
          <p:nvPr/>
        </p:nvSpPr>
        <p:spPr>
          <a:xfrm rot="-5400000">
            <a:off x="6496794" y="3021441"/>
            <a:ext cx="493819" cy="63153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9" name="Google Shape;189;p2"/>
          <p:cNvSpPr/>
          <p:nvPr/>
        </p:nvSpPr>
        <p:spPr>
          <a:xfrm>
            <a:off x="6453205" y="3705907"/>
            <a:ext cx="666366" cy="752689"/>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0" name="Google Shape;190;p2"/>
          <p:cNvSpPr/>
          <p:nvPr/>
        </p:nvSpPr>
        <p:spPr>
          <a:xfrm>
            <a:off x="1866011" y="4742879"/>
            <a:ext cx="681078" cy="4552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1" name="Google Shape;191;p2"/>
          <p:cNvSpPr/>
          <p:nvPr/>
        </p:nvSpPr>
        <p:spPr>
          <a:xfrm>
            <a:off x="6669805" y="4614395"/>
            <a:ext cx="308462" cy="330481"/>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90"/>
        <p:cNvGrpSpPr/>
        <p:nvPr/>
      </p:nvGrpSpPr>
      <p:grpSpPr>
        <a:xfrm>
          <a:off x="0" y="0"/>
          <a:ext cx="0" cy="0"/>
          <a:chOff x="0" y="0"/>
          <a:chExt cx="0" cy="0"/>
        </a:xfrm>
      </p:grpSpPr>
      <p:sp>
        <p:nvSpPr>
          <p:cNvPr id="291" name="Google Shape;291;p5"/>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92" name="Google Shape;292;p5"/>
          <p:cNvSpPr txBox="1">
            <a:spLocks noGrp="1"/>
          </p:cNvSpPr>
          <p:nvPr>
            <p:ph type="body" idx="1"/>
          </p:nvPr>
        </p:nvSpPr>
        <p:spPr>
          <a:xfrm>
            <a:off x="747925" y="1302837"/>
            <a:ext cx="6140400" cy="3610800"/>
          </a:xfrm>
          <a:prstGeom prst="rect">
            <a:avLst/>
          </a:prstGeom>
        </p:spPr>
        <p:txBody>
          <a:bodyPr spcFirstLastPara="1" wrap="square" lIns="91425" tIns="91425" rIns="91425" bIns="91425" anchor="t" anchorCtr="0">
            <a:noAutofit/>
          </a:bodyPr>
          <a:lstStyle>
            <a:lvl1pPr marL="457200" lvl="0" indent="-387350">
              <a:spcBef>
                <a:spcPts val="600"/>
              </a:spcBef>
              <a:spcAft>
                <a:spcPts val="0"/>
              </a:spcAft>
              <a:buSzPts val="2500"/>
              <a:buChar char="✘"/>
              <a:defRPr sz="2500"/>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grpSp>
        <p:nvGrpSpPr>
          <p:cNvPr id="293" name="Google Shape;293;p5"/>
          <p:cNvGrpSpPr/>
          <p:nvPr/>
        </p:nvGrpSpPr>
        <p:grpSpPr>
          <a:xfrm>
            <a:off x="7442902" y="-91154"/>
            <a:ext cx="1796289" cy="5330574"/>
            <a:chOff x="6023725" y="842300"/>
            <a:chExt cx="1358150" cy="4030375"/>
          </a:xfrm>
        </p:grpSpPr>
        <p:sp>
          <p:nvSpPr>
            <p:cNvPr id="294" name="Google Shape;294;p5"/>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5" name="Google Shape;295;p5"/>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6" name="Google Shape;296;p5"/>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7" name="Google Shape;297;p5"/>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8" name="Google Shape;298;p5"/>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9" name="Google Shape;299;p5"/>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0" name="Google Shape;300;p5"/>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1" name="Google Shape;301;p5"/>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2" name="Google Shape;302;p5"/>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3" name="Google Shape;303;p5"/>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4" name="Google Shape;304;p5"/>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5" name="Google Shape;305;p5"/>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6" name="Google Shape;306;p5"/>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7" name="Google Shape;307;p5"/>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8" name="Google Shape;308;p5"/>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9" name="Google Shape;309;p5"/>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0" name="Google Shape;310;p5"/>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1" name="Google Shape;311;p5"/>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2" name="Google Shape;312;p5"/>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3" name="Google Shape;313;p5"/>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4" name="Google Shape;314;p5"/>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5" name="Google Shape;315;p5"/>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6" name="Google Shape;316;p5"/>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7" name="Google Shape;317;p5"/>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8" name="Google Shape;318;p5"/>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9" name="Google Shape;319;p5"/>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0" name="Google Shape;320;p5"/>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1" name="Google Shape;321;p5"/>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2" name="Google Shape;322;p5"/>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grpSp>
      <p:sp>
        <p:nvSpPr>
          <p:cNvPr id="324" name="Google Shape;324;p5"/>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5"/>
        <p:cNvGrpSpPr/>
        <p:nvPr/>
      </p:nvGrpSpPr>
      <p:grpSpPr>
        <a:xfrm>
          <a:off x="0" y="0"/>
          <a:ext cx="0" cy="0"/>
          <a:chOff x="0" y="0"/>
          <a:chExt cx="0" cy="0"/>
        </a:xfrm>
      </p:grpSpPr>
      <p:sp>
        <p:nvSpPr>
          <p:cNvPr id="326" name="Google Shape;326;p6"/>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27" name="Google Shape;327;p6"/>
          <p:cNvSpPr txBox="1">
            <a:spLocks noGrp="1"/>
          </p:cNvSpPr>
          <p:nvPr>
            <p:ph type="body" idx="1"/>
          </p:nvPr>
        </p:nvSpPr>
        <p:spPr>
          <a:xfrm>
            <a:off x="747925" y="1363153"/>
            <a:ext cx="3159000" cy="3610800"/>
          </a:xfrm>
          <a:prstGeom prst="rect">
            <a:avLst/>
          </a:prstGeom>
        </p:spPr>
        <p:txBody>
          <a:bodyPr spcFirstLastPara="1" wrap="square" lIns="91425" tIns="91425" rIns="91425" bIns="91425"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328" name="Google Shape;328;p6"/>
          <p:cNvSpPr txBox="1">
            <a:spLocks noGrp="1"/>
          </p:cNvSpPr>
          <p:nvPr>
            <p:ph type="body" idx="2"/>
          </p:nvPr>
        </p:nvSpPr>
        <p:spPr>
          <a:xfrm>
            <a:off x="4097098" y="1363153"/>
            <a:ext cx="3159000" cy="3610800"/>
          </a:xfrm>
          <a:prstGeom prst="rect">
            <a:avLst/>
          </a:prstGeom>
        </p:spPr>
        <p:txBody>
          <a:bodyPr spcFirstLastPara="1" wrap="square" lIns="91425" tIns="91425" rIns="91425" bIns="91425"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grpSp>
        <p:nvGrpSpPr>
          <p:cNvPr id="329" name="Google Shape;329;p6"/>
          <p:cNvGrpSpPr/>
          <p:nvPr/>
        </p:nvGrpSpPr>
        <p:grpSpPr>
          <a:xfrm>
            <a:off x="7442902" y="-91154"/>
            <a:ext cx="1796289" cy="5330574"/>
            <a:chOff x="6023725" y="842300"/>
            <a:chExt cx="1358150" cy="4030375"/>
          </a:xfrm>
        </p:grpSpPr>
        <p:sp>
          <p:nvSpPr>
            <p:cNvPr id="330" name="Google Shape;330;p6"/>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6"/>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6"/>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6"/>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6"/>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6"/>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6"/>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6"/>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6"/>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6"/>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6"/>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6"/>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6"/>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6"/>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6"/>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6"/>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6"/>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6"/>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6"/>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6"/>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6"/>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6"/>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6"/>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6"/>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59" name="Google Shape;359;p6"/>
          <p:cNvCxnSpPr/>
          <p:nvPr/>
        </p:nvCxnSpPr>
        <p:spPr>
          <a:xfrm>
            <a:off x="850475" y="1031425"/>
            <a:ext cx="6037800" cy="0"/>
          </a:xfrm>
          <a:prstGeom prst="straightConnector1">
            <a:avLst/>
          </a:prstGeom>
          <a:noFill/>
          <a:ln w="19050" cap="rnd" cmpd="sng">
            <a:solidFill>
              <a:srgbClr val="A4C2F4"/>
            </a:solidFill>
            <a:prstDash val="dash"/>
            <a:round/>
            <a:headEnd type="none" w="med" len="med"/>
            <a:tailEnd type="none" w="med" len="med"/>
          </a:ln>
        </p:spPr>
      </p:cxnSp>
      <p:sp>
        <p:nvSpPr>
          <p:cNvPr id="360" name="Google Shape;360;p6"/>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6"/>
        <p:cNvGrpSpPr/>
        <p:nvPr/>
      </p:nvGrpSpPr>
      <p:grpSpPr>
        <a:xfrm>
          <a:off x="0" y="0"/>
          <a:ext cx="0" cy="0"/>
          <a:chOff x="0" y="0"/>
          <a:chExt cx="0" cy="0"/>
        </a:xfrm>
      </p:grpSpPr>
      <p:sp>
        <p:nvSpPr>
          <p:cNvPr id="477" name="Google Shape;477;p10"/>
          <p:cNvSpPr/>
          <p:nvPr/>
        </p:nvSpPr>
        <p:spPr>
          <a:xfrm>
            <a:off x="7302880" y="-294362"/>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8" name="Google Shape;478;p10"/>
          <p:cNvSpPr/>
          <p:nvPr/>
        </p:nvSpPr>
        <p:spPr>
          <a:xfrm>
            <a:off x="-35374" y="3366963"/>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9" name="Google Shape;479;p10"/>
          <p:cNvSpPr/>
          <p:nvPr/>
        </p:nvSpPr>
        <p:spPr>
          <a:xfrm>
            <a:off x="8817948" y="34396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0" name="Google Shape;480;p10"/>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1" name="Google Shape;481;p10"/>
          <p:cNvSpPr/>
          <p:nvPr/>
        </p:nvSpPr>
        <p:spPr>
          <a:xfrm>
            <a:off x="8360955" y="450691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2" name="Google Shape;482;p10"/>
          <p:cNvSpPr/>
          <p:nvPr/>
        </p:nvSpPr>
        <p:spPr>
          <a:xfrm>
            <a:off x="-77078" y="1488018"/>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3" name="Google Shape;483;p10"/>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4" name="Google Shape;484;p10"/>
          <p:cNvSpPr/>
          <p:nvPr/>
        </p:nvSpPr>
        <p:spPr>
          <a:xfrm>
            <a:off x="8052577" y="413232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5" name="Google Shape;485;p10"/>
          <p:cNvSpPr/>
          <p:nvPr/>
        </p:nvSpPr>
        <p:spPr>
          <a:xfrm>
            <a:off x="7430898" y="4873171"/>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6" name="Google Shape;486;p10"/>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7" name="Google Shape;487;p10"/>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8" name="Google Shape;488;p10"/>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9" name="Google Shape;489;p10"/>
          <p:cNvSpPr/>
          <p:nvPr/>
        </p:nvSpPr>
        <p:spPr>
          <a:xfrm>
            <a:off x="8963979" y="1338718"/>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0" name="Google Shape;490;p10"/>
          <p:cNvSpPr/>
          <p:nvPr/>
        </p:nvSpPr>
        <p:spPr>
          <a:xfrm rot="-2426120">
            <a:off x="7110132" y="4877011"/>
            <a:ext cx="279910" cy="357971"/>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1" name="Google Shape;491;p10"/>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2" name="Google Shape;492;p10"/>
          <p:cNvSpPr/>
          <p:nvPr/>
        </p:nvSpPr>
        <p:spPr>
          <a:xfrm>
            <a:off x="8797588" y="3078732"/>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3" name="Google Shape;493;p10"/>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4" name="Google Shape;494;p10"/>
          <p:cNvSpPr/>
          <p:nvPr/>
        </p:nvSpPr>
        <p:spPr>
          <a:xfrm>
            <a:off x="346877" y="6086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5" name="Google Shape;495;p10"/>
          <p:cNvSpPr/>
          <p:nvPr/>
        </p:nvSpPr>
        <p:spPr>
          <a:xfrm>
            <a:off x="645010" y="3559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6" name="Google Shape;496;p10"/>
          <p:cNvSpPr/>
          <p:nvPr/>
        </p:nvSpPr>
        <p:spPr>
          <a:xfrm>
            <a:off x="8318810" y="-29822"/>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7" name="Google Shape;497;p10"/>
          <p:cNvSpPr/>
          <p:nvPr/>
        </p:nvSpPr>
        <p:spPr>
          <a:xfrm>
            <a:off x="-8" y="101336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8" name="Google Shape;498;p10"/>
          <p:cNvSpPr/>
          <p:nvPr/>
        </p:nvSpPr>
        <p:spPr>
          <a:xfrm>
            <a:off x="8699356" y="17911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9" name="Google Shape;499;p10"/>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0" name="Google Shape;500;p10"/>
          <p:cNvSpPr/>
          <p:nvPr/>
        </p:nvSpPr>
        <p:spPr>
          <a:xfrm>
            <a:off x="258967" y="-86251"/>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1" name="Google Shape;501;p10"/>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2" name="Google Shape;502;p10"/>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3" name="Google Shape;503;p10"/>
          <p:cNvSpPr/>
          <p:nvPr/>
        </p:nvSpPr>
        <p:spPr>
          <a:xfrm>
            <a:off x="-243128" y="5421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4" name="Google Shape;504;p10"/>
          <p:cNvSpPr/>
          <p:nvPr/>
        </p:nvSpPr>
        <p:spPr>
          <a:xfrm>
            <a:off x="7842052" y="-100873"/>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5" name="Google Shape;505;p10"/>
          <p:cNvSpPr/>
          <p:nvPr/>
        </p:nvSpPr>
        <p:spPr>
          <a:xfrm>
            <a:off x="-38626" y="579046"/>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6" name="Google Shape;506;p10"/>
          <p:cNvSpPr/>
          <p:nvPr/>
        </p:nvSpPr>
        <p:spPr>
          <a:xfrm>
            <a:off x="1403775" y="11500"/>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7" name="Google Shape;507;p10"/>
          <p:cNvSpPr/>
          <p:nvPr/>
        </p:nvSpPr>
        <p:spPr>
          <a:xfrm>
            <a:off x="955990" y="-57166"/>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8" name="Google Shape;508;p10"/>
          <p:cNvSpPr/>
          <p:nvPr/>
        </p:nvSpPr>
        <p:spPr>
          <a:xfrm>
            <a:off x="1333294" y="4678454"/>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9" name="Google Shape;509;p10"/>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0" name="Google Shape;510;p10"/>
          <p:cNvSpPr/>
          <p:nvPr/>
        </p:nvSpPr>
        <p:spPr>
          <a:xfrm>
            <a:off x="1525678" y="4911343"/>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1" name="Google Shape;511;p10"/>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2" name="Google Shape;512;p10"/>
          <p:cNvSpPr/>
          <p:nvPr/>
        </p:nvSpPr>
        <p:spPr>
          <a:xfrm rot="1920548">
            <a:off x="8225551" y="6252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3" name="Google Shape;513;p10"/>
          <p:cNvSpPr/>
          <p:nvPr/>
        </p:nvSpPr>
        <p:spPr>
          <a:xfrm>
            <a:off x="346867" y="4064142"/>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4" name="Google Shape;514;p10"/>
          <p:cNvSpPr/>
          <p:nvPr/>
        </p:nvSpPr>
        <p:spPr>
          <a:xfrm rot="-5400000">
            <a:off x="7996280" y="3169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5" name="Google Shape;515;p10"/>
          <p:cNvSpPr/>
          <p:nvPr/>
        </p:nvSpPr>
        <p:spPr>
          <a:xfrm>
            <a:off x="8801760" y="790271"/>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6" name="Google Shape;516;p10"/>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7" name="Google Shape;517;p10"/>
          <p:cNvSpPr/>
          <p:nvPr/>
        </p:nvSpPr>
        <p:spPr>
          <a:xfrm>
            <a:off x="8699345" y="1151407"/>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8" name="Google Shape;518;p10"/>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reserve="1">
  <p:cSld name="1_Blank">
    <p:spTree>
      <p:nvGrpSpPr>
        <p:cNvPr id="1" name="Shape 476"/>
        <p:cNvGrpSpPr/>
        <p:nvPr/>
      </p:nvGrpSpPr>
      <p:grpSpPr>
        <a:xfrm>
          <a:off x="0" y="0"/>
          <a:ext cx="0" cy="0"/>
          <a:chOff x="0" y="0"/>
          <a:chExt cx="0" cy="0"/>
        </a:xfrm>
      </p:grpSpPr>
      <p:sp>
        <p:nvSpPr>
          <p:cNvPr id="477" name="Google Shape;477;p10"/>
          <p:cNvSpPr/>
          <p:nvPr/>
        </p:nvSpPr>
        <p:spPr>
          <a:xfrm>
            <a:off x="7302880" y="-294362"/>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8" name="Google Shape;478;p10"/>
          <p:cNvSpPr/>
          <p:nvPr/>
        </p:nvSpPr>
        <p:spPr>
          <a:xfrm>
            <a:off x="-35374" y="3366963"/>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9" name="Google Shape;479;p10"/>
          <p:cNvSpPr/>
          <p:nvPr/>
        </p:nvSpPr>
        <p:spPr>
          <a:xfrm>
            <a:off x="8817948" y="34396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0" name="Google Shape;480;p10"/>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1" name="Google Shape;481;p10"/>
          <p:cNvSpPr/>
          <p:nvPr/>
        </p:nvSpPr>
        <p:spPr>
          <a:xfrm>
            <a:off x="8360955" y="450691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2" name="Google Shape;482;p10"/>
          <p:cNvSpPr/>
          <p:nvPr/>
        </p:nvSpPr>
        <p:spPr>
          <a:xfrm>
            <a:off x="-77078" y="1488018"/>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3" name="Google Shape;483;p10"/>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4" name="Google Shape;484;p10"/>
          <p:cNvSpPr/>
          <p:nvPr/>
        </p:nvSpPr>
        <p:spPr>
          <a:xfrm>
            <a:off x="8052577" y="413232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5" name="Google Shape;485;p10"/>
          <p:cNvSpPr/>
          <p:nvPr/>
        </p:nvSpPr>
        <p:spPr>
          <a:xfrm>
            <a:off x="7430898" y="4873171"/>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6" name="Google Shape;486;p10"/>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7" name="Google Shape;487;p10"/>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8" name="Google Shape;488;p10"/>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9" name="Google Shape;489;p10"/>
          <p:cNvSpPr/>
          <p:nvPr/>
        </p:nvSpPr>
        <p:spPr>
          <a:xfrm>
            <a:off x="8963979" y="1338718"/>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0" name="Google Shape;490;p10"/>
          <p:cNvSpPr/>
          <p:nvPr/>
        </p:nvSpPr>
        <p:spPr>
          <a:xfrm rot="-2426120">
            <a:off x="7110132" y="4877011"/>
            <a:ext cx="279910" cy="357971"/>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1" name="Google Shape;491;p10"/>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2" name="Google Shape;492;p10"/>
          <p:cNvSpPr/>
          <p:nvPr/>
        </p:nvSpPr>
        <p:spPr>
          <a:xfrm>
            <a:off x="8797588" y="3078732"/>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3" name="Google Shape;493;p10"/>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4" name="Google Shape;494;p10"/>
          <p:cNvSpPr/>
          <p:nvPr/>
        </p:nvSpPr>
        <p:spPr>
          <a:xfrm>
            <a:off x="346877" y="6086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5" name="Google Shape;495;p10"/>
          <p:cNvSpPr/>
          <p:nvPr/>
        </p:nvSpPr>
        <p:spPr>
          <a:xfrm>
            <a:off x="645010" y="3559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6" name="Google Shape;496;p10"/>
          <p:cNvSpPr/>
          <p:nvPr/>
        </p:nvSpPr>
        <p:spPr>
          <a:xfrm>
            <a:off x="8318810" y="-29822"/>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7" name="Google Shape;497;p10"/>
          <p:cNvSpPr/>
          <p:nvPr/>
        </p:nvSpPr>
        <p:spPr>
          <a:xfrm>
            <a:off x="-8" y="101336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8" name="Google Shape;498;p10"/>
          <p:cNvSpPr/>
          <p:nvPr/>
        </p:nvSpPr>
        <p:spPr>
          <a:xfrm>
            <a:off x="8699356" y="17911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9" name="Google Shape;499;p10"/>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0" name="Google Shape;500;p10"/>
          <p:cNvSpPr/>
          <p:nvPr/>
        </p:nvSpPr>
        <p:spPr>
          <a:xfrm>
            <a:off x="258967" y="-86251"/>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1" name="Google Shape;501;p10"/>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2" name="Google Shape;502;p10"/>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3" name="Google Shape;503;p10"/>
          <p:cNvSpPr/>
          <p:nvPr/>
        </p:nvSpPr>
        <p:spPr>
          <a:xfrm>
            <a:off x="-243128" y="5421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4" name="Google Shape;504;p10"/>
          <p:cNvSpPr/>
          <p:nvPr/>
        </p:nvSpPr>
        <p:spPr>
          <a:xfrm>
            <a:off x="7842052" y="-100873"/>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5" name="Google Shape;505;p10"/>
          <p:cNvSpPr/>
          <p:nvPr/>
        </p:nvSpPr>
        <p:spPr>
          <a:xfrm>
            <a:off x="-38626" y="579046"/>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6" name="Google Shape;506;p10"/>
          <p:cNvSpPr/>
          <p:nvPr/>
        </p:nvSpPr>
        <p:spPr>
          <a:xfrm>
            <a:off x="1403775" y="11500"/>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7" name="Google Shape;507;p10"/>
          <p:cNvSpPr/>
          <p:nvPr/>
        </p:nvSpPr>
        <p:spPr>
          <a:xfrm>
            <a:off x="955990" y="-57166"/>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8" name="Google Shape;508;p10"/>
          <p:cNvSpPr/>
          <p:nvPr/>
        </p:nvSpPr>
        <p:spPr>
          <a:xfrm>
            <a:off x="1333294" y="4678454"/>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9" name="Google Shape;509;p10"/>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0" name="Google Shape;510;p10"/>
          <p:cNvSpPr/>
          <p:nvPr/>
        </p:nvSpPr>
        <p:spPr>
          <a:xfrm>
            <a:off x="1525678" y="4911343"/>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1" name="Google Shape;511;p10"/>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2" name="Google Shape;512;p10"/>
          <p:cNvSpPr/>
          <p:nvPr/>
        </p:nvSpPr>
        <p:spPr>
          <a:xfrm rot="1920548">
            <a:off x="8225551" y="6252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3" name="Google Shape;513;p10"/>
          <p:cNvSpPr/>
          <p:nvPr/>
        </p:nvSpPr>
        <p:spPr>
          <a:xfrm>
            <a:off x="346867" y="4064142"/>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4" name="Google Shape;514;p10"/>
          <p:cNvSpPr/>
          <p:nvPr/>
        </p:nvSpPr>
        <p:spPr>
          <a:xfrm rot="-5400000">
            <a:off x="7996280" y="3169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5" name="Google Shape;515;p10"/>
          <p:cNvSpPr/>
          <p:nvPr/>
        </p:nvSpPr>
        <p:spPr>
          <a:xfrm>
            <a:off x="8801760" y="790271"/>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6" name="Google Shape;516;p10"/>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7" name="Google Shape;517;p10"/>
          <p:cNvSpPr/>
          <p:nvPr/>
        </p:nvSpPr>
        <p:spPr>
          <a:xfrm>
            <a:off x="8699345" y="1151407"/>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8" name="Google Shape;518;p10"/>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‹N°›</a:t>
            </a:fld>
            <a:endParaRPr/>
          </a:p>
        </p:txBody>
      </p:sp>
    </p:spTree>
    <p:extLst>
      <p:ext uri="{BB962C8B-B14F-4D97-AF65-F5344CB8AC3E}">
        <p14:creationId xmlns:p14="http://schemas.microsoft.com/office/powerpoint/2010/main" val="40004125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6" y="-23"/>
            <a:ext cx="9143797" cy="5143378"/>
            <a:chOff x="239950" y="872550"/>
            <a:chExt cx="7042900" cy="3961625"/>
          </a:xfrm>
        </p:grpSpPr>
        <p:sp>
          <p:nvSpPr>
            <p:cNvPr id="7" name="Google Shape;7;p1"/>
            <p:cNvSpPr/>
            <p:nvPr/>
          </p:nvSpPr>
          <p:spPr>
            <a:xfrm>
              <a:off x="239950" y="872550"/>
              <a:ext cx="7042900" cy="3961625"/>
            </a:xfrm>
            <a:custGeom>
              <a:avLst/>
              <a:gdLst/>
              <a:ahLst/>
              <a:cxnLst/>
              <a:rect l="l" t="t" r="r" b="b"/>
              <a:pathLst>
                <a:path w="281716" h="158465" fill="none" extrusionOk="0">
                  <a:moveTo>
                    <a:pt x="0" y="0"/>
                  </a:moveTo>
                  <a:lnTo>
                    <a:pt x="281715" y="0"/>
                  </a:lnTo>
                  <a:lnTo>
                    <a:pt x="281715" y="158464"/>
                  </a:lnTo>
                  <a:lnTo>
                    <a:pt x="0" y="158464"/>
                  </a:lnTo>
                  <a:lnTo>
                    <a:pt x="0" y="0"/>
                  </a:lnTo>
                  <a:close/>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p:nvPr/>
          </p:nvSpPr>
          <p:spPr>
            <a:xfrm>
              <a:off x="239950" y="47617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p:nvPr/>
          </p:nvSpPr>
          <p:spPr>
            <a:xfrm>
              <a:off x="239950" y="46901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
            <p:cNvSpPr/>
            <p:nvPr/>
          </p:nvSpPr>
          <p:spPr>
            <a:xfrm>
              <a:off x="239950" y="46177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239950" y="45462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239950" y="44737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a:off x="239950" y="44022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239950" y="43297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1"/>
            <p:cNvSpPr/>
            <p:nvPr/>
          </p:nvSpPr>
          <p:spPr>
            <a:xfrm>
              <a:off x="239950" y="42582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239950" y="41858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239950" y="41142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239950" y="40418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239950" y="39693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
            <p:cNvSpPr/>
            <p:nvPr/>
          </p:nvSpPr>
          <p:spPr>
            <a:xfrm>
              <a:off x="239950" y="38978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
            <p:cNvSpPr/>
            <p:nvPr/>
          </p:nvSpPr>
          <p:spPr>
            <a:xfrm>
              <a:off x="239950" y="38254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239950" y="37538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1"/>
            <p:cNvSpPr/>
            <p:nvPr/>
          </p:nvSpPr>
          <p:spPr>
            <a:xfrm>
              <a:off x="239950" y="36814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
            <p:cNvSpPr/>
            <p:nvPr/>
          </p:nvSpPr>
          <p:spPr>
            <a:xfrm>
              <a:off x="239950" y="36099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
            <p:cNvSpPr/>
            <p:nvPr/>
          </p:nvSpPr>
          <p:spPr>
            <a:xfrm>
              <a:off x="239950" y="35374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
            <p:cNvSpPr/>
            <p:nvPr/>
          </p:nvSpPr>
          <p:spPr>
            <a:xfrm>
              <a:off x="239950" y="34659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
            <p:cNvSpPr/>
            <p:nvPr/>
          </p:nvSpPr>
          <p:spPr>
            <a:xfrm>
              <a:off x="239950" y="33934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
            <p:cNvSpPr/>
            <p:nvPr/>
          </p:nvSpPr>
          <p:spPr>
            <a:xfrm>
              <a:off x="239950" y="33219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
            <p:cNvSpPr/>
            <p:nvPr/>
          </p:nvSpPr>
          <p:spPr>
            <a:xfrm>
              <a:off x="239950" y="32495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1"/>
            <p:cNvSpPr/>
            <p:nvPr/>
          </p:nvSpPr>
          <p:spPr>
            <a:xfrm>
              <a:off x="239950" y="31770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1"/>
            <p:cNvSpPr/>
            <p:nvPr/>
          </p:nvSpPr>
          <p:spPr>
            <a:xfrm>
              <a:off x="239950" y="31055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1"/>
            <p:cNvSpPr/>
            <p:nvPr/>
          </p:nvSpPr>
          <p:spPr>
            <a:xfrm>
              <a:off x="239950" y="3033100"/>
              <a:ext cx="7042900" cy="0"/>
            </a:xfrm>
            <a:custGeom>
              <a:avLst/>
              <a:gdLst/>
              <a:ahLst/>
              <a:cxnLst/>
              <a:rect l="l" t="t" r="r" b="b"/>
              <a:pathLst>
                <a:path w="281716"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
            <p:cNvSpPr/>
            <p:nvPr/>
          </p:nvSpPr>
          <p:spPr>
            <a:xfrm>
              <a:off x="239950" y="29615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
            <p:cNvSpPr/>
            <p:nvPr/>
          </p:nvSpPr>
          <p:spPr>
            <a:xfrm>
              <a:off x="239950" y="28891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
            <p:cNvSpPr/>
            <p:nvPr/>
          </p:nvSpPr>
          <p:spPr>
            <a:xfrm>
              <a:off x="239950" y="28175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
            <p:cNvSpPr/>
            <p:nvPr/>
          </p:nvSpPr>
          <p:spPr>
            <a:xfrm>
              <a:off x="239950" y="27451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1"/>
            <p:cNvSpPr/>
            <p:nvPr/>
          </p:nvSpPr>
          <p:spPr>
            <a:xfrm>
              <a:off x="239950" y="26736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
            <p:cNvSpPr/>
            <p:nvPr/>
          </p:nvSpPr>
          <p:spPr>
            <a:xfrm>
              <a:off x="239950" y="26011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1"/>
            <p:cNvSpPr/>
            <p:nvPr/>
          </p:nvSpPr>
          <p:spPr>
            <a:xfrm>
              <a:off x="239950" y="25296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1"/>
            <p:cNvSpPr/>
            <p:nvPr/>
          </p:nvSpPr>
          <p:spPr>
            <a:xfrm>
              <a:off x="239950" y="24572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1"/>
            <p:cNvSpPr/>
            <p:nvPr/>
          </p:nvSpPr>
          <p:spPr>
            <a:xfrm>
              <a:off x="239950" y="23847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
            <p:cNvSpPr/>
            <p:nvPr/>
          </p:nvSpPr>
          <p:spPr>
            <a:xfrm>
              <a:off x="239950" y="23132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
            <p:cNvSpPr/>
            <p:nvPr/>
          </p:nvSpPr>
          <p:spPr>
            <a:xfrm>
              <a:off x="239950" y="22407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
            <p:cNvSpPr/>
            <p:nvPr/>
          </p:nvSpPr>
          <p:spPr>
            <a:xfrm>
              <a:off x="239950" y="21692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1"/>
            <p:cNvSpPr/>
            <p:nvPr/>
          </p:nvSpPr>
          <p:spPr>
            <a:xfrm>
              <a:off x="239950" y="20968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
            <p:cNvSpPr/>
            <p:nvPr/>
          </p:nvSpPr>
          <p:spPr>
            <a:xfrm>
              <a:off x="239950" y="20252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
            <p:cNvSpPr/>
            <p:nvPr/>
          </p:nvSpPr>
          <p:spPr>
            <a:xfrm>
              <a:off x="239950" y="19528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
            <p:cNvSpPr/>
            <p:nvPr/>
          </p:nvSpPr>
          <p:spPr>
            <a:xfrm>
              <a:off x="239950" y="18813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
            <p:cNvSpPr/>
            <p:nvPr/>
          </p:nvSpPr>
          <p:spPr>
            <a:xfrm>
              <a:off x="239950" y="18088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
            <p:cNvSpPr/>
            <p:nvPr/>
          </p:nvSpPr>
          <p:spPr>
            <a:xfrm>
              <a:off x="239950" y="17373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
            <p:cNvSpPr/>
            <p:nvPr/>
          </p:nvSpPr>
          <p:spPr>
            <a:xfrm>
              <a:off x="239950" y="16648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
            <p:cNvSpPr/>
            <p:nvPr/>
          </p:nvSpPr>
          <p:spPr>
            <a:xfrm>
              <a:off x="239950" y="15924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
            <p:cNvSpPr/>
            <p:nvPr/>
          </p:nvSpPr>
          <p:spPr>
            <a:xfrm>
              <a:off x="239950" y="15209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
            <p:cNvSpPr/>
            <p:nvPr/>
          </p:nvSpPr>
          <p:spPr>
            <a:xfrm>
              <a:off x="239950" y="14484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
            <p:cNvSpPr/>
            <p:nvPr/>
          </p:nvSpPr>
          <p:spPr>
            <a:xfrm>
              <a:off x="239950" y="13769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
            <p:cNvSpPr/>
            <p:nvPr/>
          </p:nvSpPr>
          <p:spPr>
            <a:xfrm>
              <a:off x="239950" y="13044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
            <p:cNvSpPr/>
            <p:nvPr/>
          </p:nvSpPr>
          <p:spPr>
            <a:xfrm>
              <a:off x="239950" y="12329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
            <p:cNvSpPr/>
            <p:nvPr/>
          </p:nvSpPr>
          <p:spPr>
            <a:xfrm>
              <a:off x="239950" y="11605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
            <p:cNvSpPr/>
            <p:nvPr/>
          </p:nvSpPr>
          <p:spPr>
            <a:xfrm>
              <a:off x="239950" y="10889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239950" y="10165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
            <p:cNvSpPr/>
            <p:nvPr/>
          </p:nvSpPr>
          <p:spPr>
            <a:xfrm>
              <a:off x="239950" y="9450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
            <p:cNvSpPr/>
            <p:nvPr/>
          </p:nvSpPr>
          <p:spPr>
            <a:xfrm>
              <a:off x="72103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
            <p:cNvSpPr/>
            <p:nvPr/>
          </p:nvSpPr>
          <p:spPr>
            <a:xfrm>
              <a:off x="71379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70645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
            <p:cNvSpPr/>
            <p:nvPr/>
          </p:nvSpPr>
          <p:spPr>
            <a:xfrm>
              <a:off x="69921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
            <p:cNvSpPr/>
            <p:nvPr/>
          </p:nvSpPr>
          <p:spPr>
            <a:xfrm>
              <a:off x="69196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
            <p:cNvSpPr/>
            <p:nvPr/>
          </p:nvSpPr>
          <p:spPr>
            <a:xfrm>
              <a:off x="68472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
            <p:cNvSpPr/>
            <p:nvPr/>
          </p:nvSpPr>
          <p:spPr>
            <a:xfrm>
              <a:off x="67747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
            <p:cNvSpPr/>
            <p:nvPr/>
          </p:nvSpPr>
          <p:spPr>
            <a:xfrm>
              <a:off x="67023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
            <p:cNvSpPr/>
            <p:nvPr/>
          </p:nvSpPr>
          <p:spPr>
            <a:xfrm>
              <a:off x="66289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
            <p:cNvSpPr/>
            <p:nvPr/>
          </p:nvSpPr>
          <p:spPr>
            <a:xfrm>
              <a:off x="65565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
            <p:cNvSpPr/>
            <p:nvPr/>
          </p:nvSpPr>
          <p:spPr>
            <a:xfrm>
              <a:off x="64840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
            <p:cNvSpPr/>
            <p:nvPr/>
          </p:nvSpPr>
          <p:spPr>
            <a:xfrm>
              <a:off x="64116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
            <p:cNvSpPr/>
            <p:nvPr/>
          </p:nvSpPr>
          <p:spPr>
            <a:xfrm>
              <a:off x="6339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
            <p:cNvSpPr/>
            <p:nvPr/>
          </p:nvSpPr>
          <p:spPr>
            <a:xfrm>
              <a:off x="62667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
            <p:cNvSpPr/>
            <p:nvPr/>
          </p:nvSpPr>
          <p:spPr>
            <a:xfrm>
              <a:off x="61933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
            <p:cNvSpPr/>
            <p:nvPr/>
          </p:nvSpPr>
          <p:spPr>
            <a:xfrm>
              <a:off x="61209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
            <p:cNvSpPr/>
            <p:nvPr/>
          </p:nvSpPr>
          <p:spPr>
            <a:xfrm>
              <a:off x="60484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
            <p:cNvSpPr/>
            <p:nvPr/>
          </p:nvSpPr>
          <p:spPr>
            <a:xfrm>
              <a:off x="59760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
            <p:cNvSpPr/>
            <p:nvPr/>
          </p:nvSpPr>
          <p:spPr>
            <a:xfrm>
              <a:off x="59036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
            <p:cNvSpPr/>
            <p:nvPr/>
          </p:nvSpPr>
          <p:spPr>
            <a:xfrm>
              <a:off x="58302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
            <p:cNvSpPr/>
            <p:nvPr/>
          </p:nvSpPr>
          <p:spPr>
            <a:xfrm>
              <a:off x="57577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
            <p:cNvSpPr/>
            <p:nvPr/>
          </p:nvSpPr>
          <p:spPr>
            <a:xfrm>
              <a:off x="56853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
            <p:cNvSpPr/>
            <p:nvPr/>
          </p:nvSpPr>
          <p:spPr>
            <a:xfrm>
              <a:off x="56129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
            <p:cNvSpPr/>
            <p:nvPr/>
          </p:nvSpPr>
          <p:spPr>
            <a:xfrm>
              <a:off x="55404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p:nvPr/>
          </p:nvSpPr>
          <p:spPr>
            <a:xfrm>
              <a:off x="54680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p:nvPr/>
          </p:nvSpPr>
          <p:spPr>
            <a:xfrm>
              <a:off x="53946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
            <p:cNvSpPr/>
            <p:nvPr/>
          </p:nvSpPr>
          <p:spPr>
            <a:xfrm>
              <a:off x="53222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
            <p:cNvSpPr/>
            <p:nvPr/>
          </p:nvSpPr>
          <p:spPr>
            <a:xfrm>
              <a:off x="52497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
            <p:cNvSpPr/>
            <p:nvPr/>
          </p:nvSpPr>
          <p:spPr>
            <a:xfrm>
              <a:off x="51773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p:nvPr/>
          </p:nvSpPr>
          <p:spPr>
            <a:xfrm>
              <a:off x="5104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
            <p:cNvSpPr/>
            <p:nvPr/>
          </p:nvSpPr>
          <p:spPr>
            <a:xfrm>
              <a:off x="50324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
            <p:cNvSpPr/>
            <p:nvPr/>
          </p:nvSpPr>
          <p:spPr>
            <a:xfrm>
              <a:off x="49590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
            <p:cNvSpPr/>
            <p:nvPr/>
          </p:nvSpPr>
          <p:spPr>
            <a:xfrm>
              <a:off x="48866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
            <p:cNvSpPr/>
            <p:nvPr/>
          </p:nvSpPr>
          <p:spPr>
            <a:xfrm>
              <a:off x="48141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
            <p:cNvSpPr/>
            <p:nvPr/>
          </p:nvSpPr>
          <p:spPr>
            <a:xfrm>
              <a:off x="47417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
            <p:cNvSpPr/>
            <p:nvPr/>
          </p:nvSpPr>
          <p:spPr>
            <a:xfrm>
              <a:off x="46692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
            <p:cNvSpPr/>
            <p:nvPr/>
          </p:nvSpPr>
          <p:spPr>
            <a:xfrm>
              <a:off x="45968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
            <p:cNvSpPr/>
            <p:nvPr/>
          </p:nvSpPr>
          <p:spPr>
            <a:xfrm>
              <a:off x="45234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
            <p:cNvSpPr/>
            <p:nvPr/>
          </p:nvSpPr>
          <p:spPr>
            <a:xfrm>
              <a:off x="44510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
            <p:cNvSpPr/>
            <p:nvPr/>
          </p:nvSpPr>
          <p:spPr>
            <a:xfrm>
              <a:off x="43785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
            <p:cNvSpPr/>
            <p:nvPr/>
          </p:nvSpPr>
          <p:spPr>
            <a:xfrm>
              <a:off x="43061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
            <p:cNvSpPr/>
            <p:nvPr/>
          </p:nvSpPr>
          <p:spPr>
            <a:xfrm>
              <a:off x="42336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p:nvPr/>
          </p:nvSpPr>
          <p:spPr>
            <a:xfrm>
              <a:off x="41603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
            <p:cNvSpPr/>
            <p:nvPr/>
          </p:nvSpPr>
          <p:spPr>
            <a:xfrm>
              <a:off x="40878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
            <p:cNvSpPr/>
            <p:nvPr/>
          </p:nvSpPr>
          <p:spPr>
            <a:xfrm>
              <a:off x="40154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
            <p:cNvSpPr/>
            <p:nvPr/>
          </p:nvSpPr>
          <p:spPr>
            <a:xfrm>
              <a:off x="39429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
            <p:cNvSpPr/>
            <p:nvPr/>
          </p:nvSpPr>
          <p:spPr>
            <a:xfrm>
              <a:off x="38705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
            <p:cNvSpPr/>
            <p:nvPr/>
          </p:nvSpPr>
          <p:spPr>
            <a:xfrm>
              <a:off x="37980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
            <p:cNvSpPr/>
            <p:nvPr/>
          </p:nvSpPr>
          <p:spPr>
            <a:xfrm>
              <a:off x="37247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
            <p:cNvSpPr/>
            <p:nvPr/>
          </p:nvSpPr>
          <p:spPr>
            <a:xfrm>
              <a:off x="36522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
            <p:cNvSpPr/>
            <p:nvPr/>
          </p:nvSpPr>
          <p:spPr>
            <a:xfrm>
              <a:off x="35798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
            <p:cNvSpPr/>
            <p:nvPr/>
          </p:nvSpPr>
          <p:spPr>
            <a:xfrm>
              <a:off x="35073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
            <p:cNvSpPr/>
            <p:nvPr/>
          </p:nvSpPr>
          <p:spPr>
            <a:xfrm>
              <a:off x="34349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
            <p:cNvSpPr/>
            <p:nvPr/>
          </p:nvSpPr>
          <p:spPr>
            <a:xfrm>
              <a:off x="33624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
            <p:cNvSpPr/>
            <p:nvPr/>
          </p:nvSpPr>
          <p:spPr>
            <a:xfrm>
              <a:off x="32891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
            <p:cNvSpPr/>
            <p:nvPr/>
          </p:nvSpPr>
          <p:spPr>
            <a:xfrm>
              <a:off x="32166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
            <p:cNvSpPr/>
            <p:nvPr/>
          </p:nvSpPr>
          <p:spPr>
            <a:xfrm>
              <a:off x="31442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
            <p:cNvSpPr/>
            <p:nvPr/>
          </p:nvSpPr>
          <p:spPr>
            <a:xfrm>
              <a:off x="30717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
            <p:cNvSpPr/>
            <p:nvPr/>
          </p:nvSpPr>
          <p:spPr>
            <a:xfrm>
              <a:off x="29993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
            <p:cNvSpPr/>
            <p:nvPr/>
          </p:nvSpPr>
          <p:spPr>
            <a:xfrm>
              <a:off x="29259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
            <p:cNvSpPr/>
            <p:nvPr/>
          </p:nvSpPr>
          <p:spPr>
            <a:xfrm>
              <a:off x="28535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
            <p:cNvSpPr/>
            <p:nvPr/>
          </p:nvSpPr>
          <p:spPr>
            <a:xfrm>
              <a:off x="27810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
            <p:cNvSpPr/>
            <p:nvPr/>
          </p:nvSpPr>
          <p:spPr>
            <a:xfrm>
              <a:off x="27086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
            <p:cNvSpPr/>
            <p:nvPr/>
          </p:nvSpPr>
          <p:spPr>
            <a:xfrm>
              <a:off x="2636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
            <p:cNvSpPr/>
            <p:nvPr/>
          </p:nvSpPr>
          <p:spPr>
            <a:xfrm>
              <a:off x="25637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
            <p:cNvSpPr/>
            <p:nvPr/>
          </p:nvSpPr>
          <p:spPr>
            <a:xfrm>
              <a:off x="24903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
            <p:cNvSpPr/>
            <p:nvPr/>
          </p:nvSpPr>
          <p:spPr>
            <a:xfrm>
              <a:off x="24179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
            <p:cNvSpPr/>
            <p:nvPr/>
          </p:nvSpPr>
          <p:spPr>
            <a:xfrm>
              <a:off x="23454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
            <p:cNvSpPr/>
            <p:nvPr/>
          </p:nvSpPr>
          <p:spPr>
            <a:xfrm>
              <a:off x="22730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
            <p:cNvSpPr/>
            <p:nvPr/>
          </p:nvSpPr>
          <p:spPr>
            <a:xfrm>
              <a:off x="22005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
            <p:cNvSpPr/>
            <p:nvPr/>
          </p:nvSpPr>
          <p:spPr>
            <a:xfrm>
              <a:off x="21281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
            <p:cNvSpPr/>
            <p:nvPr/>
          </p:nvSpPr>
          <p:spPr>
            <a:xfrm>
              <a:off x="20547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
            <p:cNvSpPr/>
            <p:nvPr/>
          </p:nvSpPr>
          <p:spPr>
            <a:xfrm>
              <a:off x="19823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
            <p:cNvSpPr/>
            <p:nvPr/>
          </p:nvSpPr>
          <p:spPr>
            <a:xfrm>
              <a:off x="19098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
            <p:cNvSpPr/>
            <p:nvPr/>
          </p:nvSpPr>
          <p:spPr>
            <a:xfrm>
              <a:off x="18374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
            <p:cNvSpPr/>
            <p:nvPr/>
          </p:nvSpPr>
          <p:spPr>
            <a:xfrm>
              <a:off x="17649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
            <p:cNvSpPr/>
            <p:nvPr/>
          </p:nvSpPr>
          <p:spPr>
            <a:xfrm>
              <a:off x="16925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
            <p:cNvSpPr/>
            <p:nvPr/>
          </p:nvSpPr>
          <p:spPr>
            <a:xfrm>
              <a:off x="1619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
            <p:cNvSpPr/>
            <p:nvPr/>
          </p:nvSpPr>
          <p:spPr>
            <a:xfrm>
              <a:off x="15467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
            <p:cNvSpPr/>
            <p:nvPr/>
          </p:nvSpPr>
          <p:spPr>
            <a:xfrm>
              <a:off x="14742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
            <p:cNvSpPr/>
            <p:nvPr/>
          </p:nvSpPr>
          <p:spPr>
            <a:xfrm>
              <a:off x="1401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
            <p:cNvSpPr/>
            <p:nvPr/>
          </p:nvSpPr>
          <p:spPr>
            <a:xfrm>
              <a:off x="13294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
            <p:cNvSpPr/>
            <p:nvPr/>
          </p:nvSpPr>
          <p:spPr>
            <a:xfrm>
              <a:off x="12560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
            <p:cNvSpPr/>
            <p:nvPr/>
          </p:nvSpPr>
          <p:spPr>
            <a:xfrm>
              <a:off x="11835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
            <p:cNvSpPr/>
            <p:nvPr/>
          </p:nvSpPr>
          <p:spPr>
            <a:xfrm>
              <a:off x="11111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
            <p:cNvSpPr/>
            <p:nvPr/>
          </p:nvSpPr>
          <p:spPr>
            <a:xfrm>
              <a:off x="10387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
            <p:cNvSpPr/>
            <p:nvPr/>
          </p:nvSpPr>
          <p:spPr>
            <a:xfrm>
              <a:off x="9662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
            <p:cNvSpPr/>
            <p:nvPr/>
          </p:nvSpPr>
          <p:spPr>
            <a:xfrm>
              <a:off x="8938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
            <p:cNvSpPr/>
            <p:nvPr/>
          </p:nvSpPr>
          <p:spPr>
            <a:xfrm>
              <a:off x="8204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
            <p:cNvSpPr/>
            <p:nvPr/>
          </p:nvSpPr>
          <p:spPr>
            <a:xfrm>
              <a:off x="7479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
            <p:cNvSpPr/>
            <p:nvPr/>
          </p:nvSpPr>
          <p:spPr>
            <a:xfrm>
              <a:off x="6755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
            <p:cNvSpPr/>
            <p:nvPr/>
          </p:nvSpPr>
          <p:spPr>
            <a:xfrm>
              <a:off x="6031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
            <p:cNvSpPr/>
            <p:nvPr/>
          </p:nvSpPr>
          <p:spPr>
            <a:xfrm>
              <a:off x="5306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
            <p:cNvSpPr/>
            <p:nvPr/>
          </p:nvSpPr>
          <p:spPr>
            <a:xfrm>
              <a:off x="4582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
            <p:cNvSpPr/>
            <p:nvPr/>
          </p:nvSpPr>
          <p:spPr>
            <a:xfrm>
              <a:off x="384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
            <p:cNvSpPr/>
            <p:nvPr/>
          </p:nvSpPr>
          <p:spPr>
            <a:xfrm>
              <a:off x="3124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 name="Google Shape;158;p1"/>
          <p:cNvSpPr txBox="1">
            <a:spLocks noGrp="1"/>
          </p:cNvSpPr>
          <p:nvPr>
            <p:ph type="title"/>
          </p:nvPr>
        </p:nvSpPr>
        <p:spPr>
          <a:xfrm>
            <a:off x="747925" y="225025"/>
            <a:ext cx="67917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1pPr>
            <a:lvl2pPr lvl="1">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2pPr>
            <a:lvl3pPr lvl="2">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3pPr>
            <a:lvl4pPr lvl="3">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4pPr>
            <a:lvl5pPr lvl="4">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5pPr>
            <a:lvl6pPr lvl="5">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6pPr>
            <a:lvl7pPr lvl="6">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7pPr>
            <a:lvl8pPr lvl="7">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8pPr>
            <a:lvl9pPr lvl="8">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9pPr>
          </a:lstStyle>
          <a:p>
            <a:endParaRPr/>
          </a:p>
        </p:txBody>
      </p:sp>
      <p:sp>
        <p:nvSpPr>
          <p:cNvPr id="159" name="Google Shape;159;p1"/>
          <p:cNvSpPr txBox="1">
            <a:spLocks noGrp="1"/>
          </p:cNvSpPr>
          <p:nvPr>
            <p:ph type="body" idx="1"/>
          </p:nvPr>
        </p:nvSpPr>
        <p:spPr>
          <a:xfrm>
            <a:off x="747925" y="1314900"/>
            <a:ext cx="6791700" cy="3610800"/>
          </a:xfrm>
          <a:prstGeom prst="rect">
            <a:avLst/>
          </a:prstGeom>
          <a:noFill/>
          <a:ln>
            <a:noFill/>
          </a:ln>
        </p:spPr>
        <p:txBody>
          <a:bodyPr spcFirstLastPara="1" wrap="square" lIns="91425" tIns="91425" rIns="91425" bIns="91425" anchor="t" anchorCtr="0">
            <a:noAutofit/>
          </a:bodyPr>
          <a:lstStyle>
            <a:lvl1pPr marL="457200" lvl="0" indent="-393700">
              <a:spcBef>
                <a:spcPts val="600"/>
              </a:spcBef>
              <a:spcAft>
                <a:spcPts val="0"/>
              </a:spcAft>
              <a:buClr>
                <a:schemeClr val="dk1"/>
              </a:buClr>
              <a:buSzPts val="2600"/>
              <a:buFont typeface="Dosis"/>
              <a:buChar char="✘"/>
              <a:defRPr sz="2600">
                <a:solidFill>
                  <a:schemeClr val="dk1"/>
                </a:solidFill>
                <a:latin typeface="Dosis"/>
                <a:ea typeface="Dosis"/>
                <a:cs typeface="Dosis"/>
                <a:sym typeface="Dosis"/>
              </a:defRPr>
            </a:lvl1pPr>
            <a:lvl2pPr marL="914400" lvl="1" indent="-355600">
              <a:spcBef>
                <a:spcPts val="0"/>
              </a:spcBef>
              <a:spcAft>
                <a:spcPts val="0"/>
              </a:spcAft>
              <a:buClr>
                <a:schemeClr val="dk1"/>
              </a:buClr>
              <a:buSzPts val="2000"/>
              <a:buFont typeface="Dosis"/>
              <a:buChar char="✗"/>
              <a:defRPr sz="2000">
                <a:solidFill>
                  <a:schemeClr val="dk1"/>
                </a:solidFill>
                <a:latin typeface="Dosis"/>
                <a:ea typeface="Dosis"/>
                <a:cs typeface="Dosis"/>
                <a:sym typeface="Dosis"/>
              </a:defRPr>
            </a:lvl2pPr>
            <a:lvl3pPr marL="1371600" lvl="2" indent="-355600">
              <a:spcBef>
                <a:spcPts val="0"/>
              </a:spcBef>
              <a:spcAft>
                <a:spcPts val="0"/>
              </a:spcAft>
              <a:buClr>
                <a:schemeClr val="dk1"/>
              </a:buClr>
              <a:buSzPts val="2000"/>
              <a:buFont typeface="Dosis"/>
              <a:buChar char="■"/>
              <a:defRPr sz="2000">
                <a:solidFill>
                  <a:schemeClr val="dk1"/>
                </a:solidFill>
                <a:latin typeface="Dosis"/>
                <a:ea typeface="Dosis"/>
                <a:cs typeface="Dosis"/>
                <a:sym typeface="Dosis"/>
              </a:defRPr>
            </a:lvl3pPr>
            <a:lvl4pPr marL="1828800" lvl="3"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4pPr>
            <a:lvl5pPr marL="2286000" lvl="4"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5pPr>
            <a:lvl6pPr marL="2743200" lvl="5"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6pPr>
            <a:lvl7pPr marL="3200400" lvl="6"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7pPr>
            <a:lvl8pPr marL="3657600" lvl="7"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8pPr>
            <a:lvl9pPr marL="4114800" lvl="8"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9pPr>
          </a:lstStyle>
          <a:p>
            <a:endParaRPr/>
          </a:p>
        </p:txBody>
      </p:sp>
      <p:sp>
        <p:nvSpPr>
          <p:cNvPr id="160" name="Google Shape;160;p1"/>
          <p:cNvSpPr txBox="1">
            <a:spLocks noGrp="1"/>
          </p:cNvSpPr>
          <p:nvPr>
            <p:ph type="sldNum" idx="12"/>
          </p:nvPr>
        </p:nvSpPr>
        <p:spPr>
          <a:xfrm>
            <a:off x="90619" y="4722737"/>
            <a:ext cx="548700" cy="393600"/>
          </a:xfrm>
          <a:prstGeom prst="rect">
            <a:avLst/>
          </a:prstGeom>
          <a:noFill/>
          <a:ln>
            <a:noFill/>
          </a:ln>
        </p:spPr>
        <p:txBody>
          <a:bodyPr spcFirstLastPara="1" wrap="square" lIns="91425" tIns="91425" rIns="91425" bIns="91425" anchor="t" anchorCtr="0">
            <a:noAutofit/>
          </a:bodyPr>
          <a:lstStyle>
            <a:lvl1pPr lvl="0">
              <a:buNone/>
              <a:defRPr sz="1200">
                <a:solidFill>
                  <a:schemeClr val="accent1"/>
                </a:solidFill>
                <a:latin typeface="Sniglet"/>
                <a:ea typeface="Sniglet"/>
                <a:cs typeface="Sniglet"/>
                <a:sym typeface="Sniglet"/>
              </a:defRPr>
            </a:lvl1pPr>
            <a:lvl2pPr lvl="1">
              <a:buNone/>
              <a:defRPr sz="1200">
                <a:solidFill>
                  <a:schemeClr val="accent1"/>
                </a:solidFill>
                <a:latin typeface="Sniglet"/>
                <a:ea typeface="Sniglet"/>
                <a:cs typeface="Sniglet"/>
                <a:sym typeface="Sniglet"/>
              </a:defRPr>
            </a:lvl2pPr>
            <a:lvl3pPr lvl="2">
              <a:buNone/>
              <a:defRPr sz="1200">
                <a:solidFill>
                  <a:schemeClr val="accent1"/>
                </a:solidFill>
                <a:latin typeface="Sniglet"/>
                <a:ea typeface="Sniglet"/>
                <a:cs typeface="Sniglet"/>
                <a:sym typeface="Sniglet"/>
              </a:defRPr>
            </a:lvl3pPr>
            <a:lvl4pPr lvl="3">
              <a:buNone/>
              <a:defRPr sz="1200">
                <a:solidFill>
                  <a:schemeClr val="accent1"/>
                </a:solidFill>
                <a:latin typeface="Sniglet"/>
                <a:ea typeface="Sniglet"/>
                <a:cs typeface="Sniglet"/>
                <a:sym typeface="Sniglet"/>
              </a:defRPr>
            </a:lvl4pPr>
            <a:lvl5pPr lvl="4">
              <a:buNone/>
              <a:defRPr sz="1200">
                <a:solidFill>
                  <a:schemeClr val="accent1"/>
                </a:solidFill>
                <a:latin typeface="Sniglet"/>
                <a:ea typeface="Sniglet"/>
                <a:cs typeface="Sniglet"/>
                <a:sym typeface="Sniglet"/>
              </a:defRPr>
            </a:lvl5pPr>
            <a:lvl6pPr lvl="5">
              <a:buNone/>
              <a:defRPr sz="1200">
                <a:solidFill>
                  <a:schemeClr val="accent1"/>
                </a:solidFill>
                <a:latin typeface="Sniglet"/>
                <a:ea typeface="Sniglet"/>
                <a:cs typeface="Sniglet"/>
                <a:sym typeface="Sniglet"/>
              </a:defRPr>
            </a:lvl6pPr>
            <a:lvl7pPr lvl="6">
              <a:buNone/>
              <a:defRPr sz="1200">
                <a:solidFill>
                  <a:schemeClr val="accent1"/>
                </a:solidFill>
                <a:latin typeface="Sniglet"/>
                <a:ea typeface="Sniglet"/>
                <a:cs typeface="Sniglet"/>
                <a:sym typeface="Sniglet"/>
              </a:defRPr>
            </a:lvl7pPr>
            <a:lvl8pPr lvl="7">
              <a:buNone/>
              <a:defRPr sz="1200">
                <a:solidFill>
                  <a:schemeClr val="accent1"/>
                </a:solidFill>
                <a:latin typeface="Sniglet"/>
                <a:ea typeface="Sniglet"/>
                <a:cs typeface="Sniglet"/>
                <a:sym typeface="Sniglet"/>
              </a:defRPr>
            </a:lvl8pPr>
            <a:lvl9pPr lvl="8">
              <a:buNone/>
              <a:defRPr sz="1200">
                <a:solidFill>
                  <a:schemeClr val="accent1"/>
                </a:solidFill>
                <a:latin typeface="Sniglet"/>
                <a:ea typeface="Sniglet"/>
                <a:cs typeface="Sniglet"/>
                <a:sym typeface="Sniglet"/>
              </a:defRPr>
            </a:lvl9pPr>
          </a:lstStyle>
          <a:p>
            <a:pPr marL="0" lvl="0" indent="0" algn="l"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6" r:id="rId4"/>
    <p:sldLayoutId id="2147483657"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datatopics.worldbank.org/education/indicator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2"/>
          <p:cNvSpPr txBox="1">
            <a:spLocks noGrp="1"/>
          </p:cNvSpPr>
          <p:nvPr>
            <p:ph type="ctrTitle" idx="4294967295"/>
          </p:nvPr>
        </p:nvSpPr>
        <p:spPr>
          <a:xfrm>
            <a:off x="1026367" y="227401"/>
            <a:ext cx="7865706" cy="2534460"/>
          </a:xfrm>
          <a:prstGeom prst="rect">
            <a:avLst/>
          </a:prstGeom>
        </p:spPr>
        <p:txBody>
          <a:bodyPr spcFirstLastPara="1" wrap="square" lIns="91425" tIns="91425" rIns="91425" bIns="91425" anchor="ctr" anchorCtr="0">
            <a:noAutofit/>
          </a:bodyPr>
          <a:lstStyle/>
          <a:p>
            <a:pPr lvl="0"/>
            <a:r>
              <a:rPr lang="fr-FR" sz="2800" dirty="0"/>
              <a:t>Academia : Analyse données système éducatif</a:t>
            </a:r>
            <a:endParaRPr sz="2800" dirty="0"/>
          </a:p>
        </p:txBody>
      </p:sp>
      <p:sp>
        <p:nvSpPr>
          <p:cNvPr id="3" name="Espace réservé du texte 2">
            <a:extLst>
              <a:ext uri="{FF2B5EF4-FFF2-40B4-BE49-F238E27FC236}">
                <a16:creationId xmlns:a16="http://schemas.microsoft.com/office/drawing/2014/main" id="{ADB9F099-5BA2-D48F-BAD4-219261B3F5DF}"/>
              </a:ext>
            </a:extLst>
          </p:cNvPr>
          <p:cNvSpPr txBox="1">
            <a:spLocks/>
          </p:cNvSpPr>
          <p:nvPr/>
        </p:nvSpPr>
        <p:spPr>
          <a:xfrm>
            <a:off x="2123452" y="2095889"/>
            <a:ext cx="4897095" cy="242236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Courier New" panose="02070309020205020404" pitchFamily="49" charset="0"/>
              <a:buChar char="o"/>
            </a:pPr>
            <a:r>
              <a:rPr lang="fr-FR" dirty="0">
                <a:latin typeface="Dosis" pitchFamily="2" charset="77"/>
              </a:rPr>
              <a:t>Effectuer une représentation graphique à l'aide d'une librairie Python adaptée</a:t>
            </a:r>
          </a:p>
          <a:p>
            <a:pPr marL="285750" indent="-285750">
              <a:buFont typeface="Courier New" panose="02070309020205020404" pitchFamily="49" charset="0"/>
              <a:buChar char="o"/>
            </a:pPr>
            <a:r>
              <a:rPr lang="fr-FR" dirty="0">
                <a:latin typeface="Dosis" pitchFamily="2" charset="77"/>
              </a:rPr>
              <a:t>Manipuler des données avec des librairies Python spécialisées</a:t>
            </a:r>
          </a:p>
          <a:p>
            <a:pPr marL="285750" indent="-285750">
              <a:buFont typeface="Courier New" panose="02070309020205020404" pitchFamily="49" charset="0"/>
              <a:buChar char="o"/>
            </a:pPr>
            <a:r>
              <a:rPr lang="fr-FR" dirty="0">
                <a:latin typeface="Dosis" pitchFamily="2" charset="77"/>
              </a:rPr>
              <a:t>Utiliser un notebook </a:t>
            </a:r>
            <a:r>
              <a:rPr lang="fr-FR" dirty="0" err="1">
                <a:latin typeface="Dosis" pitchFamily="2" charset="77"/>
              </a:rPr>
              <a:t>Jupyter</a:t>
            </a:r>
            <a:r>
              <a:rPr lang="fr-FR" dirty="0">
                <a:latin typeface="Dosis" pitchFamily="2" charset="77"/>
              </a:rPr>
              <a:t> pour faciliter la rédaction du code et la collaboration</a:t>
            </a:r>
          </a:p>
          <a:p>
            <a:pPr marL="285750" indent="-285750">
              <a:buFont typeface="Courier New" panose="02070309020205020404" pitchFamily="49" charset="0"/>
              <a:buChar char="o"/>
            </a:pPr>
            <a:r>
              <a:rPr lang="fr-FR" dirty="0">
                <a:latin typeface="Dosis" pitchFamily="2" charset="77"/>
              </a:rPr>
              <a:t>Mettre en place un environnement Python</a:t>
            </a:r>
          </a:p>
          <a:p>
            <a:pPr marL="285750" indent="-285750">
              <a:buFont typeface="Courier New" panose="02070309020205020404" pitchFamily="49" charset="0"/>
              <a:buChar char="o"/>
            </a:pPr>
            <a:r>
              <a:rPr lang="fr-FR" dirty="0">
                <a:latin typeface="Dosis" pitchFamily="2" charset="77"/>
              </a:rPr>
              <a:t>Maîtriser les opérations fondamentales du langage Python pour la Data Science</a:t>
            </a:r>
          </a:p>
          <a:p>
            <a:pPr marL="285750" indent="-285750">
              <a:buFont typeface="Courier New" panose="02070309020205020404" pitchFamily="49" charset="0"/>
              <a:buChar char="o"/>
            </a:pPr>
            <a:endParaRPr lang="fr-FR" dirty="0">
              <a:latin typeface="Dosis" pitchFamily="2"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r>
              <a:rPr lang="fr-FR" dirty="0"/>
              <a:t>Projet d’</a:t>
            </a:r>
            <a:r>
              <a:rPr lang="fr-FR" b="1" dirty="0"/>
              <a:t>expansion à l’international, analyse exploratoire</a:t>
            </a:r>
            <a:br>
              <a:rPr lang="fr-FR" dirty="0"/>
            </a:br>
            <a:r>
              <a:rPr lang="fr-FR" dirty="0"/>
              <a:t>DS P2 Laure </a:t>
            </a:r>
            <a:r>
              <a:rPr lang="fr-FR" dirty="0" err="1"/>
              <a:t>Agrech</a:t>
            </a:r>
            <a:endParaRPr lang="fr-FR" dirty="0"/>
          </a:p>
        </p:txBody>
      </p:sp>
      <p:sp>
        <p:nvSpPr>
          <p:cNvPr id="531" name="Google Shape;531;p13"/>
          <p:cNvSpPr txBox="1"/>
          <p:nvPr/>
        </p:nvSpPr>
        <p:spPr>
          <a:xfrm>
            <a:off x="4572000" y="1263063"/>
            <a:ext cx="2997000" cy="2945100"/>
          </a:xfrm>
          <a:prstGeom prst="rect">
            <a:avLst/>
          </a:prstGeom>
          <a:noFill/>
          <a:ln>
            <a:noFill/>
          </a:ln>
        </p:spPr>
        <p:txBody>
          <a:bodyPr spcFirstLastPara="1" wrap="square" lIns="91425" tIns="91425" rIns="91425" bIns="91425" anchor="t" anchorCtr="0">
            <a:noAutofit/>
          </a:bodyPr>
          <a:lstStyle/>
          <a:p>
            <a:r>
              <a:rPr lang="fr-FR" sz="1200" b="1" dirty="0">
                <a:solidFill>
                  <a:srgbClr val="3C78D8"/>
                </a:solidFill>
                <a:latin typeface="Dosis"/>
              </a:rPr>
              <a:t>Demande du manager</a:t>
            </a:r>
            <a:endParaRPr sz="1200" dirty="0">
              <a:solidFill>
                <a:srgbClr val="3D4965"/>
              </a:solidFill>
              <a:latin typeface="Dosis"/>
              <a:sym typeface="Dosis"/>
            </a:endParaRPr>
          </a:p>
          <a:p>
            <a:pPr>
              <a:spcBef>
                <a:spcPts val="600"/>
              </a:spcBef>
              <a:buClr>
                <a:schemeClr val="dk1"/>
              </a:buClr>
              <a:buSzPts val="1100"/>
            </a:pPr>
            <a:r>
              <a:rPr lang="fr-FR" sz="1200" dirty="0">
                <a:solidFill>
                  <a:srgbClr val="3D4965"/>
                </a:solidFill>
                <a:latin typeface="Dosis"/>
              </a:rPr>
              <a:t>-Mark, manager Academia :</a:t>
            </a:r>
          </a:p>
          <a:p>
            <a:pPr>
              <a:spcBef>
                <a:spcPts val="600"/>
              </a:spcBef>
              <a:buClr>
                <a:schemeClr val="dk1"/>
              </a:buClr>
              <a:buSzPts val="1100"/>
            </a:pPr>
            <a:r>
              <a:rPr lang="fr-FR" sz="1200" b="1" dirty="0">
                <a:solidFill>
                  <a:srgbClr val="FFFFFF"/>
                </a:solidFill>
                <a:highlight>
                  <a:srgbClr val="3C78D8"/>
                </a:highlight>
                <a:latin typeface="Dosis"/>
              </a:rPr>
              <a:t>Quels sont les pays avec un fort potentiel de clients pour nos services ?</a:t>
            </a:r>
          </a:p>
          <a:p>
            <a:pPr>
              <a:spcBef>
                <a:spcPts val="600"/>
              </a:spcBef>
              <a:buClr>
                <a:schemeClr val="dk1"/>
              </a:buClr>
              <a:buSzPts val="1100"/>
            </a:pPr>
            <a:r>
              <a:rPr lang="fr-FR" sz="1200" b="1" dirty="0">
                <a:solidFill>
                  <a:srgbClr val="FFFFFF"/>
                </a:solidFill>
                <a:highlight>
                  <a:srgbClr val="3C78D8"/>
                </a:highlight>
                <a:latin typeface="Dosis"/>
              </a:rPr>
              <a:t>Pour chacun de ces pays, quelle sera l’évolution de ce potentiel de clients ?</a:t>
            </a:r>
          </a:p>
          <a:p>
            <a:pPr>
              <a:spcBef>
                <a:spcPts val="600"/>
              </a:spcBef>
              <a:buClr>
                <a:schemeClr val="dk1"/>
              </a:buClr>
              <a:buSzPts val="1100"/>
            </a:pPr>
            <a:r>
              <a:rPr lang="fr-FR" sz="1200" b="1" dirty="0">
                <a:solidFill>
                  <a:srgbClr val="FFFFFF"/>
                </a:solidFill>
                <a:highlight>
                  <a:srgbClr val="3C78D8"/>
                </a:highlight>
                <a:latin typeface="Dosis"/>
              </a:rPr>
              <a:t>Dans quels pays l'entreprise doit-elle opérer en priorité ?</a:t>
            </a:r>
          </a:p>
          <a:p>
            <a:pPr>
              <a:spcBef>
                <a:spcPts val="600"/>
              </a:spcBef>
              <a:buClr>
                <a:schemeClr val="dk1"/>
              </a:buClr>
              <a:buSzPts val="1100"/>
            </a:pPr>
            <a:endParaRPr lang="fr-FR" sz="1200" dirty="0">
              <a:solidFill>
                <a:srgbClr val="3D4965"/>
              </a:solidFill>
              <a:latin typeface="Dosis"/>
            </a:endParaRPr>
          </a:p>
          <a:p>
            <a:pPr marL="0" lvl="0" indent="0" algn="l" rtl="0">
              <a:spcBef>
                <a:spcPts val="600"/>
              </a:spcBef>
              <a:spcAft>
                <a:spcPts val="0"/>
              </a:spcAft>
              <a:buNone/>
            </a:pPr>
            <a:endParaRPr sz="1200" dirty="0">
              <a:solidFill>
                <a:srgbClr val="3D4965"/>
              </a:solidFill>
              <a:latin typeface="Dosis"/>
              <a:ea typeface="Dosis"/>
              <a:cs typeface="Dosis"/>
              <a:sym typeface="Dosis"/>
            </a:endParaRPr>
          </a:p>
        </p:txBody>
      </p:sp>
      <p:sp>
        <p:nvSpPr>
          <p:cNvPr id="532" name="Google Shape;532;p13"/>
          <p:cNvSpPr txBox="1"/>
          <p:nvPr/>
        </p:nvSpPr>
        <p:spPr>
          <a:xfrm>
            <a:off x="690325" y="1099200"/>
            <a:ext cx="3127800" cy="29451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fr-FR" b="1" dirty="0">
                <a:solidFill>
                  <a:srgbClr val="3C78D8"/>
                </a:solidFill>
                <a:latin typeface="Dosis"/>
                <a:ea typeface="Dosis"/>
                <a:cs typeface="Dosis"/>
                <a:sym typeface="Dosis"/>
              </a:rPr>
              <a:t>Rappel objectifs :</a:t>
            </a:r>
            <a:endParaRPr dirty="0">
              <a:solidFill>
                <a:srgbClr val="3C78D8"/>
              </a:solidFill>
              <a:latin typeface="Dosis"/>
              <a:ea typeface="Dosis"/>
              <a:cs typeface="Dosis"/>
              <a:sym typeface="Dosis"/>
            </a:endParaRPr>
          </a:p>
          <a:p>
            <a:r>
              <a:rPr lang="fr-FR" dirty="0">
                <a:solidFill>
                  <a:srgbClr val="3D4965"/>
                </a:solidFill>
                <a:latin typeface="Dosis"/>
              </a:rPr>
              <a:t>Vous êtes Data </a:t>
            </a:r>
            <a:r>
              <a:rPr lang="fr-FR" dirty="0" err="1">
                <a:solidFill>
                  <a:srgbClr val="3D4965"/>
                </a:solidFill>
                <a:latin typeface="Dosis"/>
              </a:rPr>
              <a:t>Scientist</a:t>
            </a:r>
            <a:r>
              <a:rPr lang="fr-FR" dirty="0">
                <a:solidFill>
                  <a:srgbClr val="3D4965"/>
                </a:solidFill>
                <a:latin typeface="Dosis"/>
              </a:rPr>
              <a:t> dans une start-up de la </a:t>
            </a:r>
            <a:r>
              <a:rPr lang="fr-FR" dirty="0" err="1">
                <a:solidFill>
                  <a:srgbClr val="3D4965"/>
                </a:solidFill>
                <a:latin typeface="Dosis"/>
              </a:rPr>
              <a:t>EdTech</a:t>
            </a:r>
            <a:r>
              <a:rPr lang="fr-FR" dirty="0">
                <a:solidFill>
                  <a:srgbClr val="3D4965"/>
                </a:solidFill>
                <a:latin typeface="Dosis"/>
              </a:rPr>
              <a:t>, nommée </a:t>
            </a:r>
            <a:r>
              <a:rPr lang="fr-FR" dirty="0" err="1">
                <a:solidFill>
                  <a:srgbClr val="3D4965"/>
                </a:solidFill>
                <a:latin typeface="Dosis"/>
              </a:rPr>
              <a:t>Academy</a:t>
            </a:r>
            <a:r>
              <a:rPr lang="fr-FR" dirty="0">
                <a:solidFill>
                  <a:srgbClr val="3D4965"/>
                </a:solidFill>
                <a:latin typeface="Dosis"/>
              </a:rPr>
              <a:t>, qui propose des contenus de </a:t>
            </a:r>
            <a:r>
              <a:rPr lang="fr-FR" b="1" dirty="0">
                <a:solidFill>
                  <a:srgbClr val="3D4965"/>
                </a:solidFill>
                <a:latin typeface="Dosis"/>
              </a:rPr>
              <a:t>formation en ligne </a:t>
            </a:r>
            <a:r>
              <a:rPr lang="fr-FR" dirty="0">
                <a:solidFill>
                  <a:srgbClr val="3D4965"/>
                </a:solidFill>
                <a:latin typeface="Dosis"/>
              </a:rPr>
              <a:t>pour un public de </a:t>
            </a:r>
            <a:r>
              <a:rPr lang="fr-FR" b="1" dirty="0">
                <a:solidFill>
                  <a:srgbClr val="3D4965"/>
                </a:solidFill>
                <a:latin typeface="Dosis"/>
              </a:rPr>
              <a:t>niveau lycée et université</a:t>
            </a:r>
            <a:r>
              <a:rPr lang="fr-FR" dirty="0">
                <a:solidFill>
                  <a:srgbClr val="3D4965"/>
                </a:solidFill>
                <a:latin typeface="Dosis"/>
              </a:rPr>
              <a:t>.</a:t>
            </a:r>
          </a:p>
          <a:p>
            <a:br>
              <a:rPr lang="fr-FR" dirty="0">
                <a:solidFill>
                  <a:srgbClr val="3D4965"/>
                </a:solidFill>
                <a:latin typeface="Dosis"/>
              </a:rPr>
            </a:br>
            <a:r>
              <a:rPr lang="fr-FR" dirty="0">
                <a:solidFill>
                  <a:srgbClr val="3D4965"/>
                </a:solidFill>
                <a:latin typeface="Dosis"/>
              </a:rPr>
              <a:t>Mark, votre manager, vous a convié à une réunion pour vous présenter le projet d’expansion à l’international de l’entreprise. Il vous confie une première mission d’analyse exploratoire, pour déterminer si les données sur l’éducation de la banque mondiale permettent d’informer le projet d’expansion.</a:t>
            </a:r>
          </a:p>
          <a:p>
            <a:pPr marL="0" lvl="0" indent="0" algn="l" rtl="0">
              <a:spcBef>
                <a:spcPts val="600"/>
              </a:spcBef>
              <a:spcAft>
                <a:spcPts val="0"/>
              </a:spcAft>
              <a:buNone/>
            </a:pPr>
            <a:endParaRPr lang="en" sz="1200" dirty="0">
              <a:solidFill>
                <a:srgbClr val="3D4965"/>
              </a:solidFill>
              <a:latin typeface="Dosis"/>
              <a:ea typeface="Dosis"/>
              <a:cs typeface="Dosis"/>
              <a:sym typeface="Dosis"/>
            </a:endParaRPr>
          </a:p>
          <a:p>
            <a:pPr marL="0" lvl="0" indent="0" algn="l" rtl="0">
              <a:spcBef>
                <a:spcPts val="600"/>
              </a:spcBef>
              <a:spcAft>
                <a:spcPts val="0"/>
              </a:spcAft>
              <a:buNone/>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10602" y="-185577"/>
            <a:ext cx="6140400" cy="64417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Plan du </a:t>
            </a:r>
            <a:r>
              <a:rPr lang="en" dirty="0" err="1"/>
              <a:t>livrable</a:t>
            </a:r>
            <a:endParaRPr dirty="0"/>
          </a:p>
        </p:txBody>
      </p:sp>
      <p:sp>
        <p:nvSpPr>
          <p:cNvPr id="560" name="Google Shape;560;p17"/>
          <p:cNvSpPr txBox="1">
            <a:spLocks noGrp="1"/>
          </p:cNvSpPr>
          <p:nvPr>
            <p:ph type="body" idx="1"/>
          </p:nvPr>
        </p:nvSpPr>
        <p:spPr>
          <a:xfrm>
            <a:off x="401954" y="118832"/>
            <a:ext cx="8340091" cy="4641621"/>
          </a:xfrm>
          <a:prstGeom prst="rect">
            <a:avLst/>
          </a:prstGeom>
        </p:spPr>
        <p:txBody>
          <a:bodyPr spcFirstLastPara="1" wrap="square" lIns="91425" tIns="91425" rIns="91425" bIns="91425" anchor="t" anchorCtr="0">
            <a:noAutofit/>
          </a:bodyPr>
          <a:lstStyle/>
          <a:p>
            <a:pPr marL="0" indent="0">
              <a:lnSpc>
                <a:spcPct val="120000"/>
              </a:lnSpc>
              <a:buNone/>
            </a:pPr>
            <a:endParaRPr lang="fr-FR" sz="1100" dirty="0"/>
          </a:p>
          <a:p>
            <a:pPr>
              <a:lnSpc>
                <a:spcPct val="120000"/>
              </a:lnSpc>
              <a:buFont typeface="Wingdings" pitchFamily="2" charset="2"/>
              <a:buChar char="q"/>
            </a:pPr>
            <a:r>
              <a:rPr lang="fr-FR" sz="1000" b="1" dirty="0"/>
              <a:t>Description du jeu de données : analyse pré-exploratoire</a:t>
            </a:r>
          </a:p>
          <a:p>
            <a:pPr lvl="1">
              <a:lnSpc>
                <a:spcPct val="120000"/>
              </a:lnSpc>
              <a:buFont typeface="Courier New" panose="02070309020205020404" pitchFamily="49" charset="0"/>
              <a:buChar char="o"/>
            </a:pPr>
            <a:r>
              <a:rPr lang="fr-FR" sz="1000" dirty="0"/>
              <a:t>Valider la qualité du jeu de données et décrire les informations contenues dans le jeu de données</a:t>
            </a:r>
          </a:p>
          <a:p>
            <a:pPr lvl="1">
              <a:lnSpc>
                <a:spcPct val="120000"/>
              </a:lnSpc>
              <a:buFont typeface="Courier New" panose="02070309020205020404" pitchFamily="49" charset="0"/>
              <a:buChar char="o"/>
            </a:pPr>
            <a:r>
              <a:rPr lang="fr-FR" sz="1000" dirty="0"/>
              <a:t>Description des informations </a:t>
            </a:r>
          </a:p>
          <a:p>
            <a:pPr lvl="1">
              <a:lnSpc>
                <a:spcPct val="120000"/>
              </a:lnSpc>
              <a:buFont typeface="Courier New" panose="02070309020205020404" pitchFamily="49" charset="0"/>
              <a:buChar char="o"/>
            </a:pPr>
            <a:r>
              <a:rPr lang="fr-FR" sz="1000" dirty="0"/>
              <a:t>informations qui semblent pertinentes pour répondre à la problématique</a:t>
            </a:r>
          </a:p>
          <a:p>
            <a:pPr lvl="1">
              <a:lnSpc>
                <a:spcPct val="120000"/>
              </a:lnSpc>
              <a:buFont typeface="Courier New" panose="02070309020205020404" pitchFamily="49" charset="0"/>
              <a:buChar char="o"/>
            </a:pPr>
            <a:endParaRPr lang="fr-FR" sz="1000" dirty="0"/>
          </a:p>
          <a:p>
            <a:pPr>
              <a:lnSpc>
                <a:spcPct val="120000"/>
              </a:lnSpc>
              <a:buFont typeface="Wingdings" pitchFamily="2" charset="2"/>
              <a:buChar char="q"/>
            </a:pPr>
            <a:r>
              <a:rPr lang="fr-FR" sz="1000" b="1" dirty="0"/>
              <a:t>Démarche dans le choix des indicateurs</a:t>
            </a:r>
          </a:p>
          <a:p>
            <a:pPr lvl="1">
              <a:lnSpc>
                <a:spcPct val="120000"/>
              </a:lnSpc>
              <a:buFont typeface="Courier New" panose="02070309020205020404" pitchFamily="49" charset="0"/>
              <a:buChar char="o"/>
            </a:pPr>
            <a:r>
              <a:rPr lang="fr-FR" sz="1000" dirty="0"/>
              <a:t>Filtre du jeu de données sur les indicateurs</a:t>
            </a:r>
          </a:p>
          <a:p>
            <a:pPr lvl="1">
              <a:lnSpc>
                <a:spcPct val="120000"/>
              </a:lnSpc>
              <a:buFont typeface="Courier New" panose="02070309020205020404" pitchFamily="49" charset="0"/>
              <a:buChar char="o"/>
            </a:pPr>
            <a:r>
              <a:rPr lang="fr-FR" sz="1000" dirty="0"/>
              <a:t>Choix des indicateurs/variable </a:t>
            </a:r>
            <a:r>
              <a:rPr lang="fr-FR" sz="1000" dirty="0" err="1"/>
              <a:t>target</a:t>
            </a:r>
            <a:r>
              <a:rPr lang="fr-FR" sz="1000" dirty="0"/>
              <a:t> </a:t>
            </a:r>
          </a:p>
          <a:p>
            <a:pPr lvl="1">
              <a:lnSpc>
                <a:spcPct val="120000"/>
              </a:lnSpc>
              <a:buFont typeface="Courier New" panose="02070309020205020404" pitchFamily="49" charset="0"/>
              <a:buChar char="o"/>
            </a:pPr>
            <a:endParaRPr lang="fr-FR" sz="1000" dirty="0"/>
          </a:p>
          <a:p>
            <a:pPr>
              <a:lnSpc>
                <a:spcPct val="120000"/>
              </a:lnSpc>
              <a:buFont typeface="Wingdings" pitchFamily="2" charset="2"/>
              <a:buChar char="q"/>
            </a:pPr>
            <a:r>
              <a:rPr lang="fr-FR" sz="1000" b="1" dirty="0"/>
              <a:t>Autres critères d’études</a:t>
            </a:r>
          </a:p>
          <a:p>
            <a:pPr lvl="1">
              <a:lnSpc>
                <a:spcPct val="120000"/>
              </a:lnSpc>
              <a:buFont typeface="Courier New" panose="02070309020205020404" pitchFamily="49" charset="0"/>
              <a:buChar char="o"/>
            </a:pPr>
            <a:r>
              <a:rPr lang="fr-FR" sz="1000" dirty="0"/>
              <a:t>Choix de l’année d’étude : Valeurs non NAN la plus proche de l’année réelle (2017)</a:t>
            </a:r>
          </a:p>
          <a:p>
            <a:pPr lvl="1">
              <a:lnSpc>
                <a:spcPct val="120000"/>
              </a:lnSpc>
              <a:buFont typeface="Courier New" panose="02070309020205020404" pitchFamily="49" charset="0"/>
              <a:buChar char="o"/>
            </a:pPr>
            <a:r>
              <a:rPr lang="fr-FR" sz="1000" dirty="0"/>
              <a:t>Filtre sur le </a:t>
            </a:r>
            <a:r>
              <a:rPr lang="fr-FR" sz="1000" dirty="0" err="1"/>
              <a:t>dataset</a:t>
            </a:r>
            <a:r>
              <a:rPr lang="fr-FR" sz="1000" dirty="0"/>
              <a:t> avec seuil de 90% de données remplies</a:t>
            </a:r>
          </a:p>
          <a:p>
            <a:pPr marL="558800" lvl="1" indent="0">
              <a:lnSpc>
                <a:spcPct val="120000"/>
              </a:lnSpc>
              <a:buNone/>
            </a:pPr>
            <a:endParaRPr lang="fr-FR" sz="1000" dirty="0"/>
          </a:p>
          <a:p>
            <a:pPr>
              <a:lnSpc>
                <a:spcPct val="120000"/>
              </a:lnSpc>
              <a:buFont typeface="Wingdings" pitchFamily="2" charset="2"/>
              <a:buChar char="q"/>
            </a:pPr>
            <a:r>
              <a:rPr lang="fr-FR" sz="1000" b="1" dirty="0"/>
              <a:t>Analyse univariée/bivariée</a:t>
            </a:r>
          </a:p>
          <a:p>
            <a:pPr lvl="1">
              <a:lnSpc>
                <a:spcPct val="120000"/>
              </a:lnSpc>
              <a:buFont typeface="Courier New" panose="02070309020205020404" pitchFamily="49" charset="0"/>
              <a:buChar char="o"/>
            </a:pPr>
            <a:r>
              <a:rPr lang="fr-FR" sz="1000" dirty="0"/>
              <a:t>Analyse Univariée </a:t>
            </a:r>
          </a:p>
          <a:p>
            <a:pPr lvl="1">
              <a:lnSpc>
                <a:spcPct val="120000"/>
              </a:lnSpc>
              <a:buFont typeface="Courier New" panose="02070309020205020404" pitchFamily="49" charset="0"/>
              <a:buChar char="o"/>
            </a:pPr>
            <a:r>
              <a:rPr lang="fr-FR" sz="1000" dirty="0"/>
              <a:t>Analyse bivariée </a:t>
            </a:r>
          </a:p>
          <a:p>
            <a:pPr marL="69850" indent="0">
              <a:lnSpc>
                <a:spcPct val="120000"/>
              </a:lnSpc>
              <a:buNone/>
            </a:pPr>
            <a:endParaRPr lang="fr-FR" sz="1000" dirty="0"/>
          </a:p>
          <a:p>
            <a:pPr>
              <a:lnSpc>
                <a:spcPct val="120000"/>
              </a:lnSpc>
              <a:buFont typeface="Wingdings" pitchFamily="2" charset="2"/>
              <a:buChar char="q"/>
            </a:pPr>
            <a:r>
              <a:rPr lang="fr-FR" sz="1000" b="1" dirty="0"/>
              <a:t>Pays et régions avec un fort potentiel de clients pour nos services</a:t>
            </a:r>
          </a:p>
          <a:p>
            <a:pPr lvl="1">
              <a:lnSpc>
                <a:spcPct val="120000"/>
              </a:lnSpc>
              <a:buFont typeface="Courier New" panose="02070309020205020404" pitchFamily="49" charset="0"/>
              <a:buChar char="o"/>
            </a:pPr>
            <a:r>
              <a:rPr lang="fr-FR" sz="1000" dirty="0" err="1"/>
              <a:t>Scoring</a:t>
            </a:r>
            <a:endParaRPr lang="fr-FR" sz="1000" dirty="0"/>
          </a:p>
          <a:p>
            <a:pPr lvl="1">
              <a:lnSpc>
                <a:spcPct val="120000"/>
              </a:lnSpc>
              <a:buFont typeface="Courier New" panose="02070309020205020404" pitchFamily="49" charset="0"/>
              <a:buChar char="o"/>
            </a:pPr>
            <a:r>
              <a:rPr lang="fr-FR" sz="1000" dirty="0"/>
              <a:t>Prédictions :  choix de l’indicateur de prédiction (potentiel de croissance du pays)</a:t>
            </a:r>
          </a:p>
          <a:p>
            <a:pPr lvl="1">
              <a:lnSpc>
                <a:spcPct val="120000"/>
              </a:lnSpc>
              <a:buFont typeface="Courier New" panose="02070309020205020404" pitchFamily="49" charset="0"/>
              <a:buChar char="o"/>
            </a:pPr>
            <a:r>
              <a:rPr lang="fr-FR" sz="1000" dirty="0"/>
              <a:t>Classement des pays en tenant compte de l’attractivité par régions</a:t>
            </a:r>
          </a:p>
          <a:p>
            <a:pPr lvl="1">
              <a:lnSpc>
                <a:spcPct val="120000"/>
              </a:lnSpc>
              <a:buFont typeface="Courier New" panose="02070309020205020404" pitchFamily="49" charset="0"/>
              <a:buChar char="o"/>
            </a:pPr>
            <a:endParaRPr lang="fr-FR" sz="1100" dirty="0"/>
          </a:p>
          <a:p>
            <a:pPr marL="0" lvl="0" indent="0" algn="l" rtl="0">
              <a:spcBef>
                <a:spcPts val="600"/>
              </a:spcBef>
              <a:spcAft>
                <a:spcPts val="0"/>
              </a:spcAft>
              <a:buNone/>
            </a:pPr>
            <a:endParaRPr sz="1100" dirty="0"/>
          </a:p>
        </p:txBody>
      </p:sp>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4" y="225025"/>
            <a:ext cx="6529953" cy="857400"/>
          </a:xfrm>
        </p:spPr>
        <p:txBody>
          <a:bodyPr/>
          <a:lstStyle/>
          <a:p>
            <a:pPr marL="285750" indent="-285750">
              <a:buFont typeface="Wingdings" pitchFamily="2" charset="2"/>
              <a:buChar char="q"/>
            </a:pPr>
            <a:r>
              <a:rPr lang="fr-FR" dirty="0"/>
              <a:t>Description du jeu de données :</a:t>
            </a:r>
            <a:br>
              <a:rPr lang="fr-FR" b="1" dirty="0"/>
            </a:br>
            <a:endParaRPr lang="fr-FR" dirty="0"/>
          </a:p>
        </p:txBody>
      </p:sp>
      <p:sp>
        <p:nvSpPr>
          <p:cNvPr id="3" name="Espace réservé du texte 2">
            <a:extLst>
              <a:ext uri="{FF2B5EF4-FFF2-40B4-BE49-F238E27FC236}">
                <a16:creationId xmlns:a16="http://schemas.microsoft.com/office/drawing/2014/main" id="{F095F0B9-3427-3054-0121-9E8C450338C4}"/>
              </a:ext>
            </a:extLst>
          </p:cNvPr>
          <p:cNvSpPr>
            <a:spLocks noGrp="1"/>
          </p:cNvSpPr>
          <p:nvPr>
            <p:ph type="body" idx="1"/>
          </p:nvPr>
        </p:nvSpPr>
        <p:spPr>
          <a:xfrm>
            <a:off x="747925" y="1302837"/>
            <a:ext cx="7435022" cy="3610800"/>
          </a:xfrm>
        </p:spPr>
        <p:txBody>
          <a:bodyPr/>
          <a:lstStyle/>
          <a:p>
            <a:pPr>
              <a:buFont typeface="Courier New" panose="02070309020205020404" pitchFamily="49" charset="0"/>
              <a:buChar char="o"/>
            </a:pPr>
            <a:r>
              <a:rPr lang="fr-FR" sz="1400" b="1" dirty="0"/>
              <a:t>Validation de la qualité (valeurs manquantes/doublons) :</a:t>
            </a:r>
          </a:p>
          <a:p>
            <a:pPr>
              <a:buFont typeface="Courier New" panose="02070309020205020404" pitchFamily="49" charset="0"/>
              <a:buChar char="o"/>
            </a:pPr>
            <a:endParaRPr lang="fr-FR" sz="1400" b="1" dirty="0"/>
          </a:p>
          <a:p>
            <a:pPr marL="0" indent="0">
              <a:buNone/>
            </a:pPr>
            <a:r>
              <a:rPr lang="fr-FR" sz="1400" dirty="0"/>
              <a:t>Country (colonnes lignes) :            -- Valeurs manquantes :  70% environ  	-- doublons : 0</a:t>
            </a:r>
          </a:p>
          <a:p>
            <a:pPr marL="0" indent="0">
              <a:buNone/>
            </a:pPr>
            <a:r>
              <a:rPr lang="fr-FR" sz="1400" dirty="0" err="1"/>
              <a:t>Series</a:t>
            </a:r>
            <a:r>
              <a:rPr lang="fr-FR" sz="1400" dirty="0"/>
              <a:t>(colonnes lignes) :   	           -- Valeurs manquantes :  70% environ  	-- doublons : 0</a:t>
            </a:r>
          </a:p>
          <a:p>
            <a:pPr marL="0" indent="0">
              <a:buNone/>
            </a:pPr>
            <a:r>
              <a:rPr lang="fr-FR" sz="1400" dirty="0" err="1"/>
              <a:t>Statsdata</a:t>
            </a:r>
            <a:r>
              <a:rPr lang="fr-FR" sz="1400" dirty="0"/>
              <a:t> (colonnes lignes) :          -- Valeurs manquantes :  86% environ  	-- doublons : 0</a:t>
            </a:r>
          </a:p>
          <a:p>
            <a:pPr marL="0" indent="0">
              <a:buNone/>
            </a:pPr>
            <a:r>
              <a:rPr lang="fr-FR" sz="1400" dirty="0" err="1"/>
              <a:t>Footnote</a:t>
            </a:r>
            <a:r>
              <a:rPr lang="fr-FR" sz="1400" dirty="0"/>
              <a:t> (colonnes lignes) :          -- Valeurs manquantes :  0	                          -- doublons : 0</a:t>
            </a:r>
          </a:p>
          <a:p>
            <a:pPr marL="0" indent="0">
              <a:buNone/>
            </a:pPr>
            <a:r>
              <a:rPr lang="fr-FR" sz="1400" dirty="0" err="1"/>
              <a:t>CountrySeries</a:t>
            </a:r>
            <a:r>
              <a:rPr lang="fr-FR" sz="1400" dirty="0"/>
              <a:t> (colonnes lignes) : -- Valeurs manquantes : 0                 	-- doublons : 0</a:t>
            </a:r>
          </a:p>
          <a:p>
            <a:pPr marL="0" indent="0">
              <a:buNone/>
            </a:pPr>
            <a:endParaRPr lang="fr-FR" sz="1400" dirty="0"/>
          </a:p>
          <a:p>
            <a:pPr marL="0" indent="0">
              <a:buNone/>
            </a:pPr>
            <a:r>
              <a:rPr lang="fr-FR" sz="1400" dirty="0"/>
              <a:t>Les tables sont exemptes de doublons mais il y a beaucoup de valeurs manquantes</a:t>
            </a:r>
          </a:p>
          <a:p>
            <a:endParaRPr lang="fr-FR" sz="1100"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4</a:t>
            </a:fld>
            <a:endParaRPr lang="fr-FR"/>
          </a:p>
        </p:txBody>
      </p:sp>
    </p:spTree>
    <p:extLst>
      <p:ext uri="{BB962C8B-B14F-4D97-AF65-F5344CB8AC3E}">
        <p14:creationId xmlns:p14="http://schemas.microsoft.com/office/powerpoint/2010/main" val="2021797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4" y="225025"/>
            <a:ext cx="6529953" cy="857400"/>
          </a:xfrm>
        </p:spPr>
        <p:txBody>
          <a:bodyPr/>
          <a:lstStyle/>
          <a:p>
            <a:pPr marL="285750" indent="-285750">
              <a:buFont typeface="Wingdings" pitchFamily="2" charset="2"/>
              <a:buChar char="q"/>
            </a:pPr>
            <a:r>
              <a:rPr lang="fr-FR" dirty="0"/>
              <a:t>Description du jeu de données :</a:t>
            </a:r>
            <a:br>
              <a:rPr lang="fr-FR" b="1" dirty="0"/>
            </a:br>
            <a:endParaRPr lang="fr-FR" dirty="0"/>
          </a:p>
        </p:txBody>
      </p:sp>
      <p:sp>
        <p:nvSpPr>
          <p:cNvPr id="3" name="Espace réservé du texte 2">
            <a:extLst>
              <a:ext uri="{FF2B5EF4-FFF2-40B4-BE49-F238E27FC236}">
                <a16:creationId xmlns:a16="http://schemas.microsoft.com/office/drawing/2014/main" id="{F095F0B9-3427-3054-0121-9E8C450338C4}"/>
              </a:ext>
            </a:extLst>
          </p:cNvPr>
          <p:cNvSpPr>
            <a:spLocks noGrp="1"/>
          </p:cNvSpPr>
          <p:nvPr>
            <p:ph type="body" idx="1"/>
          </p:nvPr>
        </p:nvSpPr>
        <p:spPr>
          <a:xfrm>
            <a:off x="813240" y="766350"/>
            <a:ext cx="6140400" cy="3610800"/>
          </a:xfrm>
        </p:spPr>
        <p:txBody>
          <a:bodyPr/>
          <a:lstStyle/>
          <a:p>
            <a:pPr>
              <a:buFont typeface="Courier New" panose="02070309020205020404" pitchFamily="49" charset="0"/>
              <a:buChar char="o"/>
            </a:pPr>
            <a:r>
              <a:rPr lang="fr-FR" sz="1200" b="1" dirty="0"/>
              <a:t>Description des informations :</a:t>
            </a:r>
          </a:p>
          <a:p>
            <a:pPr>
              <a:buFont typeface="Courier New" panose="02070309020205020404" pitchFamily="49" charset="0"/>
              <a:buChar char="o"/>
            </a:pPr>
            <a:endParaRPr lang="fr-FR" sz="1200" b="1" dirty="0"/>
          </a:p>
          <a:p>
            <a:pPr marL="0" indent="0">
              <a:buNone/>
            </a:pPr>
            <a:r>
              <a:rPr lang="fr-FR" sz="1200" b="1" dirty="0">
                <a:highlight>
                  <a:srgbClr val="00FF00"/>
                </a:highlight>
              </a:rPr>
              <a:t>• </a:t>
            </a:r>
            <a:r>
              <a:rPr lang="fr-FR" sz="1200" dirty="0">
                <a:highlight>
                  <a:srgbClr val="00FF00"/>
                </a:highlight>
              </a:rPr>
              <a:t> </a:t>
            </a:r>
            <a:r>
              <a:rPr lang="fr-FR" sz="1200" b="1" dirty="0" err="1">
                <a:highlight>
                  <a:srgbClr val="00FF00"/>
                </a:highlight>
              </a:rPr>
              <a:t>EdStatsCountry</a:t>
            </a:r>
            <a:r>
              <a:rPr lang="fr-FR" sz="1200" b="1" dirty="0">
                <a:highlight>
                  <a:srgbClr val="00FF00"/>
                </a:highlight>
              </a:rPr>
              <a:t> </a:t>
            </a:r>
            <a:r>
              <a:rPr lang="fr-FR" sz="1200" dirty="0">
                <a:highlight>
                  <a:srgbClr val="00FF00"/>
                </a:highlight>
              </a:rPr>
              <a:t>: </a:t>
            </a:r>
            <a:r>
              <a:rPr lang="fr-FR" sz="1200" dirty="0" err="1">
                <a:highlight>
                  <a:srgbClr val="00FF00"/>
                </a:highlight>
              </a:rPr>
              <a:t>EdStatsCountry.csv</a:t>
            </a:r>
            <a:r>
              <a:rPr lang="fr-FR" sz="1200" dirty="0">
                <a:highlight>
                  <a:srgbClr val="00FF00"/>
                </a:highlight>
              </a:rPr>
              <a:t> contient des informations globales sur l'économie de chaque pays du monde certaines valeurs manquent pour de nombreux pays, parfois la majorité des pays. </a:t>
            </a:r>
            <a:br>
              <a:rPr lang="fr-FR" sz="1200" dirty="0">
                <a:highlight>
                  <a:srgbClr val="00FF00"/>
                </a:highlight>
              </a:rPr>
            </a:br>
            <a:r>
              <a:rPr lang="fr-FR" sz="1200" b="1" dirty="0">
                <a:highlight>
                  <a:srgbClr val="00FF00"/>
                </a:highlight>
              </a:rPr>
              <a:t>Colonnes intéressantes : </a:t>
            </a:r>
            <a:r>
              <a:rPr lang="fr-FR" sz="1200" dirty="0">
                <a:highlight>
                  <a:srgbClr val="00FF00"/>
                </a:highlight>
              </a:rPr>
              <a:t>« </a:t>
            </a:r>
            <a:r>
              <a:rPr lang="fr-FR" sz="1200" dirty="0" err="1">
                <a:highlight>
                  <a:srgbClr val="00FF00"/>
                </a:highlight>
              </a:rPr>
              <a:t>Region</a:t>
            </a:r>
            <a:r>
              <a:rPr lang="fr-FR" sz="1200" dirty="0">
                <a:highlight>
                  <a:srgbClr val="00FF00"/>
                </a:highlight>
              </a:rPr>
              <a:t> » pour faire une étude en agrégant les pays du fait des données manquantes dans le fichier </a:t>
            </a:r>
            <a:r>
              <a:rPr lang="fr-FR" sz="1200" dirty="0" err="1">
                <a:highlight>
                  <a:srgbClr val="00FF00"/>
                </a:highlight>
              </a:rPr>
              <a:t>EdStatsData</a:t>
            </a:r>
            <a:br>
              <a:rPr lang="fr-FR" sz="1200" dirty="0"/>
            </a:br>
            <a:endParaRPr lang="fr-FR" sz="1200" dirty="0"/>
          </a:p>
          <a:p>
            <a:pPr marL="0" indent="0">
              <a:buNone/>
            </a:pPr>
            <a:r>
              <a:rPr lang="fr-FR" sz="1200" b="1" dirty="0"/>
              <a:t>• Country </a:t>
            </a:r>
            <a:r>
              <a:rPr lang="fr-FR" sz="1200" b="1" dirty="0" err="1"/>
              <a:t>Series</a:t>
            </a:r>
            <a:r>
              <a:rPr lang="fr-FR" sz="1200" b="1" dirty="0"/>
              <a:t> </a:t>
            </a:r>
            <a:r>
              <a:rPr lang="fr-FR" sz="1200" dirty="0"/>
              <a:t>: </a:t>
            </a:r>
            <a:r>
              <a:rPr lang="fr-FR" sz="1200" dirty="0" err="1"/>
              <a:t>EdStatsCountry-Series.csv</a:t>
            </a:r>
            <a:r>
              <a:rPr lang="fr-FR" sz="1200" dirty="0"/>
              <a:t> contient la source des données des informations contenues dans </a:t>
            </a:r>
            <a:r>
              <a:rPr lang="fr-FR" sz="1200" dirty="0" err="1"/>
              <a:t>EdStatsCountry.csv</a:t>
            </a:r>
            <a:r>
              <a:rPr lang="fr-FR" sz="1200" dirty="0"/>
              <a:t>. Nous ne nous servirons pas de cette table pour notre étude.</a:t>
            </a:r>
            <a:br>
              <a:rPr lang="fr-FR" sz="1200" dirty="0">
                <a:highlight>
                  <a:srgbClr val="00FF00"/>
                </a:highlight>
              </a:rPr>
            </a:br>
            <a:endParaRPr lang="fr-FR" sz="1200" dirty="0">
              <a:highlight>
                <a:srgbClr val="00FF00"/>
              </a:highlight>
            </a:endParaRPr>
          </a:p>
          <a:p>
            <a:pPr marL="0" indent="0">
              <a:buNone/>
            </a:pPr>
            <a:r>
              <a:rPr lang="fr-FR" sz="1200" b="1" dirty="0">
                <a:highlight>
                  <a:srgbClr val="00FF00"/>
                </a:highlight>
              </a:rPr>
              <a:t>• </a:t>
            </a:r>
            <a:r>
              <a:rPr lang="fr-FR" sz="1200" b="1" dirty="0" err="1">
                <a:highlight>
                  <a:srgbClr val="00FF00"/>
                </a:highlight>
              </a:rPr>
              <a:t>Statsdata</a:t>
            </a:r>
            <a:r>
              <a:rPr lang="fr-FR" sz="1200" b="1" dirty="0">
                <a:highlight>
                  <a:srgbClr val="00FF00"/>
                </a:highlight>
              </a:rPr>
              <a:t> </a:t>
            </a:r>
            <a:r>
              <a:rPr lang="fr-FR" sz="1200" dirty="0">
                <a:highlight>
                  <a:srgbClr val="00FF00"/>
                </a:highlight>
              </a:rPr>
              <a:t>: </a:t>
            </a:r>
            <a:r>
              <a:rPr lang="fr-FR" sz="1200" dirty="0" err="1">
                <a:highlight>
                  <a:srgbClr val="00FF00"/>
                </a:highlight>
              </a:rPr>
              <a:t>EdStatsData.csv</a:t>
            </a:r>
            <a:r>
              <a:rPr lang="fr-FR" sz="1200" dirty="0">
                <a:highlight>
                  <a:srgbClr val="00FF00"/>
                </a:highlight>
              </a:rPr>
              <a:t> donne l'évolution des indicateurs de 1970 à 2100 sur les pays du monde ainsi que leur région. Colonnes intéressantes : « Indicator Name » et « Indicator Code » </a:t>
            </a:r>
          </a:p>
          <a:p>
            <a:pPr marL="0" indent="0">
              <a:buNone/>
            </a:pPr>
            <a:br>
              <a:rPr lang="fr-FR" sz="1200" dirty="0"/>
            </a:br>
            <a:r>
              <a:rPr lang="fr-FR" sz="1200" dirty="0"/>
              <a:t>• </a:t>
            </a:r>
            <a:r>
              <a:rPr lang="fr-FR" sz="1200" b="1" dirty="0" err="1"/>
              <a:t>Footnote</a:t>
            </a:r>
            <a:r>
              <a:rPr lang="fr-FR" sz="1200" b="1" dirty="0"/>
              <a:t> </a:t>
            </a:r>
            <a:r>
              <a:rPr lang="fr-FR" sz="1200" dirty="0"/>
              <a:t>: </a:t>
            </a:r>
            <a:r>
              <a:rPr lang="fr-FR" sz="1200" dirty="0" err="1"/>
              <a:t>footnote</a:t>
            </a:r>
            <a:r>
              <a:rPr lang="fr-FR" sz="1200" dirty="0"/>
              <a:t> donne des informations sur année d'origine des données et description des données les valeurs manquantes correspondent à la colonne "Unnamed:4" qui est vide en intégralité et peut donc être supprimée sans perte d'information. Aucun doublon</a:t>
            </a:r>
          </a:p>
          <a:p>
            <a:pPr marL="0" indent="0">
              <a:buNone/>
            </a:pPr>
            <a:r>
              <a:rPr lang="fr-FR" sz="1200" b="1" dirty="0">
                <a:highlight>
                  <a:srgbClr val="00FF00"/>
                </a:highlight>
              </a:rPr>
              <a:t>• </a:t>
            </a:r>
            <a:r>
              <a:rPr lang="fr-FR" sz="1200" b="1" dirty="0" err="1">
                <a:highlight>
                  <a:srgbClr val="00FF00"/>
                </a:highlight>
              </a:rPr>
              <a:t>Series</a:t>
            </a:r>
            <a:r>
              <a:rPr lang="fr-FR" sz="1200" b="1" dirty="0">
                <a:highlight>
                  <a:srgbClr val="00FF00"/>
                </a:highlight>
              </a:rPr>
              <a:t> </a:t>
            </a:r>
            <a:r>
              <a:rPr lang="fr-FR" sz="1200" dirty="0">
                <a:highlight>
                  <a:srgbClr val="00FF00"/>
                </a:highlight>
              </a:rPr>
              <a:t>: </a:t>
            </a:r>
            <a:r>
              <a:rPr lang="fr-FR" sz="1200" dirty="0" err="1">
                <a:highlight>
                  <a:srgbClr val="00FF00"/>
                </a:highlight>
              </a:rPr>
              <a:t>Series</a:t>
            </a:r>
            <a:r>
              <a:rPr lang="fr-FR" sz="1200" dirty="0">
                <a:highlight>
                  <a:srgbClr val="00FF00"/>
                </a:highlight>
              </a:rPr>
              <a:t> donne des données descriptives sur les indicateurs socio-économiques disponibles dans data. On pourra utiliser les colonnes « </a:t>
            </a:r>
            <a:r>
              <a:rPr lang="fr-FR" sz="1200" dirty="0" err="1">
                <a:highlight>
                  <a:srgbClr val="00FF00"/>
                </a:highlight>
              </a:rPr>
              <a:t>Series</a:t>
            </a:r>
            <a:r>
              <a:rPr lang="fr-FR" sz="1200" dirty="0">
                <a:highlight>
                  <a:srgbClr val="00FF00"/>
                </a:highlight>
              </a:rPr>
              <a:t> Code » pour nos KPI et « Short </a:t>
            </a:r>
            <a:r>
              <a:rPr lang="fr-FR" sz="1200" dirty="0" err="1">
                <a:highlight>
                  <a:srgbClr val="00FF00"/>
                </a:highlight>
              </a:rPr>
              <a:t>definition</a:t>
            </a:r>
            <a:r>
              <a:rPr lang="fr-FR" sz="1200" dirty="0">
                <a:highlight>
                  <a:srgbClr val="00FF00"/>
                </a:highlight>
              </a:rPr>
              <a:t> »</a:t>
            </a:r>
          </a:p>
          <a:p>
            <a:endParaRPr lang="fr-FR" sz="1200"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5</a:t>
            </a:fld>
            <a:endParaRPr lang="fr-FR"/>
          </a:p>
        </p:txBody>
      </p:sp>
      <p:sp>
        <p:nvSpPr>
          <p:cNvPr id="5" name="Rectangle 4">
            <a:extLst>
              <a:ext uri="{FF2B5EF4-FFF2-40B4-BE49-F238E27FC236}">
                <a16:creationId xmlns:a16="http://schemas.microsoft.com/office/drawing/2014/main" id="{AE62A6CD-44A5-D784-AFD6-97F4318127C7}"/>
              </a:ext>
            </a:extLst>
          </p:cNvPr>
          <p:cNvSpPr/>
          <p:nvPr/>
        </p:nvSpPr>
        <p:spPr>
          <a:xfrm>
            <a:off x="4136994" y="766350"/>
            <a:ext cx="594804" cy="165805"/>
          </a:xfrm>
          <a:prstGeom prst="rect">
            <a:avLst/>
          </a:prstGeom>
          <a:solidFill>
            <a:srgbClr val="00FA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texte 2">
            <a:extLst>
              <a:ext uri="{FF2B5EF4-FFF2-40B4-BE49-F238E27FC236}">
                <a16:creationId xmlns:a16="http://schemas.microsoft.com/office/drawing/2014/main" id="{BBA042D2-DF43-B20E-DFDA-65436F62762B}"/>
              </a:ext>
            </a:extLst>
          </p:cNvPr>
          <p:cNvSpPr txBox="1">
            <a:spLocks/>
          </p:cNvSpPr>
          <p:nvPr/>
        </p:nvSpPr>
        <p:spPr>
          <a:xfrm>
            <a:off x="4752726" y="597678"/>
            <a:ext cx="1857459" cy="4854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marL="0" indent="0">
              <a:buFont typeface="Dosis"/>
              <a:buNone/>
            </a:pPr>
            <a:r>
              <a:rPr lang="fr-FR" sz="1200" dirty="0">
                <a:highlight>
                  <a:srgbClr val="00FF00"/>
                </a:highlight>
              </a:rPr>
              <a:t>Tables qui serviront à l’étude</a:t>
            </a:r>
            <a:br>
              <a:rPr lang="fr-FR" sz="1200" dirty="0">
                <a:highlight>
                  <a:srgbClr val="00FF00"/>
                </a:highlight>
              </a:rPr>
            </a:br>
            <a:br>
              <a:rPr lang="fr-FR" sz="1200" dirty="0">
                <a:highlight>
                  <a:srgbClr val="00FF00"/>
                </a:highlight>
              </a:rPr>
            </a:br>
            <a:endParaRPr lang="fr-FR" sz="1200" dirty="0"/>
          </a:p>
        </p:txBody>
      </p:sp>
    </p:spTree>
    <p:extLst>
      <p:ext uri="{BB962C8B-B14F-4D97-AF65-F5344CB8AC3E}">
        <p14:creationId xmlns:p14="http://schemas.microsoft.com/office/powerpoint/2010/main" val="1581781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8AD55F9-4BA6-1F69-1590-8B0D068BF59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t>6</a:t>
            </a:fld>
            <a:endParaRPr lang="fr-FR"/>
          </a:p>
        </p:txBody>
      </p:sp>
      <p:sp>
        <p:nvSpPr>
          <p:cNvPr id="4" name="Google Shape;547;p15">
            <a:extLst>
              <a:ext uri="{FF2B5EF4-FFF2-40B4-BE49-F238E27FC236}">
                <a16:creationId xmlns:a16="http://schemas.microsoft.com/office/drawing/2014/main" id="{D5C8CBE6-34F3-9D44-2EFB-EF5A609CD4C7}"/>
              </a:ext>
            </a:extLst>
          </p:cNvPr>
          <p:cNvSpPr txBox="1">
            <a:spLocks/>
          </p:cNvSpPr>
          <p:nvPr/>
        </p:nvSpPr>
        <p:spPr>
          <a:xfrm>
            <a:off x="1646850" y="0"/>
            <a:ext cx="5301600" cy="1159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1"/>
              </a:buClr>
              <a:buSzPts val="3700"/>
            </a:pPr>
            <a:r>
              <a:rPr lang="fr-FR" sz="2800" dirty="0">
                <a:solidFill>
                  <a:schemeClr val="accent1"/>
                </a:solidFill>
                <a:latin typeface="Sniglet"/>
                <a:sym typeface="Sniglet"/>
              </a:rPr>
              <a:t>Structure du </a:t>
            </a:r>
            <a:r>
              <a:rPr lang="fr-FR" sz="2800" dirty="0" err="1">
                <a:solidFill>
                  <a:schemeClr val="accent1"/>
                </a:solidFill>
                <a:latin typeface="Sniglet"/>
                <a:sym typeface="Sniglet"/>
              </a:rPr>
              <a:t>dataset</a:t>
            </a:r>
            <a:r>
              <a:rPr lang="fr-FR" sz="2800" dirty="0">
                <a:solidFill>
                  <a:schemeClr val="accent1"/>
                </a:solidFill>
                <a:latin typeface="Sniglet"/>
                <a:sym typeface="Sniglet"/>
              </a:rPr>
              <a:t> et clés communes</a:t>
            </a:r>
          </a:p>
        </p:txBody>
      </p:sp>
      <p:pic>
        <p:nvPicPr>
          <p:cNvPr id="5" name="Image 4">
            <a:extLst>
              <a:ext uri="{FF2B5EF4-FFF2-40B4-BE49-F238E27FC236}">
                <a16:creationId xmlns:a16="http://schemas.microsoft.com/office/drawing/2014/main" id="{9360DCB7-7B34-56D9-8C93-5FFD201DBAF3}"/>
              </a:ext>
            </a:extLst>
          </p:cNvPr>
          <p:cNvPicPr>
            <a:picLocks noChangeAspect="1"/>
          </p:cNvPicPr>
          <p:nvPr/>
        </p:nvPicPr>
        <p:blipFill>
          <a:blip r:embed="rId2"/>
          <a:stretch>
            <a:fillRect/>
          </a:stretch>
        </p:blipFill>
        <p:spPr>
          <a:xfrm>
            <a:off x="1340677" y="1481950"/>
            <a:ext cx="6189128" cy="2917098"/>
          </a:xfrm>
          <a:prstGeom prst="rect">
            <a:avLst/>
          </a:prstGeom>
        </p:spPr>
      </p:pic>
    </p:spTree>
    <p:extLst>
      <p:ext uri="{BB962C8B-B14F-4D97-AF65-F5344CB8AC3E}">
        <p14:creationId xmlns:p14="http://schemas.microsoft.com/office/powerpoint/2010/main" val="1814133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4" y="225025"/>
            <a:ext cx="6529953" cy="857400"/>
          </a:xfrm>
        </p:spPr>
        <p:txBody>
          <a:bodyPr/>
          <a:lstStyle/>
          <a:p>
            <a:br>
              <a:rPr lang="fr-FR" sz="1400" b="1" dirty="0">
                <a:solidFill>
                  <a:schemeClr val="dk1"/>
                </a:solidFill>
                <a:latin typeface="Dosis"/>
              </a:rPr>
            </a:br>
            <a:endParaRPr lang="fr-FR" sz="1400" b="1" dirty="0">
              <a:solidFill>
                <a:schemeClr val="dk1"/>
              </a:solidFill>
              <a:latin typeface="Dosis"/>
            </a:endParaRPr>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7</a:t>
            </a:fld>
            <a:endParaRPr lang="fr-FR"/>
          </a:p>
        </p:txBody>
      </p:sp>
      <p:sp>
        <p:nvSpPr>
          <p:cNvPr id="7" name="Google Shape;540;p14">
            <a:extLst>
              <a:ext uri="{FF2B5EF4-FFF2-40B4-BE49-F238E27FC236}">
                <a16:creationId xmlns:a16="http://schemas.microsoft.com/office/drawing/2014/main" id="{5A561EF7-7B9F-58FD-627C-A423F6C231E9}"/>
              </a:ext>
            </a:extLst>
          </p:cNvPr>
          <p:cNvSpPr txBox="1">
            <a:spLocks/>
          </p:cNvSpPr>
          <p:nvPr/>
        </p:nvSpPr>
        <p:spPr>
          <a:xfrm>
            <a:off x="747924" y="374592"/>
            <a:ext cx="4641300" cy="246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dk1"/>
              </a:buClr>
              <a:buSzPts val="2600"/>
              <a:buFont typeface="Dosis"/>
              <a:buChar char="✘"/>
              <a:defRPr sz="26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endParaRPr lang="fr-FR" sz="1600" b="1" dirty="0"/>
          </a:p>
          <a:p>
            <a:pPr marL="0" indent="0">
              <a:buFont typeface="Dosis"/>
              <a:buNone/>
            </a:pPr>
            <a:r>
              <a:rPr lang="fr-FR" sz="1600" dirty="0"/>
              <a:t>Notre étude portera sur le </a:t>
            </a:r>
            <a:r>
              <a:rPr lang="fr-FR" sz="1600" dirty="0" err="1"/>
              <a:t>dataset</a:t>
            </a:r>
            <a:r>
              <a:rPr lang="fr-FR" sz="1600" dirty="0"/>
              <a:t> </a:t>
            </a:r>
            <a:r>
              <a:rPr lang="fr-FR" sz="1600" b="1" dirty="0" err="1"/>
              <a:t>Statsdata</a:t>
            </a:r>
            <a:r>
              <a:rPr lang="fr-FR" sz="1600" dirty="0"/>
              <a:t> qui comporte les données éducatives qui nous intéressent avec tous les pays.</a:t>
            </a:r>
          </a:p>
          <a:p>
            <a:pPr marL="0" indent="0">
              <a:buFont typeface="Dosis"/>
              <a:buNone/>
            </a:pPr>
            <a:endParaRPr lang="fr-FR" sz="1600" dirty="0"/>
          </a:p>
          <a:p>
            <a:pPr marL="0" indent="0">
              <a:buFont typeface="Dosis"/>
              <a:buNone/>
            </a:pPr>
            <a:r>
              <a:rPr lang="fr-FR" sz="1600" dirty="0"/>
              <a:t>Les colonnes de la table qui nous intéressent pour l’étude sont les années, le nom des pays et les indicateurs</a:t>
            </a:r>
          </a:p>
          <a:p>
            <a:pPr marL="0" indent="0">
              <a:buFont typeface="Dosis"/>
              <a:buNone/>
            </a:pPr>
            <a:endParaRPr lang="fr-FR" sz="1600" dirty="0"/>
          </a:p>
        </p:txBody>
      </p:sp>
      <p:sp>
        <p:nvSpPr>
          <p:cNvPr id="8" name="Espace réservé du texte 2">
            <a:extLst>
              <a:ext uri="{FF2B5EF4-FFF2-40B4-BE49-F238E27FC236}">
                <a16:creationId xmlns:a16="http://schemas.microsoft.com/office/drawing/2014/main" id="{0A023026-6DFD-33F4-A78A-ED19F5C96A5B}"/>
              </a:ext>
            </a:extLst>
          </p:cNvPr>
          <p:cNvSpPr>
            <a:spLocks noGrp="1"/>
          </p:cNvSpPr>
          <p:nvPr>
            <p:ph type="body" idx="1"/>
          </p:nvPr>
        </p:nvSpPr>
        <p:spPr>
          <a:xfrm>
            <a:off x="562317" y="225025"/>
            <a:ext cx="7435022" cy="1035884"/>
          </a:xfrm>
        </p:spPr>
        <p:txBody>
          <a:bodyPr/>
          <a:lstStyle/>
          <a:p>
            <a:pPr>
              <a:buFont typeface="Courier New" panose="02070309020205020404" pitchFamily="49" charset="0"/>
              <a:buChar char="o"/>
            </a:pPr>
            <a:r>
              <a:rPr lang="fr-FR" sz="1400" b="1" dirty="0">
                <a:sym typeface="Arial"/>
              </a:rPr>
              <a:t>informations qui semblent pertinentes pour répondre à la problématique</a:t>
            </a:r>
            <a:endParaRPr lang="fr-FR" sz="1100" dirty="0"/>
          </a:p>
        </p:txBody>
      </p:sp>
    </p:spTree>
    <p:extLst>
      <p:ext uri="{BB962C8B-B14F-4D97-AF65-F5344CB8AC3E}">
        <p14:creationId xmlns:p14="http://schemas.microsoft.com/office/powerpoint/2010/main" val="2439685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2D5FB2F-8C94-8756-DB34-3DC3D2F9A3E8}"/>
              </a:ext>
            </a:extLst>
          </p:cNvPr>
          <p:cNvSpPr>
            <a:spLocks noGrp="1"/>
          </p:cNvSpPr>
          <p:nvPr>
            <p:ph type="body" idx="1"/>
          </p:nvPr>
        </p:nvSpPr>
        <p:spPr>
          <a:xfrm>
            <a:off x="0" y="435214"/>
            <a:ext cx="6140400" cy="1579294"/>
          </a:xfrm>
        </p:spPr>
        <p:txBody>
          <a:bodyPr/>
          <a:lstStyle/>
          <a:p>
            <a:pPr marL="69850" indent="0">
              <a:buNone/>
            </a:pPr>
            <a:r>
              <a:rPr lang="fr-FR" sz="1400" b="1" dirty="0"/>
              <a:t>1) </a:t>
            </a:r>
            <a:r>
              <a:rPr lang="fr-FR" sz="1400" dirty="0"/>
              <a:t>Malgré le nombre de valeurs manquantes on observe des lignes bien remplies (pays en lignes, années en colonnes) et certaines années avec suffisamment de données nous permettant de répondre à la problématique. </a:t>
            </a:r>
          </a:p>
          <a:p>
            <a:pPr marL="69850" indent="0">
              <a:buNone/>
            </a:pPr>
            <a:endParaRPr lang="fr-FR" dirty="0"/>
          </a:p>
        </p:txBody>
      </p:sp>
      <p:sp>
        <p:nvSpPr>
          <p:cNvPr id="4" name="Espace réservé du numéro de diapositive 3">
            <a:extLst>
              <a:ext uri="{FF2B5EF4-FFF2-40B4-BE49-F238E27FC236}">
                <a16:creationId xmlns:a16="http://schemas.microsoft.com/office/drawing/2014/main" id="{CF1BFAEA-BA18-BEED-3BED-1F80C64288E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8</a:t>
            </a:fld>
            <a:endParaRPr lang="fr-FR"/>
          </a:p>
        </p:txBody>
      </p:sp>
      <p:sp>
        <p:nvSpPr>
          <p:cNvPr id="14" name="Google Shape;547;p15">
            <a:extLst>
              <a:ext uri="{FF2B5EF4-FFF2-40B4-BE49-F238E27FC236}">
                <a16:creationId xmlns:a16="http://schemas.microsoft.com/office/drawing/2014/main" id="{EDB0F7F0-8EE3-E145-33EB-EA1B8F283190}"/>
              </a:ext>
            </a:extLst>
          </p:cNvPr>
          <p:cNvSpPr txBox="1">
            <a:spLocks/>
          </p:cNvSpPr>
          <p:nvPr/>
        </p:nvSpPr>
        <p:spPr>
          <a:xfrm>
            <a:off x="0" y="-579900"/>
            <a:ext cx="5301600" cy="1159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1"/>
              </a:buClr>
              <a:buSzPts val="3700"/>
            </a:pPr>
            <a:r>
              <a:rPr lang="fr-FR" sz="2800" dirty="0" err="1">
                <a:solidFill>
                  <a:schemeClr val="accent1"/>
                </a:solidFill>
                <a:latin typeface="Sniglet"/>
                <a:sym typeface="Sniglet"/>
              </a:rPr>
              <a:t>Statsdata</a:t>
            </a:r>
            <a:r>
              <a:rPr lang="fr-FR" sz="2800" dirty="0">
                <a:solidFill>
                  <a:schemeClr val="accent1"/>
                </a:solidFill>
                <a:latin typeface="Sniglet"/>
                <a:sym typeface="Sniglet"/>
              </a:rPr>
              <a:t> </a:t>
            </a:r>
            <a:r>
              <a:rPr lang="fr-FR" sz="2800" dirty="0" err="1">
                <a:solidFill>
                  <a:schemeClr val="accent1"/>
                </a:solidFill>
                <a:latin typeface="Sniglet"/>
                <a:sym typeface="Sniglet"/>
              </a:rPr>
              <a:t>dataset</a:t>
            </a:r>
            <a:endParaRPr lang="fr-FR" sz="2800" dirty="0">
              <a:solidFill>
                <a:schemeClr val="accent1"/>
              </a:solidFill>
              <a:latin typeface="Sniglet"/>
              <a:sym typeface="Sniglet"/>
            </a:endParaRPr>
          </a:p>
        </p:txBody>
      </p:sp>
      <p:pic>
        <p:nvPicPr>
          <p:cNvPr id="5" name="Image 4" descr="Une image contenant table&#10;&#10;Description générée automatiquement">
            <a:extLst>
              <a:ext uri="{FF2B5EF4-FFF2-40B4-BE49-F238E27FC236}">
                <a16:creationId xmlns:a16="http://schemas.microsoft.com/office/drawing/2014/main" id="{6937A06C-7B40-4E84-EA00-F74ECC706BAF}"/>
              </a:ext>
            </a:extLst>
          </p:cNvPr>
          <p:cNvPicPr>
            <a:picLocks noChangeAspect="1"/>
          </p:cNvPicPr>
          <p:nvPr/>
        </p:nvPicPr>
        <p:blipFill>
          <a:blip r:embed="rId2"/>
          <a:stretch>
            <a:fillRect/>
          </a:stretch>
        </p:blipFill>
        <p:spPr>
          <a:xfrm>
            <a:off x="90619" y="1307588"/>
            <a:ext cx="4547676" cy="2786759"/>
          </a:xfrm>
          <a:prstGeom prst="rect">
            <a:avLst/>
          </a:prstGeom>
        </p:spPr>
      </p:pic>
      <p:pic>
        <p:nvPicPr>
          <p:cNvPr id="8" name="Image 7" descr="Une image contenant texte, climatiseur, reçu&#10;&#10;Description générée automatiquement">
            <a:extLst>
              <a:ext uri="{FF2B5EF4-FFF2-40B4-BE49-F238E27FC236}">
                <a16:creationId xmlns:a16="http://schemas.microsoft.com/office/drawing/2014/main" id="{56E21E82-1EF7-A3E5-3867-D2CADFF1AC0F}"/>
              </a:ext>
            </a:extLst>
          </p:cNvPr>
          <p:cNvPicPr>
            <a:picLocks noChangeAspect="1"/>
          </p:cNvPicPr>
          <p:nvPr/>
        </p:nvPicPr>
        <p:blipFill>
          <a:blip r:embed="rId3"/>
          <a:stretch>
            <a:fillRect/>
          </a:stretch>
        </p:blipFill>
        <p:spPr>
          <a:xfrm>
            <a:off x="4912416" y="1464631"/>
            <a:ext cx="3958071" cy="2684485"/>
          </a:xfrm>
          <a:prstGeom prst="rect">
            <a:avLst/>
          </a:prstGeom>
        </p:spPr>
      </p:pic>
      <p:sp>
        <p:nvSpPr>
          <p:cNvPr id="15" name="Espace réservé du texte 2">
            <a:extLst>
              <a:ext uri="{FF2B5EF4-FFF2-40B4-BE49-F238E27FC236}">
                <a16:creationId xmlns:a16="http://schemas.microsoft.com/office/drawing/2014/main" id="{DE8E2B06-4910-591C-6AC7-CBC34BF06CF3}"/>
              </a:ext>
            </a:extLst>
          </p:cNvPr>
          <p:cNvSpPr txBox="1">
            <a:spLocks/>
          </p:cNvSpPr>
          <p:nvPr/>
        </p:nvSpPr>
        <p:spPr>
          <a:xfrm>
            <a:off x="5336560" y="999681"/>
            <a:ext cx="3109781" cy="15792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marL="69850" indent="0">
              <a:buFont typeface="Dosis"/>
              <a:buNone/>
            </a:pPr>
            <a:r>
              <a:rPr lang="fr-FR" sz="1400" b="1" dirty="0"/>
              <a:t>ZOOM sur les années de 2006 à 2030 :</a:t>
            </a:r>
            <a:endParaRPr lang="fr-FR" sz="1400" dirty="0"/>
          </a:p>
          <a:p>
            <a:pPr marL="69850" indent="0">
              <a:buFont typeface="Dosis"/>
              <a:buNone/>
            </a:pPr>
            <a:endParaRPr lang="fr-FR" dirty="0"/>
          </a:p>
        </p:txBody>
      </p:sp>
      <p:pic>
        <p:nvPicPr>
          <p:cNvPr id="11" name="Image 10">
            <a:extLst>
              <a:ext uri="{FF2B5EF4-FFF2-40B4-BE49-F238E27FC236}">
                <a16:creationId xmlns:a16="http://schemas.microsoft.com/office/drawing/2014/main" id="{F62F3DDA-8AF8-0EC9-1965-034386E255CF}"/>
              </a:ext>
            </a:extLst>
          </p:cNvPr>
          <p:cNvPicPr>
            <a:picLocks noChangeAspect="1"/>
          </p:cNvPicPr>
          <p:nvPr/>
        </p:nvPicPr>
        <p:blipFill rotWithShape="1">
          <a:blip r:embed="rId4"/>
          <a:srcRect t="64987"/>
          <a:stretch/>
        </p:blipFill>
        <p:spPr>
          <a:xfrm>
            <a:off x="4703524" y="4209892"/>
            <a:ext cx="4242732" cy="933608"/>
          </a:xfrm>
          <a:prstGeom prst="rect">
            <a:avLst/>
          </a:prstGeom>
        </p:spPr>
      </p:pic>
    </p:spTree>
    <p:extLst>
      <p:ext uri="{BB962C8B-B14F-4D97-AF65-F5344CB8AC3E}">
        <p14:creationId xmlns:p14="http://schemas.microsoft.com/office/powerpoint/2010/main" val="98753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2D5FB2F-8C94-8756-DB34-3DC3D2F9A3E8}"/>
              </a:ext>
            </a:extLst>
          </p:cNvPr>
          <p:cNvSpPr>
            <a:spLocks noGrp="1"/>
          </p:cNvSpPr>
          <p:nvPr>
            <p:ph type="body" idx="1"/>
          </p:nvPr>
        </p:nvSpPr>
        <p:spPr>
          <a:xfrm>
            <a:off x="3278459" y="554614"/>
            <a:ext cx="3791414" cy="3359464"/>
          </a:xfrm>
        </p:spPr>
        <p:txBody>
          <a:bodyPr/>
          <a:lstStyle/>
          <a:p>
            <a:pPr marL="69850" indent="0">
              <a:buNone/>
            </a:pPr>
            <a:r>
              <a:rPr lang="fr-FR" sz="1400" b="1" dirty="0">
                <a:sym typeface="Arial"/>
              </a:rPr>
              <a:t>2) </a:t>
            </a:r>
            <a:r>
              <a:rPr lang="fr-FR" sz="1400" dirty="0"/>
              <a:t>On remarque une </a:t>
            </a:r>
            <a:r>
              <a:rPr lang="fr-FR" sz="1400" b="1" dirty="0"/>
              <a:t>anomalie</a:t>
            </a:r>
            <a:r>
              <a:rPr lang="fr-FR" sz="1400" dirty="0"/>
              <a:t> dans le </a:t>
            </a:r>
            <a:r>
              <a:rPr lang="fr-FR" sz="1400" dirty="0" err="1"/>
              <a:t>dataset</a:t>
            </a:r>
            <a:r>
              <a:rPr lang="fr-FR" sz="1400" dirty="0"/>
              <a:t>, certains pays n’ont pas de région (qui sont </a:t>
            </a:r>
            <a:r>
              <a:rPr lang="fr-FR" sz="1400" dirty="0" err="1"/>
              <a:t>eux-même</a:t>
            </a:r>
            <a:r>
              <a:rPr lang="fr-FR" sz="1400" dirty="0"/>
              <a:t> des régions ou groupe de pays)</a:t>
            </a:r>
          </a:p>
          <a:p>
            <a:pPr marL="69850" indent="0">
              <a:buNone/>
            </a:pPr>
            <a:endParaRPr lang="fr-FR" sz="1400" dirty="0"/>
          </a:p>
          <a:p>
            <a:pPr marL="69850" indent="0">
              <a:buNone/>
            </a:pPr>
            <a:r>
              <a:rPr lang="fr-FR" sz="1400" dirty="0"/>
              <a:t>On ne prendra donc pas en compte cette liste et on supprime ces régions de la colonne « Country ». </a:t>
            </a:r>
          </a:p>
          <a:p>
            <a:pPr marL="69850" indent="0">
              <a:buNone/>
            </a:pPr>
            <a:endParaRPr lang="fr-FR" sz="1400" dirty="0"/>
          </a:p>
          <a:p>
            <a:pPr marL="69850" indent="0">
              <a:buNone/>
            </a:pPr>
            <a:r>
              <a:rPr lang="fr-FR" sz="1400" dirty="0"/>
              <a:t>Ils ne seront donc pas pris en compte dans notre </a:t>
            </a:r>
            <a:r>
              <a:rPr lang="fr-FR" sz="1400" dirty="0" err="1"/>
              <a:t>scoring</a:t>
            </a:r>
            <a:r>
              <a:rPr lang="fr-FR" sz="1400" dirty="0"/>
              <a:t> final.</a:t>
            </a:r>
          </a:p>
          <a:p>
            <a:pPr marL="69850" indent="0">
              <a:buNone/>
            </a:pPr>
            <a:endParaRPr lang="fr-FR" sz="1400" dirty="0"/>
          </a:p>
          <a:p>
            <a:pPr marL="69850" indent="0">
              <a:buNone/>
            </a:pPr>
            <a:r>
              <a:rPr lang="fr-FR" sz="1400" dirty="0"/>
              <a:t>Notre étude passe de 242 pays à 215 pays.</a:t>
            </a:r>
          </a:p>
          <a:p>
            <a:pPr marL="69850" indent="0">
              <a:buNone/>
            </a:pPr>
            <a:endParaRPr lang="fr-FR" sz="1400" dirty="0"/>
          </a:p>
          <a:p>
            <a:pPr marL="69850" indent="0">
              <a:buNone/>
            </a:pPr>
            <a:endParaRPr lang="fr-FR" sz="1400" dirty="0"/>
          </a:p>
          <a:p>
            <a:endParaRPr lang="fr-FR" dirty="0"/>
          </a:p>
        </p:txBody>
      </p:sp>
      <p:sp>
        <p:nvSpPr>
          <p:cNvPr id="4" name="Espace réservé du numéro de diapositive 3">
            <a:extLst>
              <a:ext uri="{FF2B5EF4-FFF2-40B4-BE49-F238E27FC236}">
                <a16:creationId xmlns:a16="http://schemas.microsoft.com/office/drawing/2014/main" id="{CF1BFAEA-BA18-BEED-3BED-1F80C64288E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9</a:t>
            </a:fld>
            <a:endParaRPr lang="fr-FR"/>
          </a:p>
        </p:txBody>
      </p:sp>
      <p:pic>
        <p:nvPicPr>
          <p:cNvPr id="6" name="Image 5" descr="Une image contenant table&#10;&#10;Description générée automatiquement">
            <a:extLst>
              <a:ext uri="{FF2B5EF4-FFF2-40B4-BE49-F238E27FC236}">
                <a16:creationId xmlns:a16="http://schemas.microsoft.com/office/drawing/2014/main" id="{C07B272C-1E74-8C7C-D981-C582050781E7}"/>
              </a:ext>
            </a:extLst>
          </p:cNvPr>
          <p:cNvPicPr>
            <a:picLocks noChangeAspect="1"/>
          </p:cNvPicPr>
          <p:nvPr/>
        </p:nvPicPr>
        <p:blipFill>
          <a:blip r:embed="rId2"/>
          <a:stretch>
            <a:fillRect/>
          </a:stretch>
        </p:blipFill>
        <p:spPr>
          <a:xfrm>
            <a:off x="164193" y="651418"/>
            <a:ext cx="2950074" cy="3840663"/>
          </a:xfrm>
          <a:prstGeom prst="rect">
            <a:avLst/>
          </a:prstGeom>
        </p:spPr>
      </p:pic>
      <p:sp>
        <p:nvSpPr>
          <p:cNvPr id="14" name="Google Shape;547;p15">
            <a:extLst>
              <a:ext uri="{FF2B5EF4-FFF2-40B4-BE49-F238E27FC236}">
                <a16:creationId xmlns:a16="http://schemas.microsoft.com/office/drawing/2014/main" id="{EDB0F7F0-8EE3-E145-33EB-EA1B8F283190}"/>
              </a:ext>
            </a:extLst>
          </p:cNvPr>
          <p:cNvSpPr txBox="1">
            <a:spLocks/>
          </p:cNvSpPr>
          <p:nvPr/>
        </p:nvSpPr>
        <p:spPr>
          <a:xfrm>
            <a:off x="0" y="-579900"/>
            <a:ext cx="5301600" cy="1159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1"/>
              </a:buClr>
              <a:buSzPts val="3700"/>
            </a:pPr>
            <a:r>
              <a:rPr lang="fr-FR" sz="2800" dirty="0" err="1">
                <a:solidFill>
                  <a:schemeClr val="accent1"/>
                </a:solidFill>
                <a:latin typeface="Sniglet"/>
                <a:sym typeface="Sniglet"/>
              </a:rPr>
              <a:t>Statsdata</a:t>
            </a:r>
            <a:r>
              <a:rPr lang="fr-FR" sz="2800" dirty="0">
                <a:solidFill>
                  <a:schemeClr val="accent1"/>
                </a:solidFill>
                <a:latin typeface="Sniglet"/>
                <a:sym typeface="Sniglet"/>
              </a:rPr>
              <a:t> </a:t>
            </a:r>
            <a:r>
              <a:rPr lang="fr-FR" sz="2800" dirty="0" err="1">
                <a:solidFill>
                  <a:schemeClr val="accent1"/>
                </a:solidFill>
                <a:latin typeface="Sniglet"/>
                <a:sym typeface="Sniglet"/>
              </a:rPr>
              <a:t>dataset</a:t>
            </a:r>
            <a:endParaRPr lang="fr-FR" sz="2800" dirty="0">
              <a:solidFill>
                <a:schemeClr val="accent1"/>
              </a:solidFill>
              <a:latin typeface="Sniglet"/>
              <a:sym typeface="Sniglet"/>
            </a:endParaRPr>
          </a:p>
        </p:txBody>
      </p:sp>
    </p:spTree>
    <p:extLst>
      <p:ext uri="{BB962C8B-B14F-4D97-AF65-F5344CB8AC3E}">
        <p14:creationId xmlns:p14="http://schemas.microsoft.com/office/powerpoint/2010/main" val="1335728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4" y="225025"/>
            <a:ext cx="6529953" cy="857400"/>
          </a:xfrm>
        </p:spPr>
        <p:txBody>
          <a:bodyPr/>
          <a:lstStyle/>
          <a:p>
            <a:pPr marL="285750" indent="-285750">
              <a:buFont typeface="Wingdings" pitchFamily="2" charset="2"/>
              <a:buChar char="q"/>
            </a:pPr>
            <a:r>
              <a:rPr lang="fr-FR" dirty="0"/>
              <a:t>Démarche dans le choix des indicateurs</a:t>
            </a:r>
            <a:br>
              <a:rPr lang="fr-FR" b="1" dirty="0"/>
            </a:br>
            <a:endParaRPr lang="fr-FR" dirty="0"/>
          </a:p>
        </p:txBody>
      </p:sp>
      <p:sp>
        <p:nvSpPr>
          <p:cNvPr id="3" name="Espace réservé du texte 2">
            <a:extLst>
              <a:ext uri="{FF2B5EF4-FFF2-40B4-BE49-F238E27FC236}">
                <a16:creationId xmlns:a16="http://schemas.microsoft.com/office/drawing/2014/main" id="{F095F0B9-3427-3054-0121-9E8C450338C4}"/>
              </a:ext>
            </a:extLst>
          </p:cNvPr>
          <p:cNvSpPr>
            <a:spLocks noGrp="1"/>
          </p:cNvSpPr>
          <p:nvPr>
            <p:ph type="body" idx="1"/>
          </p:nvPr>
        </p:nvSpPr>
        <p:spPr>
          <a:xfrm>
            <a:off x="747924" y="997783"/>
            <a:ext cx="6140400" cy="857400"/>
          </a:xfrm>
        </p:spPr>
        <p:txBody>
          <a:bodyPr/>
          <a:lstStyle/>
          <a:p>
            <a:pPr marL="0" indent="0">
              <a:buNone/>
            </a:pPr>
            <a:r>
              <a:rPr lang="fr-FR" sz="1400" dirty="0"/>
              <a:t>Afin de choisir les indicateurs pertinents parmi les 3665 indicateurs disponibles, on fait un filtre par mots-clés afin de trouver ceux qui répondent à notre problématique d’expansion à l’international pour notre start-up de formations en lignes pour un niveau lycéen/universitaire :</a:t>
            </a:r>
          </a:p>
          <a:p>
            <a:pPr>
              <a:buFont typeface="Courier New" panose="02070309020205020404" pitchFamily="49" charset="0"/>
              <a:buChar char="o"/>
            </a:pPr>
            <a:endParaRPr lang="fr-FR" sz="1400" b="1" dirty="0"/>
          </a:p>
          <a:p>
            <a:pPr>
              <a:buFont typeface="Courier New" panose="02070309020205020404" pitchFamily="49" charset="0"/>
              <a:buChar char="o"/>
            </a:pPr>
            <a:endParaRPr lang="fr-FR" sz="1400" b="1" dirty="0"/>
          </a:p>
          <a:p>
            <a:endParaRPr lang="fr-FR" sz="1100"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10</a:t>
            </a:fld>
            <a:endParaRPr lang="fr-FR"/>
          </a:p>
        </p:txBody>
      </p:sp>
      <p:sp>
        <p:nvSpPr>
          <p:cNvPr id="8" name="Espace réservé du texte 2">
            <a:extLst>
              <a:ext uri="{FF2B5EF4-FFF2-40B4-BE49-F238E27FC236}">
                <a16:creationId xmlns:a16="http://schemas.microsoft.com/office/drawing/2014/main" id="{F7ECA166-6439-C83B-09A2-2E06E3640208}"/>
              </a:ext>
            </a:extLst>
          </p:cNvPr>
          <p:cNvSpPr txBox="1">
            <a:spLocks/>
          </p:cNvSpPr>
          <p:nvPr/>
        </p:nvSpPr>
        <p:spPr>
          <a:xfrm>
            <a:off x="854489" y="653725"/>
            <a:ext cx="7435022" cy="5949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a:buFont typeface="Courier New" panose="02070309020205020404" pitchFamily="49" charset="0"/>
              <a:buChar char="o"/>
            </a:pPr>
            <a:r>
              <a:rPr lang="fr-FR" sz="1400" b="1" dirty="0"/>
              <a:t>Filtre du jeu de données sur les indicateurs :</a:t>
            </a:r>
          </a:p>
          <a:p>
            <a:endParaRPr lang="fr-FR" sz="1100" b="1" dirty="0"/>
          </a:p>
        </p:txBody>
      </p:sp>
      <p:pic>
        <p:nvPicPr>
          <p:cNvPr id="9" name="Image 8" descr="Une image contenant texte&#10;&#10;Description générée automatiquement">
            <a:extLst>
              <a:ext uri="{FF2B5EF4-FFF2-40B4-BE49-F238E27FC236}">
                <a16:creationId xmlns:a16="http://schemas.microsoft.com/office/drawing/2014/main" id="{70376E59-8CE1-8944-14D0-17BB4BFEEE5C}"/>
              </a:ext>
            </a:extLst>
          </p:cNvPr>
          <p:cNvPicPr>
            <a:picLocks noChangeAspect="1"/>
          </p:cNvPicPr>
          <p:nvPr/>
        </p:nvPicPr>
        <p:blipFill>
          <a:blip r:embed="rId2"/>
          <a:stretch>
            <a:fillRect/>
          </a:stretch>
        </p:blipFill>
        <p:spPr>
          <a:xfrm>
            <a:off x="364969" y="2204771"/>
            <a:ext cx="8479857" cy="2313479"/>
          </a:xfrm>
          <a:prstGeom prst="rect">
            <a:avLst/>
          </a:prstGeom>
        </p:spPr>
      </p:pic>
    </p:spTree>
    <p:extLst>
      <p:ext uri="{BB962C8B-B14F-4D97-AF65-F5344CB8AC3E}">
        <p14:creationId xmlns:p14="http://schemas.microsoft.com/office/powerpoint/2010/main" val="1599038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095F0B9-3427-3054-0121-9E8C450338C4}"/>
              </a:ext>
            </a:extLst>
          </p:cNvPr>
          <p:cNvSpPr>
            <a:spLocks noGrp="1"/>
          </p:cNvSpPr>
          <p:nvPr>
            <p:ph type="body" idx="1"/>
          </p:nvPr>
        </p:nvSpPr>
        <p:spPr>
          <a:xfrm>
            <a:off x="747924" y="1082425"/>
            <a:ext cx="6959162" cy="857400"/>
          </a:xfrm>
        </p:spPr>
        <p:txBody>
          <a:bodyPr/>
          <a:lstStyle/>
          <a:p>
            <a:pPr marL="69850" indent="0">
              <a:buNone/>
            </a:pPr>
            <a:r>
              <a:rPr lang="fr-FR" sz="1400" b="1" dirty="0"/>
              <a:t>- liste des indicateurs (3665 au total) :</a:t>
            </a:r>
            <a:r>
              <a:rPr lang="fr-FR" sz="1400" dirty="0"/>
              <a:t> </a:t>
            </a:r>
            <a:r>
              <a:rPr lang="fr-FR" sz="1400" dirty="0">
                <a:hlinkClick r:id="rId2"/>
              </a:rPr>
              <a:t>http://datatopics.worldbank.org/education/indicators</a:t>
            </a:r>
            <a:endParaRPr lang="fr-FR" sz="1400" dirty="0"/>
          </a:p>
          <a:p>
            <a:pPr marL="69850" indent="0">
              <a:buNone/>
            </a:pPr>
            <a:r>
              <a:rPr lang="fr-FR" sz="1400" dirty="0"/>
              <a:t>- Filtre avec les indicateurs pertinents sur le </a:t>
            </a:r>
            <a:r>
              <a:rPr lang="fr-FR" sz="1400" dirty="0" err="1"/>
              <a:t>dataframe</a:t>
            </a:r>
            <a:r>
              <a:rPr lang="fr-FR" sz="1400" dirty="0"/>
              <a:t> </a:t>
            </a:r>
            <a:r>
              <a:rPr lang="fr-FR" sz="1400" dirty="0" err="1"/>
              <a:t>Statsdata</a:t>
            </a:r>
            <a:r>
              <a:rPr lang="fr-FR" sz="1400" dirty="0"/>
              <a:t> :</a:t>
            </a:r>
          </a:p>
          <a:p>
            <a:pPr>
              <a:buFont typeface="Courier New" panose="02070309020205020404" pitchFamily="49" charset="0"/>
              <a:buChar char="o"/>
            </a:pPr>
            <a:endParaRPr lang="fr-FR" sz="1400" b="1" dirty="0"/>
          </a:p>
          <a:p>
            <a:pPr>
              <a:buFont typeface="Courier New" panose="02070309020205020404" pitchFamily="49" charset="0"/>
              <a:buChar char="o"/>
            </a:pPr>
            <a:endParaRPr lang="fr-FR" sz="1400" b="1" dirty="0"/>
          </a:p>
          <a:p>
            <a:endParaRPr lang="fr-FR" sz="1100"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11</a:t>
            </a:fld>
            <a:endParaRPr lang="fr-FR"/>
          </a:p>
        </p:txBody>
      </p:sp>
      <p:sp>
        <p:nvSpPr>
          <p:cNvPr id="8" name="Espace réservé du texte 2">
            <a:extLst>
              <a:ext uri="{FF2B5EF4-FFF2-40B4-BE49-F238E27FC236}">
                <a16:creationId xmlns:a16="http://schemas.microsoft.com/office/drawing/2014/main" id="{350145B0-FD52-E738-D3CF-D66DC8B764AE}"/>
              </a:ext>
            </a:extLst>
          </p:cNvPr>
          <p:cNvSpPr txBox="1">
            <a:spLocks/>
          </p:cNvSpPr>
          <p:nvPr/>
        </p:nvSpPr>
        <p:spPr>
          <a:xfrm>
            <a:off x="854489" y="543654"/>
            <a:ext cx="7435022" cy="5949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a:buFont typeface="Courier New" panose="02070309020205020404" pitchFamily="49" charset="0"/>
              <a:buChar char="o"/>
            </a:pPr>
            <a:r>
              <a:rPr lang="fr-FR" sz="1400" b="1" dirty="0"/>
              <a:t>Choix des indicateurs/variable </a:t>
            </a:r>
            <a:r>
              <a:rPr lang="fr-FR" sz="1400" b="1" dirty="0" err="1"/>
              <a:t>target</a:t>
            </a:r>
            <a:r>
              <a:rPr lang="fr-FR" sz="1400" b="1" dirty="0"/>
              <a:t> :</a:t>
            </a:r>
            <a:endParaRPr lang="fr-FR" sz="1100" b="1" dirty="0"/>
          </a:p>
        </p:txBody>
      </p:sp>
      <p:pic>
        <p:nvPicPr>
          <p:cNvPr id="6" name="Image 5" descr="Une image contenant table&#10;&#10;Description générée automatiquement">
            <a:extLst>
              <a:ext uri="{FF2B5EF4-FFF2-40B4-BE49-F238E27FC236}">
                <a16:creationId xmlns:a16="http://schemas.microsoft.com/office/drawing/2014/main" id="{B87A3D4C-2D3F-ACFE-2084-10D0D8EECD39}"/>
              </a:ext>
            </a:extLst>
          </p:cNvPr>
          <p:cNvPicPr>
            <a:picLocks noChangeAspect="1"/>
          </p:cNvPicPr>
          <p:nvPr/>
        </p:nvPicPr>
        <p:blipFill>
          <a:blip r:embed="rId3"/>
          <a:stretch>
            <a:fillRect/>
          </a:stretch>
        </p:blipFill>
        <p:spPr>
          <a:xfrm>
            <a:off x="1882337" y="1939825"/>
            <a:ext cx="4690335" cy="2358829"/>
          </a:xfrm>
          <a:prstGeom prst="rect">
            <a:avLst/>
          </a:prstGeom>
        </p:spPr>
      </p:pic>
    </p:spTree>
    <p:extLst>
      <p:ext uri="{BB962C8B-B14F-4D97-AF65-F5344CB8AC3E}">
        <p14:creationId xmlns:p14="http://schemas.microsoft.com/office/powerpoint/2010/main" val="2403692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EB4A44F-B6CD-D03B-1612-FF400951395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solidFill>
                  <a:schemeClr val="tx1">
                    <a:lumMod val="50000"/>
                  </a:schemeClr>
                </a:solidFill>
              </a:rPr>
              <a:t>12</a:t>
            </a:fld>
            <a:endParaRPr lang="fr-FR">
              <a:solidFill>
                <a:schemeClr val="tx1">
                  <a:lumMod val="50000"/>
                </a:schemeClr>
              </a:solidFill>
            </a:endParaRPr>
          </a:p>
        </p:txBody>
      </p:sp>
      <p:graphicFrame>
        <p:nvGraphicFramePr>
          <p:cNvPr id="7" name="Tableau 7">
            <a:extLst>
              <a:ext uri="{FF2B5EF4-FFF2-40B4-BE49-F238E27FC236}">
                <a16:creationId xmlns:a16="http://schemas.microsoft.com/office/drawing/2014/main" id="{E7190351-2377-03BA-1D60-7C58A133C84C}"/>
              </a:ext>
            </a:extLst>
          </p:cNvPr>
          <p:cNvGraphicFramePr>
            <a:graphicFrameLocks noGrp="1"/>
          </p:cNvGraphicFramePr>
          <p:nvPr>
            <p:extLst>
              <p:ext uri="{D42A27DB-BD31-4B8C-83A1-F6EECF244321}">
                <p14:modId xmlns:p14="http://schemas.microsoft.com/office/powerpoint/2010/main" val="3764863216"/>
              </p:ext>
            </p:extLst>
          </p:nvPr>
        </p:nvGraphicFramePr>
        <p:xfrm>
          <a:off x="90619" y="440872"/>
          <a:ext cx="8962762" cy="2194560"/>
        </p:xfrm>
        <a:graphic>
          <a:graphicData uri="http://schemas.openxmlformats.org/drawingml/2006/table">
            <a:tbl>
              <a:tblPr firstRow="1" bandRow="1">
                <a:tableStyleId>{91EBBBCC-DAD2-459C-BE2E-F6DE35CF9A28}</a:tableStyleId>
              </a:tblPr>
              <a:tblGrid>
                <a:gridCol w="4481381">
                  <a:extLst>
                    <a:ext uri="{9D8B030D-6E8A-4147-A177-3AD203B41FA5}">
                      <a16:colId xmlns:a16="http://schemas.microsoft.com/office/drawing/2014/main" val="3435027764"/>
                    </a:ext>
                  </a:extLst>
                </a:gridCol>
                <a:gridCol w="4481381">
                  <a:extLst>
                    <a:ext uri="{9D8B030D-6E8A-4147-A177-3AD203B41FA5}">
                      <a16:colId xmlns:a16="http://schemas.microsoft.com/office/drawing/2014/main" val="1893924215"/>
                    </a:ext>
                  </a:extLst>
                </a:gridCol>
              </a:tblGrid>
              <a:tr h="456074">
                <a:tc>
                  <a:txBody>
                    <a:bodyPr/>
                    <a:lstStyle/>
                    <a:p>
                      <a:r>
                        <a:rPr lang="fr-FR" sz="1000" b="1" u="none" strike="noStrike" cap="none" dirty="0">
                          <a:solidFill>
                            <a:schemeClr val="accent5">
                              <a:lumMod val="10000"/>
                            </a:schemeClr>
                          </a:solidFill>
                          <a:effectLst/>
                          <a:sym typeface="Arial"/>
                        </a:rPr>
                        <a:t>BAR.SEC.SCHL.1519.FE</a:t>
                      </a:r>
                      <a:endParaRPr lang="fr-FR" sz="1000" b="1" dirty="0">
                        <a:solidFill>
                          <a:schemeClr val="accent5">
                            <a:lumMod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u="none" strike="noStrike" cap="none" dirty="0" err="1">
                          <a:solidFill>
                            <a:srgbClr val="000000"/>
                          </a:solidFill>
                          <a:effectLst/>
                          <a:sym typeface="Arial"/>
                        </a:rPr>
                        <a:t>Average</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years</a:t>
                      </a:r>
                      <a:r>
                        <a:rPr lang="fr-FR" sz="1000" b="0" u="none" strike="noStrike" cap="none" dirty="0">
                          <a:solidFill>
                            <a:srgbClr val="000000"/>
                          </a:solidFill>
                          <a:effectLst/>
                          <a:sym typeface="Arial"/>
                        </a:rPr>
                        <a:t> of </a:t>
                      </a:r>
                      <a:r>
                        <a:rPr lang="fr-FR" sz="1000" b="0" u="none" strike="noStrike" cap="none" dirty="0" err="1">
                          <a:solidFill>
                            <a:srgbClr val="000000"/>
                          </a:solidFill>
                          <a:effectLst/>
                          <a:sym typeface="Arial"/>
                        </a:rPr>
                        <a:t>secondary</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schooling</a:t>
                      </a:r>
                      <a:r>
                        <a:rPr lang="fr-FR" sz="1000" b="0" u="none" strike="noStrike" cap="none" dirty="0">
                          <a:solidFill>
                            <a:srgbClr val="000000"/>
                          </a:solidFill>
                          <a:effectLst/>
                          <a:sym typeface="Arial"/>
                        </a:rPr>
                        <a:t>, 15-19, </a:t>
                      </a:r>
                      <a:r>
                        <a:rPr lang="fr-FR" sz="1000" b="0" u="none" strike="noStrike" cap="none" dirty="0" err="1">
                          <a:solidFill>
                            <a:srgbClr val="000000"/>
                          </a:solidFill>
                          <a:effectLst/>
                          <a:sym typeface="Arial"/>
                        </a:rPr>
                        <a:t>female</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is</a:t>
                      </a:r>
                      <a:r>
                        <a:rPr lang="fr-FR" sz="1000" b="0" u="none" strike="noStrike" cap="none" dirty="0">
                          <a:solidFill>
                            <a:srgbClr val="000000"/>
                          </a:solidFill>
                          <a:effectLst/>
                          <a:sym typeface="Arial"/>
                        </a:rPr>
                        <a:t> the </a:t>
                      </a:r>
                      <a:r>
                        <a:rPr lang="fr-FR" sz="1000" b="0" u="none" strike="noStrike" cap="none" dirty="0" err="1">
                          <a:solidFill>
                            <a:srgbClr val="000000"/>
                          </a:solidFill>
                          <a:effectLst/>
                          <a:sym typeface="Arial"/>
                        </a:rPr>
                        <a:t>average</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years</a:t>
                      </a:r>
                      <a:r>
                        <a:rPr lang="fr-FR" sz="1000" b="0" u="none" strike="noStrike" cap="none" dirty="0">
                          <a:solidFill>
                            <a:srgbClr val="000000"/>
                          </a:solidFill>
                          <a:effectLst/>
                          <a:sym typeface="Arial"/>
                        </a:rPr>
                        <a:t> of </a:t>
                      </a:r>
                      <a:r>
                        <a:rPr lang="fr-FR" sz="1000" b="0" u="none" strike="noStrike" cap="none" dirty="0" err="1">
                          <a:solidFill>
                            <a:srgbClr val="000000"/>
                          </a:solidFill>
                          <a:effectLst/>
                          <a:sym typeface="Arial"/>
                        </a:rPr>
                        <a:t>secondary</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education</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completed</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among</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females</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age</a:t>
                      </a:r>
                      <a:r>
                        <a:rPr lang="fr-FR" sz="1000" b="0" u="none" strike="noStrike" cap="none" dirty="0">
                          <a:solidFill>
                            <a:srgbClr val="000000"/>
                          </a:solidFill>
                          <a:effectLst/>
                          <a:sym typeface="Arial"/>
                        </a:rPr>
                        <a:t> 15-19.</a:t>
                      </a: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051335357"/>
                  </a:ext>
                </a:extLst>
              </a:tr>
              <a:tr h="4560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1" i="0" u="none" strike="noStrike" cap="none" dirty="0">
                          <a:solidFill>
                            <a:schemeClr val="accent5">
                              <a:lumMod val="10000"/>
                            </a:schemeClr>
                          </a:solidFill>
                          <a:effectLst/>
                          <a:latin typeface="+mn-lt"/>
                          <a:ea typeface="+mn-ea"/>
                          <a:cs typeface="+mn-cs"/>
                          <a:sym typeface="Arial"/>
                        </a:rPr>
                        <a:t>BAR.SEC.SCHL.2024.FE</a:t>
                      </a:r>
                      <a:endParaRPr lang="fr-FR" sz="1000" b="0" i="0" u="none" strike="noStrike" cap="none" dirty="0">
                        <a:solidFill>
                          <a:schemeClr val="accent5">
                            <a:lumMod val="10000"/>
                          </a:schemeClr>
                        </a:solidFill>
                        <a:effectLst/>
                        <a:latin typeface="+mn-lt"/>
                        <a:ea typeface="+mn-ea"/>
                        <a:cs typeface="+mn-cs"/>
                        <a:sym typeface="Arial"/>
                      </a:endParaRPr>
                    </a:p>
                    <a:p>
                      <a:endParaRPr lang="fr-FR" sz="1000" b="1" dirty="0">
                        <a:solidFill>
                          <a:schemeClr val="accent5">
                            <a:lumMod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err="1">
                          <a:solidFill>
                            <a:srgbClr val="000000"/>
                          </a:solidFill>
                          <a:effectLst/>
                          <a:latin typeface="+mn-lt"/>
                          <a:ea typeface="+mn-ea"/>
                          <a:cs typeface="+mn-cs"/>
                          <a:sym typeface="Arial"/>
                        </a:rPr>
                        <a:t>Average</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years</a:t>
                      </a:r>
                      <a:r>
                        <a:rPr lang="fr-FR" sz="1000" b="0" i="0" u="none" strike="noStrike" cap="none" dirty="0">
                          <a:solidFill>
                            <a:srgbClr val="000000"/>
                          </a:solidFill>
                          <a:effectLst/>
                          <a:latin typeface="+mn-lt"/>
                          <a:ea typeface="+mn-ea"/>
                          <a:cs typeface="+mn-cs"/>
                          <a:sym typeface="Arial"/>
                        </a:rPr>
                        <a:t> of </a:t>
                      </a:r>
                      <a:r>
                        <a:rPr lang="fr-FR" sz="1000" b="0" i="0" u="none" strike="noStrike" cap="none" dirty="0" err="1">
                          <a:solidFill>
                            <a:srgbClr val="000000"/>
                          </a:solidFill>
                          <a:effectLst/>
                          <a:latin typeface="+mn-lt"/>
                          <a:ea typeface="+mn-ea"/>
                          <a:cs typeface="+mn-cs"/>
                          <a:sym typeface="Arial"/>
                        </a:rPr>
                        <a:t>secondary</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schooling</a:t>
                      </a:r>
                      <a:r>
                        <a:rPr lang="fr-FR" sz="1000" b="0" i="0" u="none" strike="noStrike" cap="none" dirty="0">
                          <a:solidFill>
                            <a:srgbClr val="000000"/>
                          </a:solidFill>
                          <a:effectLst/>
                          <a:latin typeface="+mn-lt"/>
                          <a:ea typeface="+mn-ea"/>
                          <a:cs typeface="+mn-cs"/>
                          <a:sym typeface="Arial"/>
                        </a:rPr>
                        <a:t>, 20-24, </a:t>
                      </a:r>
                      <a:r>
                        <a:rPr lang="fr-FR" sz="1000" b="0" i="0" u="none" strike="noStrike" cap="none" dirty="0" err="1">
                          <a:solidFill>
                            <a:srgbClr val="000000"/>
                          </a:solidFill>
                          <a:effectLst/>
                          <a:latin typeface="+mn-lt"/>
                          <a:ea typeface="+mn-ea"/>
                          <a:cs typeface="+mn-cs"/>
                          <a:sym typeface="Arial"/>
                        </a:rPr>
                        <a:t>female</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is</a:t>
                      </a:r>
                      <a:r>
                        <a:rPr lang="fr-FR" sz="1000" b="0" i="0" u="none" strike="noStrike" cap="none" dirty="0">
                          <a:solidFill>
                            <a:srgbClr val="000000"/>
                          </a:solidFill>
                          <a:effectLst/>
                          <a:latin typeface="+mn-lt"/>
                          <a:ea typeface="+mn-ea"/>
                          <a:cs typeface="+mn-cs"/>
                          <a:sym typeface="Arial"/>
                        </a:rPr>
                        <a:t> the </a:t>
                      </a:r>
                      <a:r>
                        <a:rPr lang="fr-FR" sz="1000" b="0" i="0" u="none" strike="noStrike" cap="none" dirty="0" err="1">
                          <a:solidFill>
                            <a:srgbClr val="000000"/>
                          </a:solidFill>
                          <a:effectLst/>
                          <a:latin typeface="+mn-lt"/>
                          <a:ea typeface="+mn-ea"/>
                          <a:cs typeface="+mn-cs"/>
                          <a:sym typeface="Arial"/>
                        </a:rPr>
                        <a:t>average</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years</a:t>
                      </a:r>
                      <a:r>
                        <a:rPr lang="fr-FR" sz="1000" b="0" i="0" u="none" strike="noStrike" cap="none" dirty="0">
                          <a:solidFill>
                            <a:srgbClr val="000000"/>
                          </a:solidFill>
                          <a:effectLst/>
                          <a:latin typeface="+mn-lt"/>
                          <a:ea typeface="+mn-ea"/>
                          <a:cs typeface="+mn-cs"/>
                          <a:sym typeface="Arial"/>
                        </a:rPr>
                        <a:t> of </a:t>
                      </a:r>
                      <a:r>
                        <a:rPr lang="fr-FR" sz="1000" b="0" i="0" u="none" strike="noStrike" cap="none" dirty="0" err="1">
                          <a:solidFill>
                            <a:srgbClr val="000000"/>
                          </a:solidFill>
                          <a:effectLst/>
                          <a:latin typeface="+mn-lt"/>
                          <a:ea typeface="+mn-ea"/>
                          <a:cs typeface="+mn-cs"/>
                          <a:sym typeface="Arial"/>
                        </a:rPr>
                        <a:t>secondary</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education</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completed</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among</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females</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age</a:t>
                      </a:r>
                      <a:r>
                        <a:rPr lang="fr-FR" sz="1000" b="0" i="0" u="none" strike="noStrike" cap="none" dirty="0">
                          <a:solidFill>
                            <a:srgbClr val="000000"/>
                          </a:solidFill>
                          <a:effectLst/>
                          <a:latin typeface="+mn-lt"/>
                          <a:ea typeface="+mn-ea"/>
                          <a:cs typeface="+mn-cs"/>
                          <a:sym typeface="Arial"/>
                        </a:rPr>
                        <a:t> 20-24.</a:t>
                      </a: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880467372"/>
                  </a:ext>
                </a:extLst>
              </a:tr>
              <a:tr h="456074">
                <a:tc>
                  <a:txBody>
                    <a:bodyPr/>
                    <a:lstStyle/>
                    <a:p>
                      <a:r>
                        <a:rPr lang="fr-FR" sz="1000" b="1" u="none" strike="noStrike" cap="none" dirty="0">
                          <a:solidFill>
                            <a:srgbClr val="000000"/>
                          </a:solidFill>
                          <a:effectLst/>
                          <a:sym typeface="Arial"/>
                        </a:rPr>
                        <a:t>BAR.SEC.CMPT.1519.ZS</a:t>
                      </a:r>
                      <a:endParaRPr lang="fr-FR" sz="1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u="none" strike="noStrike" cap="none" dirty="0">
                          <a:solidFill>
                            <a:srgbClr val="000000"/>
                          </a:solidFill>
                          <a:effectLst/>
                          <a:sym typeface="Arial"/>
                        </a:rPr>
                        <a:t>Percentage of population </a:t>
                      </a:r>
                      <a:r>
                        <a:rPr lang="fr-FR" sz="1000" b="0" u="none" strike="noStrike" cap="none" dirty="0" err="1">
                          <a:solidFill>
                            <a:srgbClr val="000000"/>
                          </a:solidFill>
                          <a:effectLst/>
                          <a:sym typeface="Arial"/>
                        </a:rPr>
                        <a:t>age</a:t>
                      </a:r>
                      <a:r>
                        <a:rPr lang="fr-FR" sz="1000" b="0" u="none" strike="noStrike" cap="none" dirty="0">
                          <a:solidFill>
                            <a:srgbClr val="000000"/>
                          </a:solidFill>
                          <a:effectLst/>
                          <a:sym typeface="Arial"/>
                        </a:rPr>
                        <a:t> 15-19 </a:t>
                      </a:r>
                      <a:r>
                        <a:rPr lang="fr-FR" sz="1000" b="0" u="none" strike="noStrike" cap="none" dirty="0" err="1">
                          <a:solidFill>
                            <a:srgbClr val="000000"/>
                          </a:solidFill>
                          <a:effectLst/>
                          <a:sym typeface="Arial"/>
                        </a:rPr>
                        <a:t>with</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secondary</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schooling</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Completed</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Secondary</a:t>
                      </a:r>
                      <a:endParaRPr lang="fr-FR" sz="1000" b="0" u="none" strike="noStrike" cap="none" dirty="0">
                        <a:solidFill>
                          <a:srgbClr val="000000"/>
                        </a:solidFill>
                        <a:effectLst/>
                        <a:sym typeface="Arial"/>
                      </a:endParaRP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748560569"/>
                  </a:ext>
                </a:extLst>
              </a:tr>
              <a:tr h="4560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1" u="none" strike="noStrike" cap="none" dirty="0">
                          <a:solidFill>
                            <a:srgbClr val="000000"/>
                          </a:solidFill>
                          <a:effectLst/>
                          <a:sym typeface="Arial"/>
                        </a:rPr>
                        <a:t>BAR.SEC.CMPT.2024.ZS</a:t>
                      </a:r>
                    </a:p>
                    <a:p>
                      <a:endParaRPr lang="fr-FR" sz="1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u="none" strike="noStrike" cap="none" dirty="0">
                          <a:solidFill>
                            <a:srgbClr val="000000"/>
                          </a:solidFill>
                          <a:effectLst/>
                          <a:sym typeface="Arial"/>
                        </a:rPr>
                        <a:t>Percentage of population </a:t>
                      </a:r>
                      <a:r>
                        <a:rPr lang="fr-FR" sz="1000" b="0" u="none" strike="noStrike" cap="none" dirty="0" err="1">
                          <a:solidFill>
                            <a:srgbClr val="000000"/>
                          </a:solidFill>
                          <a:effectLst/>
                          <a:sym typeface="Arial"/>
                        </a:rPr>
                        <a:t>age</a:t>
                      </a:r>
                      <a:r>
                        <a:rPr lang="fr-FR" sz="1000" b="0" u="none" strike="noStrike" cap="none" dirty="0">
                          <a:solidFill>
                            <a:srgbClr val="000000"/>
                          </a:solidFill>
                          <a:effectLst/>
                          <a:sym typeface="Arial"/>
                        </a:rPr>
                        <a:t> 20-24 </a:t>
                      </a:r>
                      <a:r>
                        <a:rPr lang="fr-FR" sz="1000" b="0" u="none" strike="noStrike" cap="none" dirty="0" err="1">
                          <a:solidFill>
                            <a:srgbClr val="000000"/>
                          </a:solidFill>
                          <a:effectLst/>
                          <a:sym typeface="Arial"/>
                        </a:rPr>
                        <a:t>with</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secondary</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schooling</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Completed</a:t>
                      </a:r>
                      <a:r>
                        <a:rPr lang="fr-FR" sz="1000" b="0" u="none" strike="noStrike" cap="none" dirty="0">
                          <a:solidFill>
                            <a:srgbClr val="000000"/>
                          </a:solidFill>
                          <a:effectLst/>
                          <a:sym typeface="Arial"/>
                        </a:rPr>
                        <a:t> </a:t>
                      </a:r>
                      <a:r>
                        <a:rPr lang="fr-FR" sz="1000" b="0" u="none" strike="noStrike" cap="none" dirty="0" err="1">
                          <a:solidFill>
                            <a:srgbClr val="000000"/>
                          </a:solidFill>
                          <a:effectLst/>
                          <a:sym typeface="Arial"/>
                        </a:rPr>
                        <a:t>Secondary</a:t>
                      </a:r>
                      <a:endParaRPr lang="fr-FR" sz="1000" b="0" u="none" strike="noStrike" cap="none" dirty="0">
                        <a:solidFill>
                          <a:srgbClr val="000000"/>
                        </a:solidFill>
                        <a:effectLst/>
                        <a:sym typeface="Arial"/>
                      </a:endParaRP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1352272"/>
                  </a:ext>
                </a:extLst>
              </a:tr>
            </a:tbl>
          </a:graphicData>
        </a:graphic>
      </p:graphicFrame>
      <p:graphicFrame>
        <p:nvGraphicFramePr>
          <p:cNvPr id="8" name="Tableau 7">
            <a:extLst>
              <a:ext uri="{FF2B5EF4-FFF2-40B4-BE49-F238E27FC236}">
                <a16:creationId xmlns:a16="http://schemas.microsoft.com/office/drawing/2014/main" id="{B92DCE04-8927-4472-18C7-6643F7AF6244}"/>
              </a:ext>
            </a:extLst>
          </p:cNvPr>
          <p:cNvGraphicFramePr>
            <a:graphicFrameLocks noGrp="1"/>
          </p:cNvGraphicFramePr>
          <p:nvPr>
            <p:extLst>
              <p:ext uri="{D42A27DB-BD31-4B8C-83A1-F6EECF244321}">
                <p14:modId xmlns:p14="http://schemas.microsoft.com/office/powerpoint/2010/main" val="2785545723"/>
              </p:ext>
            </p:extLst>
          </p:nvPr>
        </p:nvGraphicFramePr>
        <p:xfrm>
          <a:off x="90619" y="3519355"/>
          <a:ext cx="8962762" cy="1249680"/>
        </p:xfrm>
        <a:graphic>
          <a:graphicData uri="http://schemas.openxmlformats.org/drawingml/2006/table">
            <a:tbl>
              <a:tblPr firstRow="1" bandRow="1">
                <a:tableStyleId>{91EBBBCC-DAD2-459C-BE2E-F6DE35CF9A28}</a:tableStyleId>
              </a:tblPr>
              <a:tblGrid>
                <a:gridCol w="4481381">
                  <a:extLst>
                    <a:ext uri="{9D8B030D-6E8A-4147-A177-3AD203B41FA5}">
                      <a16:colId xmlns:a16="http://schemas.microsoft.com/office/drawing/2014/main" val="3435027764"/>
                    </a:ext>
                  </a:extLst>
                </a:gridCol>
                <a:gridCol w="4481381">
                  <a:extLst>
                    <a:ext uri="{9D8B030D-6E8A-4147-A177-3AD203B41FA5}">
                      <a16:colId xmlns:a16="http://schemas.microsoft.com/office/drawing/2014/main" val="1893924215"/>
                    </a:ext>
                  </a:extLst>
                </a:gridCol>
              </a:tblGrid>
              <a:tr h="456074">
                <a:tc>
                  <a:txBody>
                    <a:bodyPr/>
                    <a:lstStyle/>
                    <a:p>
                      <a:r>
                        <a:rPr lang="fr-FR" sz="1000" b="1" u="none" strike="noStrike" cap="none" dirty="0">
                          <a:solidFill>
                            <a:srgbClr val="000000"/>
                          </a:solidFill>
                          <a:effectLst/>
                          <a:sym typeface="Arial"/>
                        </a:rPr>
                        <a:t>IT.CMP.PCMP.P2</a:t>
                      </a:r>
                      <a:endParaRPr lang="fr-FR" sz="1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err="1">
                          <a:solidFill>
                            <a:srgbClr val="000000"/>
                          </a:solidFill>
                          <a:effectLst/>
                          <a:latin typeface="+mn-lt"/>
                          <a:ea typeface="+mn-ea"/>
                          <a:cs typeface="+mn-cs"/>
                          <a:sym typeface="Arial"/>
                        </a:rPr>
                        <a:t>Personal</a:t>
                      </a:r>
                      <a:r>
                        <a:rPr lang="fr-FR" sz="1000" b="0" i="0" u="none" strike="noStrike" cap="none" dirty="0">
                          <a:solidFill>
                            <a:srgbClr val="000000"/>
                          </a:solidFill>
                          <a:effectLst/>
                          <a:latin typeface="+mn-lt"/>
                          <a:ea typeface="+mn-ea"/>
                          <a:cs typeface="+mn-cs"/>
                          <a:sym typeface="Arial"/>
                        </a:rPr>
                        <a:t> computers are self-</a:t>
                      </a:r>
                      <a:r>
                        <a:rPr lang="fr-FR" sz="1000" b="0" i="0" u="none" strike="noStrike" cap="none" dirty="0" err="1">
                          <a:solidFill>
                            <a:srgbClr val="000000"/>
                          </a:solidFill>
                          <a:effectLst/>
                          <a:latin typeface="+mn-lt"/>
                          <a:ea typeface="+mn-ea"/>
                          <a:cs typeface="+mn-cs"/>
                          <a:sym typeface="Arial"/>
                        </a:rPr>
                        <a:t>contained</a:t>
                      </a:r>
                      <a:r>
                        <a:rPr lang="fr-FR" sz="1000" b="0" i="0" u="none" strike="noStrike" cap="none" dirty="0">
                          <a:solidFill>
                            <a:srgbClr val="000000"/>
                          </a:solidFill>
                          <a:effectLst/>
                          <a:latin typeface="+mn-lt"/>
                          <a:ea typeface="+mn-ea"/>
                          <a:cs typeface="+mn-cs"/>
                          <a:sym typeface="Arial"/>
                        </a:rPr>
                        <a:t> computers </a:t>
                      </a:r>
                      <a:r>
                        <a:rPr lang="fr-FR" sz="1000" b="0" i="0" u="none" strike="noStrike" cap="none" dirty="0" err="1">
                          <a:solidFill>
                            <a:srgbClr val="000000"/>
                          </a:solidFill>
                          <a:effectLst/>
                          <a:latin typeface="+mn-lt"/>
                          <a:ea typeface="+mn-ea"/>
                          <a:cs typeface="+mn-cs"/>
                          <a:sym typeface="Arial"/>
                        </a:rPr>
                        <a:t>designed</a:t>
                      </a:r>
                      <a:r>
                        <a:rPr lang="fr-FR" sz="1000" b="0" i="0" u="none" strike="noStrike" cap="none" dirty="0">
                          <a:solidFill>
                            <a:srgbClr val="000000"/>
                          </a:solidFill>
                          <a:effectLst/>
                          <a:latin typeface="+mn-lt"/>
                          <a:ea typeface="+mn-ea"/>
                          <a:cs typeface="+mn-cs"/>
                          <a:sym typeface="Arial"/>
                        </a:rPr>
                        <a:t> to </a:t>
                      </a:r>
                      <a:r>
                        <a:rPr lang="fr-FR" sz="1000" b="0" i="0" u="none" strike="noStrike" cap="none" dirty="0" err="1">
                          <a:solidFill>
                            <a:srgbClr val="000000"/>
                          </a:solidFill>
                          <a:effectLst/>
                          <a:latin typeface="+mn-lt"/>
                          <a:ea typeface="+mn-ea"/>
                          <a:cs typeface="+mn-cs"/>
                          <a:sym typeface="Arial"/>
                        </a:rPr>
                        <a:t>be</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used</a:t>
                      </a:r>
                      <a:r>
                        <a:rPr lang="fr-FR" sz="1000" b="0" i="0" u="none" strike="noStrike" cap="none" dirty="0">
                          <a:solidFill>
                            <a:srgbClr val="000000"/>
                          </a:solidFill>
                          <a:effectLst/>
                          <a:latin typeface="+mn-lt"/>
                          <a:ea typeface="+mn-ea"/>
                          <a:cs typeface="+mn-cs"/>
                          <a:sym typeface="Arial"/>
                        </a:rPr>
                        <a:t> by a single </a:t>
                      </a:r>
                      <a:r>
                        <a:rPr lang="fr-FR" sz="1000" b="0" i="0" u="none" strike="noStrike" cap="none" dirty="0" err="1">
                          <a:solidFill>
                            <a:srgbClr val="000000"/>
                          </a:solidFill>
                          <a:effectLst/>
                          <a:latin typeface="+mn-lt"/>
                          <a:ea typeface="+mn-ea"/>
                          <a:cs typeface="+mn-cs"/>
                          <a:sym typeface="Arial"/>
                        </a:rPr>
                        <a:t>individual</a:t>
                      </a:r>
                      <a:r>
                        <a:rPr lang="fr-FR" sz="1000" b="0" i="0" u="none" strike="noStrike" cap="none" dirty="0">
                          <a:solidFill>
                            <a:srgbClr val="000000"/>
                          </a:solidFill>
                          <a:effectLst/>
                          <a:latin typeface="+mn-lt"/>
                          <a:ea typeface="+mn-ea"/>
                          <a:cs typeface="+mn-cs"/>
                          <a:sym typeface="Arial"/>
                        </a:rPr>
                        <a:t>.</a:t>
                      </a: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4112364528"/>
                  </a:ext>
                </a:extLst>
              </a:tr>
              <a:tr h="582761">
                <a:tc>
                  <a:txBody>
                    <a:bodyPr/>
                    <a:lstStyle/>
                    <a:p>
                      <a:r>
                        <a:rPr lang="fr-FR" sz="1000" b="1" u="none" strike="noStrike" cap="none" dirty="0">
                          <a:solidFill>
                            <a:srgbClr val="000000"/>
                          </a:solidFill>
                          <a:effectLst/>
                          <a:sym typeface="Arial"/>
                        </a:rPr>
                        <a:t>IT.NET.USER.P2</a:t>
                      </a:r>
                      <a:endParaRPr lang="fr-FR" sz="1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a:solidFill>
                            <a:srgbClr val="000000"/>
                          </a:solidFill>
                          <a:effectLst/>
                          <a:latin typeface="+mn-lt"/>
                          <a:ea typeface="+mn-ea"/>
                          <a:cs typeface="+mn-cs"/>
                          <a:sym typeface="Arial"/>
                        </a:rPr>
                        <a:t>Internet </a:t>
                      </a:r>
                      <a:r>
                        <a:rPr lang="fr-FR" sz="1000" b="0" i="0" u="none" strike="noStrike" cap="none" dirty="0" err="1">
                          <a:solidFill>
                            <a:srgbClr val="000000"/>
                          </a:solidFill>
                          <a:effectLst/>
                          <a:latin typeface="+mn-lt"/>
                          <a:ea typeface="+mn-ea"/>
                          <a:cs typeface="+mn-cs"/>
                          <a:sym typeface="Arial"/>
                        </a:rPr>
                        <a:t>users</a:t>
                      </a:r>
                      <a:r>
                        <a:rPr lang="fr-FR" sz="1000" b="0" i="0" u="none" strike="noStrike" cap="none" dirty="0">
                          <a:solidFill>
                            <a:srgbClr val="000000"/>
                          </a:solidFill>
                          <a:effectLst/>
                          <a:latin typeface="+mn-lt"/>
                          <a:ea typeface="+mn-ea"/>
                          <a:cs typeface="+mn-cs"/>
                          <a:sym typeface="Arial"/>
                        </a:rPr>
                        <a:t> are </a:t>
                      </a:r>
                      <a:r>
                        <a:rPr lang="fr-FR" sz="1000" b="0" i="0" u="none" strike="noStrike" cap="none" dirty="0" err="1">
                          <a:solidFill>
                            <a:srgbClr val="000000"/>
                          </a:solidFill>
                          <a:effectLst/>
                          <a:latin typeface="+mn-lt"/>
                          <a:ea typeface="+mn-ea"/>
                          <a:cs typeface="+mn-cs"/>
                          <a:sym typeface="Arial"/>
                        </a:rPr>
                        <a:t>individuals</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who</a:t>
                      </a:r>
                      <a:r>
                        <a:rPr lang="fr-FR" sz="1000" b="0" i="0" u="none" strike="noStrike" cap="none" dirty="0">
                          <a:solidFill>
                            <a:srgbClr val="000000"/>
                          </a:solidFill>
                          <a:effectLst/>
                          <a:latin typeface="+mn-lt"/>
                          <a:ea typeface="+mn-ea"/>
                          <a:cs typeface="+mn-cs"/>
                          <a:sym typeface="Arial"/>
                        </a:rPr>
                        <a:t> have </a:t>
                      </a:r>
                      <a:r>
                        <a:rPr lang="fr-FR" sz="1000" b="0" i="0" u="none" strike="noStrike" cap="none" dirty="0" err="1">
                          <a:solidFill>
                            <a:srgbClr val="000000"/>
                          </a:solidFill>
                          <a:effectLst/>
                          <a:latin typeface="+mn-lt"/>
                          <a:ea typeface="+mn-ea"/>
                          <a:cs typeface="+mn-cs"/>
                          <a:sym typeface="Arial"/>
                        </a:rPr>
                        <a:t>used</a:t>
                      </a:r>
                      <a:r>
                        <a:rPr lang="fr-FR" sz="1000" b="0" i="0" u="none" strike="noStrike" cap="none" dirty="0">
                          <a:solidFill>
                            <a:srgbClr val="000000"/>
                          </a:solidFill>
                          <a:effectLst/>
                          <a:latin typeface="+mn-lt"/>
                          <a:ea typeface="+mn-ea"/>
                          <a:cs typeface="+mn-cs"/>
                          <a:sym typeface="Arial"/>
                        </a:rPr>
                        <a:t> the Internet (</a:t>
                      </a:r>
                      <a:r>
                        <a:rPr lang="fr-FR" sz="1000" b="0" i="0" u="none" strike="noStrike" cap="none" dirty="0" err="1">
                          <a:solidFill>
                            <a:srgbClr val="000000"/>
                          </a:solidFill>
                          <a:effectLst/>
                          <a:latin typeface="+mn-lt"/>
                          <a:ea typeface="+mn-ea"/>
                          <a:cs typeface="+mn-cs"/>
                          <a:sym typeface="Arial"/>
                        </a:rPr>
                        <a:t>from</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any</a:t>
                      </a:r>
                      <a:r>
                        <a:rPr lang="fr-FR" sz="1000" b="0" i="0" u="none" strike="noStrike" cap="none" dirty="0">
                          <a:solidFill>
                            <a:srgbClr val="000000"/>
                          </a:solidFill>
                          <a:effectLst/>
                          <a:latin typeface="+mn-lt"/>
                          <a:ea typeface="+mn-ea"/>
                          <a:cs typeface="+mn-cs"/>
                          <a:sym typeface="Arial"/>
                        </a:rPr>
                        <a:t> location) in the last 3 </a:t>
                      </a:r>
                      <a:r>
                        <a:rPr lang="fr-FR" sz="1000" b="0" i="0" u="none" strike="noStrike" cap="none" dirty="0" err="1">
                          <a:solidFill>
                            <a:srgbClr val="000000"/>
                          </a:solidFill>
                          <a:effectLst/>
                          <a:latin typeface="+mn-lt"/>
                          <a:ea typeface="+mn-ea"/>
                          <a:cs typeface="+mn-cs"/>
                          <a:sym typeface="Arial"/>
                        </a:rPr>
                        <a:t>months</a:t>
                      </a:r>
                      <a:r>
                        <a:rPr lang="fr-FR" sz="1000" b="0" i="0" u="none" strike="noStrike" cap="none" dirty="0">
                          <a:solidFill>
                            <a:srgbClr val="000000"/>
                          </a:solidFill>
                          <a:effectLst/>
                          <a:latin typeface="+mn-lt"/>
                          <a:ea typeface="+mn-ea"/>
                          <a:cs typeface="+mn-cs"/>
                          <a:sym typeface="Arial"/>
                        </a:rPr>
                        <a:t>. The Internet can </a:t>
                      </a:r>
                      <a:r>
                        <a:rPr lang="fr-FR" sz="1000" b="0" i="0" u="none" strike="noStrike" cap="none" dirty="0" err="1">
                          <a:solidFill>
                            <a:srgbClr val="000000"/>
                          </a:solidFill>
                          <a:effectLst/>
                          <a:latin typeface="+mn-lt"/>
                          <a:ea typeface="+mn-ea"/>
                          <a:cs typeface="+mn-cs"/>
                          <a:sym typeface="Arial"/>
                        </a:rPr>
                        <a:t>be</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used</a:t>
                      </a:r>
                      <a:r>
                        <a:rPr lang="fr-FR" sz="1000" b="0" i="0" u="none" strike="noStrike" cap="none" dirty="0">
                          <a:solidFill>
                            <a:srgbClr val="000000"/>
                          </a:solidFill>
                          <a:effectLst/>
                          <a:latin typeface="+mn-lt"/>
                          <a:ea typeface="+mn-ea"/>
                          <a:cs typeface="+mn-cs"/>
                          <a:sym typeface="Arial"/>
                        </a:rPr>
                        <a:t> via a computer, mobile phone, </a:t>
                      </a:r>
                      <a:r>
                        <a:rPr lang="fr-FR" sz="1000" b="0" i="0" u="none" strike="noStrike" cap="none" dirty="0" err="1">
                          <a:solidFill>
                            <a:srgbClr val="000000"/>
                          </a:solidFill>
                          <a:effectLst/>
                          <a:latin typeface="+mn-lt"/>
                          <a:ea typeface="+mn-ea"/>
                          <a:cs typeface="+mn-cs"/>
                          <a:sym typeface="Arial"/>
                        </a:rPr>
                        <a:t>personal</a:t>
                      </a:r>
                      <a:r>
                        <a:rPr lang="fr-FR" sz="1000" b="0" i="0" u="none" strike="noStrike" cap="none" dirty="0">
                          <a:solidFill>
                            <a:srgbClr val="000000"/>
                          </a:solidFill>
                          <a:effectLst/>
                          <a:latin typeface="+mn-lt"/>
                          <a:ea typeface="+mn-ea"/>
                          <a:cs typeface="+mn-cs"/>
                          <a:sym typeface="Arial"/>
                        </a:rPr>
                        <a:t> digital assistant, </a:t>
                      </a:r>
                      <a:r>
                        <a:rPr lang="fr-FR" sz="1000" b="0" i="0" u="none" strike="noStrike" cap="none" dirty="0" err="1">
                          <a:solidFill>
                            <a:srgbClr val="000000"/>
                          </a:solidFill>
                          <a:effectLst/>
                          <a:latin typeface="+mn-lt"/>
                          <a:ea typeface="+mn-ea"/>
                          <a:cs typeface="+mn-cs"/>
                          <a:sym typeface="Arial"/>
                        </a:rPr>
                        <a:t>games</a:t>
                      </a:r>
                      <a:r>
                        <a:rPr lang="fr-FR" sz="1000" b="0" i="0" u="none" strike="noStrike" cap="none" dirty="0">
                          <a:solidFill>
                            <a:srgbClr val="000000"/>
                          </a:solidFill>
                          <a:effectLst/>
                          <a:latin typeface="+mn-lt"/>
                          <a:ea typeface="+mn-ea"/>
                          <a:cs typeface="+mn-cs"/>
                          <a:sym typeface="Arial"/>
                        </a:rPr>
                        <a:t> machine, digital TV etc.</a:t>
                      </a: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557991584"/>
                  </a:ext>
                </a:extLst>
              </a:tr>
            </a:tbl>
          </a:graphicData>
        </a:graphic>
      </p:graphicFrame>
      <p:sp>
        <p:nvSpPr>
          <p:cNvPr id="9" name="ZoneTexte 8">
            <a:extLst>
              <a:ext uri="{FF2B5EF4-FFF2-40B4-BE49-F238E27FC236}">
                <a16:creationId xmlns:a16="http://schemas.microsoft.com/office/drawing/2014/main" id="{0BDEC4F6-3321-C275-87EE-E9E7AAC05D02}"/>
              </a:ext>
            </a:extLst>
          </p:cNvPr>
          <p:cNvSpPr txBox="1"/>
          <p:nvPr/>
        </p:nvSpPr>
        <p:spPr>
          <a:xfrm>
            <a:off x="2544153" y="-1089"/>
            <a:ext cx="3506993" cy="369332"/>
          </a:xfrm>
          <a:prstGeom prst="rect">
            <a:avLst/>
          </a:prstGeom>
          <a:noFill/>
        </p:spPr>
        <p:txBody>
          <a:bodyPr wrap="square" rtlCol="0">
            <a:spAutoFit/>
          </a:bodyPr>
          <a:lstStyle/>
          <a:p>
            <a:pPr algn="ctr"/>
            <a:r>
              <a:rPr lang="fr-FR" sz="1800" b="1" dirty="0" err="1">
                <a:solidFill>
                  <a:schemeClr val="dk1"/>
                </a:solidFill>
                <a:latin typeface="Dosis" pitchFamily="2" charset="77"/>
                <a:sym typeface="Dosis"/>
              </a:rPr>
              <a:t>Education</a:t>
            </a:r>
            <a:r>
              <a:rPr lang="fr-FR" sz="1800" b="1" dirty="0" err="1">
                <a:latin typeface="Dosis" pitchFamily="2" charset="77"/>
              </a:rPr>
              <a:t>al</a:t>
            </a:r>
            <a:endParaRPr lang="fr-FR" sz="1800" b="1" dirty="0">
              <a:latin typeface="Dosis" pitchFamily="2" charset="77"/>
            </a:endParaRPr>
          </a:p>
        </p:txBody>
      </p:sp>
      <p:sp>
        <p:nvSpPr>
          <p:cNvPr id="10" name="ZoneTexte 9">
            <a:extLst>
              <a:ext uri="{FF2B5EF4-FFF2-40B4-BE49-F238E27FC236}">
                <a16:creationId xmlns:a16="http://schemas.microsoft.com/office/drawing/2014/main" id="{B06F137A-B8CD-7F41-CAC4-BC584EB0B8CD}"/>
              </a:ext>
            </a:extLst>
          </p:cNvPr>
          <p:cNvSpPr txBox="1"/>
          <p:nvPr/>
        </p:nvSpPr>
        <p:spPr>
          <a:xfrm>
            <a:off x="3840480" y="3020045"/>
            <a:ext cx="1463040" cy="369332"/>
          </a:xfrm>
          <a:prstGeom prst="rect">
            <a:avLst/>
          </a:prstGeom>
          <a:noFill/>
        </p:spPr>
        <p:txBody>
          <a:bodyPr wrap="square" rtlCol="0">
            <a:spAutoFit/>
          </a:bodyPr>
          <a:lstStyle/>
          <a:p>
            <a:r>
              <a:rPr lang="fr-FR" sz="1800" b="1" dirty="0">
                <a:solidFill>
                  <a:schemeClr val="dk1"/>
                </a:solidFill>
                <a:latin typeface="Dosis" pitchFamily="2" charset="77"/>
                <a:sym typeface="Dosis"/>
              </a:rPr>
              <a:t>Nécessaire IT</a:t>
            </a:r>
            <a:endParaRPr lang="fr-FR" sz="1800" b="1" dirty="0">
              <a:latin typeface="Dosis" pitchFamily="2" charset="77"/>
            </a:endParaRPr>
          </a:p>
        </p:txBody>
      </p:sp>
    </p:spTree>
    <p:extLst>
      <p:ext uri="{BB962C8B-B14F-4D97-AF65-F5344CB8AC3E}">
        <p14:creationId xmlns:p14="http://schemas.microsoft.com/office/powerpoint/2010/main" val="1727264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EB4A44F-B6CD-D03B-1612-FF400951395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solidFill>
                  <a:schemeClr val="tx1">
                    <a:lumMod val="50000"/>
                  </a:schemeClr>
                </a:solidFill>
              </a:rPr>
              <a:t>13</a:t>
            </a:fld>
            <a:endParaRPr lang="fr-FR">
              <a:solidFill>
                <a:schemeClr val="tx1">
                  <a:lumMod val="50000"/>
                </a:schemeClr>
              </a:solidFill>
            </a:endParaRPr>
          </a:p>
        </p:txBody>
      </p:sp>
      <p:graphicFrame>
        <p:nvGraphicFramePr>
          <p:cNvPr id="7" name="Tableau 7">
            <a:extLst>
              <a:ext uri="{FF2B5EF4-FFF2-40B4-BE49-F238E27FC236}">
                <a16:creationId xmlns:a16="http://schemas.microsoft.com/office/drawing/2014/main" id="{E7190351-2377-03BA-1D60-7C58A133C84C}"/>
              </a:ext>
            </a:extLst>
          </p:cNvPr>
          <p:cNvGraphicFramePr>
            <a:graphicFrameLocks noGrp="1"/>
          </p:cNvGraphicFramePr>
          <p:nvPr>
            <p:extLst>
              <p:ext uri="{D42A27DB-BD31-4B8C-83A1-F6EECF244321}">
                <p14:modId xmlns:p14="http://schemas.microsoft.com/office/powerpoint/2010/main" val="1662540942"/>
              </p:ext>
            </p:extLst>
          </p:nvPr>
        </p:nvGraphicFramePr>
        <p:xfrm>
          <a:off x="90619" y="459586"/>
          <a:ext cx="8962762" cy="944880"/>
        </p:xfrm>
        <a:graphic>
          <a:graphicData uri="http://schemas.openxmlformats.org/drawingml/2006/table">
            <a:tbl>
              <a:tblPr firstRow="1" bandRow="1">
                <a:tableStyleId>{91EBBBCC-DAD2-459C-BE2E-F6DE35CF9A28}</a:tableStyleId>
              </a:tblPr>
              <a:tblGrid>
                <a:gridCol w="4481381">
                  <a:extLst>
                    <a:ext uri="{9D8B030D-6E8A-4147-A177-3AD203B41FA5}">
                      <a16:colId xmlns:a16="http://schemas.microsoft.com/office/drawing/2014/main" val="3435027764"/>
                    </a:ext>
                  </a:extLst>
                </a:gridCol>
                <a:gridCol w="4481381">
                  <a:extLst>
                    <a:ext uri="{9D8B030D-6E8A-4147-A177-3AD203B41FA5}">
                      <a16:colId xmlns:a16="http://schemas.microsoft.com/office/drawing/2014/main" val="1893924215"/>
                    </a:ext>
                  </a:extLst>
                </a:gridCol>
              </a:tblGrid>
              <a:tr h="329387">
                <a:tc>
                  <a:txBody>
                    <a:bodyPr/>
                    <a:lstStyle/>
                    <a:p>
                      <a:r>
                        <a:rPr lang="fr-FR" sz="1000" b="1" u="none" strike="noStrike" cap="none" dirty="0">
                          <a:solidFill>
                            <a:schemeClr val="bg1"/>
                          </a:solidFill>
                          <a:effectLst/>
                          <a:sym typeface="Arial"/>
                        </a:rPr>
                        <a:t>NY.GDP.PCAP.CD</a:t>
                      </a:r>
                      <a:endParaRPr lang="fr-FR" sz="10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a:solidFill>
                            <a:schemeClr val="bg1"/>
                          </a:solidFill>
                          <a:effectLst/>
                          <a:latin typeface="+mn-lt"/>
                          <a:ea typeface="+mn-ea"/>
                          <a:cs typeface="+mn-cs"/>
                          <a:sym typeface="Arial"/>
                        </a:rPr>
                        <a:t>GDP per capita </a:t>
                      </a:r>
                      <a:r>
                        <a:rPr lang="fr-FR" sz="1000" b="0" i="0" u="none" strike="noStrike" cap="none" dirty="0" err="1">
                          <a:solidFill>
                            <a:schemeClr val="bg1"/>
                          </a:solidFill>
                          <a:effectLst/>
                          <a:latin typeface="+mn-lt"/>
                          <a:ea typeface="+mn-ea"/>
                          <a:cs typeface="+mn-cs"/>
                          <a:sym typeface="Arial"/>
                        </a:rPr>
                        <a:t>is</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gross</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domestic</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product</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divided</a:t>
                      </a:r>
                      <a:r>
                        <a:rPr lang="fr-FR" sz="1000" b="0" i="0" u="none" strike="noStrike" cap="none" dirty="0">
                          <a:solidFill>
                            <a:schemeClr val="bg1"/>
                          </a:solidFill>
                          <a:effectLst/>
                          <a:latin typeface="+mn-lt"/>
                          <a:ea typeface="+mn-ea"/>
                          <a:cs typeface="+mn-cs"/>
                          <a:sym typeface="Arial"/>
                        </a:rPr>
                        <a:t> by </a:t>
                      </a:r>
                      <a:r>
                        <a:rPr lang="fr-FR" sz="1000" b="0" i="0" u="none" strike="noStrike" cap="none" dirty="0" err="1">
                          <a:solidFill>
                            <a:schemeClr val="bg1"/>
                          </a:solidFill>
                          <a:effectLst/>
                          <a:latin typeface="+mn-lt"/>
                          <a:ea typeface="+mn-ea"/>
                          <a:cs typeface="+mn-cs"/>
                          <a:sym typeface="Arial"/>
                        </a:rPr>
                        <a:t>midyear</a:t>
                      </a:r>
                      <a:r>
                        <a:rPr lang="fr-FR" sz="1000" b="0" i="0" u="none" strike="noStrike" cap="none" dirty="0">
                          <a:solidFill>
                            <a:schemeClr val="bg1"/>
                          </a:solidFill>
                          <a:effectLst/>
                          <a:latin typeface="+mn-lt"/>
                          <a:ea typeface="+mn-ea"/>
                          <a:cs typeface="+mn-cs"/>
                          <a:sym typeface="Arial"/>
                        </a:rPr>
                        <a:t> population.</a:t>
                      </a:r>
                    </a:p>
                    <a:p>
                      <a:endParaRPr lang="fr-FR" sz="1000" b="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304386776"/>
                  </a:ext>
                </a:extLst>
              </a:tr>
              <a:tr h="456074">
                <a:tc>
                  <a:txBody>
                    <a:bodyPr/>
                    <a:lstStyle/>
                    <a:p>
                      <a:r>
                        <a:rPr lang="fr-FR" sz="1000" b="1" u="none" strike="noStrike" cap="none" dirty="0">
                          <a:solidFill>
                            <a:schemeClr val="bg1"/>
                          </a:solidFill>
                          <a:effectLst/>
                          <a:sym typeface="Arial"/>
                        </a:rPr>
                        <a:t>XGDP.23.FSGOV.FDINSTADM.FFD</a:t>
                      </a:r>
                      <a:endParaRPr lang="fr-FR" sz="10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r>
                        <a:rPr lang="fr-FR" sz="1000" b="0" i="0" u="none" strike="noStrike" cap="none" dirty="0">
                          <a:solidFill>
                            <a:schemeClr val="bg1"/>
                          </a:solidFill>
                          <a:effectLst/>
                          <a:latin typeface="+mn-lt"/>
                          <a:ea typeface="+mn-ea"/>
                          <a:cs typeface="+mn-cs"/>
                          <a:sym typeface="Arial"/>
                        </a:rPr>
                        <a:t>Total </a:t>
                      </a:r>
                      <a:r>
                        <a:rPr lang="fr-FR" sz="1000" b="0" i="0" u="none" strike="noStrike" cap="none" dirty="0" err="1">
                          <a:solidFill>
                            <a:schemeClr val="bg1"/>
                          </a:solidFill>
                          <a:effectLst/>
                          <a:latin typeface="+mn-lt"/>
                          <a:ea typeface="+mn-ea"/>
                          <a:cs typeface="+mn-cs"/>
                          <a:sym typeface="Arial"/>
                        </a:rPr>
                        <a:t>general</a:t>
                      </a:r>
                      <a:r>
                        <a:rPr lang="fr-FR" sz="1000" b="0" i="0" u="none" strike="noStrike" cap="none" dirty="0">
                          <a:solidFill>
                            <a:schemeClr val="bg1"/>
                          </a:solidFill>
                          <a:effectLst/>
                          <a:latin typeface="+mn-lt"/>
                          <a:ea typeface="+mn-ea"/>
                          <a:cs typeface="+mn-cs"/>
                          <a:sym typeface="Arial"/>
                        </a:rPr>
                        <a:t> (local, </a:t>
                      </a:r>
                      <a:r>
                        <a:rPr lang="fr-FR" sz="1000" b="0" i="0" u="none" strike="noStrike" cap="none" dirty="0" err="1">
                          <a:solidFill>
                            <a:schemeClr val="bg1"/>
                          </a:solidFill>
                          <a:effectLst/>
                          <a:latin typeface="+mn-lt"/>
                          <a:ea typeface="+mn-ea"/>
                          <a:cs typeface="+mn-cs"/>
                          <a:sym typeface="Arial"/>
                        </a:rPr>
                        <a:t>regional</a:t>
                      </a:r>
                      <a:r>
                        <a:rPr lang="fr-FR" sz="1000" b="0" i="0" u="none" strike="noStrike" cap="none" dirty="0">
                          <a:solidFill>
                            <a:schemeClr val="bg1"/>
                          </a:solidFill>
                          <a:effectLst/>
                          <a:latin typeface="+mn-lt"/>
                          <a:ea typeface="+mn-ea"/>
                          <a:cs typeface="+mn-cs"/>
                          <a:sym typeface="Arial"/>
                        </a:rPr>
                        <a:t> and central) </a:t>
                      </a:r>
                      <a:r>
                        <a:rPr lang="fr-FR" sz="1000" b="0" i="0" u="none" strike="noStrike" cap="none" dirty="0" err="1">
                          <a:solidFill>
                            <a:schemeClr val="bg1"/>
                          </a:solidFill>
                          <a:effectLst/>
                          <a:latin typeface="+mn-lt"/>
                          <a:ea typeface="+mn-ea"/>
                          <a:cs typeface="+mn-cs"/>
                          <a:sym typeface="Arial"/>
                        </a:rPr>
                        <a:t>government</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expenditure</a:t>
                      </a:r>
                      <a:r>
                        <a:rPr lang="fr-FR" sz="1000" b="0" i="0" u="none" strike="noStrike" cap="none" dirty="0">
                          <a:solidFill>
                            <a:schemeClr val="bg1"/>
                          </a:solidFill>
                          <a:effectLst/>
                          <a:latin typeface="+mn-lt"/>
                          <a:ea typeface="+mn-ea"/>
                          <a:cs typeface="+mn-cs"/>
                          <a:sym typeface="Arial"/>
                        </a:rPr>
                        <a:t> in </a:t>
                      </a:r>
                      <a:r>
                        <a:rPr lang="fr-FR" sz="1000" b="0" i="0" u="none" strike="noStrike" cap="none" dirty="0" err="1">
                          <a:solidFill>
                            <a:schemeClr val="bg1"/>
                          </a:solidFill>
                          <a:effectLst/>
                          <a:latin typeface="+mn-lt"/>
                          <a:ea typeface="+mn-ea"/>
                          <a:cs typeface="+mn-cs"/>
                          <a:sym typeface="Arial"/>
                        </a:rPr>
                        <a:t>educational</a:t>
                      </a:r>
                      <a:r>
                        <a:rPr lang="fr-FR" sz="1000" b="0" i="0" u="none" strike="noStrike" cap="none" dirty="0">
                          <a:solidFill>
                            <a:schemeClr val="bg1"/>
                          </a:solidFill>
                          <a:effectLst/>
                          <a:latin typeface="+mn-lt"/>
                          <a:ea typeface="+mn-ea"/>
                          <a:cs typeface="+mn-cs"/>
                          <a:sym typeface="Arial"/>
                        </a:rPr>
                        <a:t> institutions (</a:t>
                      </a:r>
                      <a:r>
                        <a:rPr lang="fr-FR" sz="1000" b="0" i="0" u="none" strike="noStrike" cap="none" dirty="0" err="1">
                          <a:solidFill>
                            <a:schemeClr val="bg1"/>
                          </a:solidFill>
                          <a:effectLst/>
                          <a:latin typeface="+mn-lt"/>
                          <a:ea typeface="+mn-ea"/>
                          <a:cs typeface="+mn-cs"/>
                          <a:sym typeface="Arial"/>
                        </a:rPr>
                        <a:t>current</a:t>
                      </a:r>
                      <a:r>
                        <a:rPr lang="fr-FR" sz="1000" b="0" i="0" u="none" strike="noStrike" cap="none" dirty="0">
                          <a:solidFill>
                            <a:schemeClr val="bg1"/>
                          </a:solidFill>
                          <a:effectLst/>
                          <a:latin typeface="+mn-lt"/>
                          <a:ea typeface="+mn-ea"/>
                          <a:cs typeface="+mn-cs"/>
                          <a:sym typeface="Arial"/>
                        </a:rPr>
                        <a:t> and capital) at a </a:t>
                      </a:r>
                      <a:r>
                        <a:rPr lang="fr-FR" sz="1000" b="0" i="0" u="none" strike="noStrike" cap="none" dirty="0" err="1">
                          <a:solidFill>
                            <a:schemeClr val="bg1"/>
                          </a:solidFill>
                          <a:effectLst/>
                          <a:latin typeface="+mn-lt"/>
                          <a:ea typeface="+mn-ea"/>
                          <a:cs typeface="+mn-cs"/>
                          <a:sym typeface="Arial"/>
                        </a:rPr>
                        <a:t>given</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level</a:t>
                      </a:r>
                      <a:r>
                        <a:rPr lang="fr-FR" sz="1000" b="0" i="0" u="none" strike="noStrike" cap="none" dirty="0">
                          <a:solidFill>
                            <a:schemeClr val="bg1"/>
                          </a:solidFill>
                          <a:effectLst/>
                          <a:latin typeface="+mn-lt"/>
                          <a:ea typeface="+mn-ea"/>
                          <a:cs typeface="+mn-cs"/>
                          <a:sym typeface="Arial"/>
                        </a:rPr>
                        <a:t> of </a:t>
                      </a:r>
                      <a:r>
                        <a:rPr lang="fr-FR" sz="1000" b="0" i="0" u="none" strike="noStrike" cap="none" dirty="0" err="1">
                          <a:solidFill>
                            <a:schemeClr val="bg1"/>
                          </a:solidFill>
                          <a:effectLst/>
                          <a:latin typeface="+mn-lt"/>
                          <a:ea typeface="+mn-ea"/>
                          <a:cs typeface="+mn-cs"/>
                          <a:sym typeface="Arial"/>
                        </a:rPr>
                        <a:t>education</a:t>
                      </a:r>
                      <a:r>
                        <a:rPr lang="fr-FR" sz="1000" b="0" i="0" u="none" strike="noStrike" cap="none" dirty="0">
                          <a:solidFill>
                            <a:schemeClr val="bg1"/>
                          </a:solidFill>
                          <a:effectLst/>
                          <a:latin typeface="+mn-lt"/>
                          <a:ea typeface="+mn-ea"/>
                          <a:cs typeface="+mn-cs"/>
                          <a:sym typeface="Arial"/>
                        </a:rPr>
                        <a:t>, </a:t>
                      </a:r>
                      <a:r>
                        <a:rPr lang="fr-FR" sz="1000" b="0" i="0" u="none" strike="noStrike" cap="none" dirty="0" err="1">
                          <a:solidFill>
                            <a:schemeClr val="bg1"/>
                          </a:solidFill>
                          <a:effectLst/>
                          <a:latin typeface="+mn-lt"/>
                          <a:ea typeface="+mn-ea"/>
                          <a:cs typeface="+mn-cs"/>
                          <a:sym typeface="Arial"/>
                        </a:rPr>
                        <a:t>expressed</a:t>
                      </a:r>
                      <a:r>
                        <a:rPr lang="fr-FR" sz="1000" b="0" i="0" u="none" strike="noStrike" cap="none" dirty="0">
                          <a:solidFill>
                            <a:schemeClr val="bg1"/>
                          </a:solidFill>
                          <a:effectLst/>
                          <a:latin typeface="+mn-lt"/>
                          <a:ea typeface="+mn-ea"/>
                          <a:cs typeface="+mn-cs"/>
                          <a:sym typeface="Arial"/>
                        </a:rPr>
                        <a:t> as a percentage of GDP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2709335714"/>
                  </a:ext>
                </a:extLst>
              </a:tr>
            </a:tbl>
          </a:graphicData>
        </a:graphic>
      </p:graphicFrame>
      <p:graphicFrame>
        <p:nvGraphicFramePr>
          <p:cNvPr id="5" name="Tableau 7">
            <a:extLst>
              <a:ext uri="{FF2B5EF4-FFF2-40B4-BE49-F238E27FC236}">
                <a16:creationId xmlns:a16="http://schemas.microsoft.com/office/drawing/2014/main" id="{A4E2C6C2-0C59-2EAB-3C21-7825AC28CCAD}"/>
              </a:ext>
            </a:extLst>
          </p:cNvPr>
          <p:cNvGraphicFramePr>
            <a:graphicFrameLocks noGrp="1"/>
          </p:cNvGraphicFramePr>
          <p:nvPr>
            <p:extLst>
              <p:ext uri="{D42A27DB-BD31-4B8C-83A1-F6EECF244321}">
                <p14:modId xmlns:p14="http://schemas.microsoft.com/office/powerpoint/2010/main" val="1285334279"/>
              </p:ext>
            </p:extLst>
          </p:nvPr>
        </p:nvGraphicFramePr>
        <p:xfrm>
          <a:off x="90619" y="2023110"/>
          <a:ext cx="8962762" cy="1097280"/>
        </p:xfrm>
        <a:graphic>
          <a:graphicData uri="http://schemas.openxmlformats.org/drawingml/2006/table">
            <a:tbl>
              <a:tblPr firstRow="1" bandRow="1">
                <a:tableStyleId>{91EBBBCC-DAD2-459C-BE2E-F6DE35CF9A28}</a:tableStyleId>
              </a:tblPr>
              <a:tblGrid>
                <a:gridCol w="4481381">
                  <a:extLst>
                    <a:ext uri="{9D8B030D-6E8A-4147-A177-3AD203B41FA5}">
                      <a16:colId xmlns:a16="http://schemas.microsoft.com/office/drawing/2014/main" val="3435027764"/>
                    </a:ext>
                  </a:extLst>
                </a:gridCol>
                <a:gridCol w="4481381">
                  <a:extLst>
                    <a:ext uri="{9D8B030D-6E8A-4147-A177-3AD203B41FA5}">
                      <a16:colId xmlns:a16="http://schemas.microsoft.com/office/drawing/2014/main" val="1893924215"/>
                    </a:ext>
                  </a:extLst>
                </a:gridCol>
              </a:tblGrid>
              <a:tr h="329387">
                <a:tc>
                  <a:txBody>
                    <a:bodyPr/>
                    <a:lstStyle/>
                    <a:p>
                      <a:r>
                        <a:rPr lang="fr-FR" sz="1000" b="1" u="none" strike="noStrike" cap="none" dirty="0">
                          <a:solidFill>
                            <a:srgbClr val="000000"/>
                          </a:solidFill>
                          <a:effectLst/>
                          <a:sym typeface="Arial"/>
                        </a:rPr>
                        <a:t>SP.POP.1524.TO.UN</a:t>
                      </a:r>
                      <a:endParaRPr lang="fr-FR" sz="1000" b="1"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a:solidFill>
                            <a:srgbClr val="000000"/>
                          </a:solidFill>
                          <a:effectLst/>
                          <a:latin typeface="+mn-lt"/>
                          <a:ea typeface="+mn-ea"/>
                          <a:cs typeface="+mn-cs"/>
                          <a:sym typeface="Arial"/>
                        </a:rPr>
                        <a:t>Population, </a:t>
                      </a:r>
                      <a:r>
                        <a:rPr lang="fr-FR" sz="1000" b="0" i="0" u="none" strike="noStrike" cap="none" dirty="0" err="1">
                          <a:solidFill>
                            <a:srgbClr val="000000"/>
                          </a:solidFill>
                          <a:effectLst/>
                          <a:latin typeface="+mn-lt"/>
                          <a:ea typeface="+mn-ea"/>
                          <a:cs typeface="+mn-cs"/>
                          <a:sym typeface="Arial"/>
                        </a:rPr>
                        <a:t>ages</a:t>
                      </a:r>
                      <a:r>
                        <a:rPr lang="fr-FR" sz="1000" b="0" i="0" u="none" strike="noStrike" cap="none" dirty="0">
                          <a:solidFill>
                            <a:srgbClr val="000000"/>
                          </a:solidFill>
                          <a:effectLst/>
                          <a:latin typeface="+mn-lt"/>
                          <a:ea typeface="+mn-ea"/>
                          <a:cs typeface="+mn-cs"/>
                          <a:sym typeface="Arial"/>
                        </a:rPr>
                        <a:t> 15-24, total </a:t>
                      </a:r>
                      <a:r>
                        <a:rPr lang="fr-FR" sz="1000" b="0" i="0" u="none" strike="noStrike" cap="none" dirty="0" err="1">
                          <a:solidFill>
                            <a:srgbClr val="000000"/>
                          </a:solidFill>
                          <a:effectLst/>
                          <a:latin typeface="+mn-lt"/>
                          <a:ea typeface="+mn-ea"/>
                          <a:cs typeface="+mn-cs"/>
                          <a:sym typeface="Arial"/>
                        </a:rPr>
                        <a:t>is</a:t>
                      </a:r>
                      <a:r>
                        <a:rPr lang="fr-FR" sz="1000" b="0" i="0" u="none" strike="noStrike" cap="none" dirty="0">
                          <a:solidFill>
                            <a:srgbClr val="000000"/>
                          </a:solidFill>
                          <a:effectLst/>
                          <a:latin typeface="+mn-lt"/>
                          <a:ea typeface="+mn-ea"/>
                          <a:cs typeface="+mn-cs"/>
                          <a:sym typeface="Arial"/>
                        </a:rPr>
                        <a:t> the total population </a:t>
                      </a:r>
                      <a:r>
                        <a:rPr lang="fr-FR" sz="1000" b="0" i="0" u="none" strike="noStrike" cap="none" dirty="0" err="1">
                          <a:solidFill>
                            <a:srgbClr val="000000"/>
                          </a:solidFill>
                          <a:effectLst/>
                          <a:latin typeface="+mn-lt"/>
                          <a:ea typeface="+mn-ea"/>
                          <a:cs typeface="+mn-cs"/>
                          <a:sym typeface="Arial"/>
                        </a:rPr>
                        <a:t>age</a:t>
                      </a:r>
                      <a:r>
                        <a:rPr lang="fr-FR" sz="1000" b="0" i="0" u="none" strike="noStrike" cap="none" dirty="0">
                          <a:solidFill>
                            <a:srgbClr val="000000"/>
                          </a:solidFill>
                          <a:effectLst/>
                          <a:latin typeface="+mn-lt"/>
                          <a:ea typeface="+mn-ea"/>
                          <a:cs typeface="+mn-cs"/>
                          <a:sym typeface="Arial"/>
                        </a:rPr>
                        <a:t> 15-24.</a:t>
                      </a: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79937914"/>
                  </a:ext>
                </a:extLst>
              </a:tr>
              <a:tr h="582761">
                <a:tc>
                  <a:txBody>
                    <a:bodyPr/>
                    <a:lstStyle/>
                    <a:p>
                      <a:r>
                        <a:rPr lang="fr-FR" sz="1000" b="1" i="0" u="none" strike="noStrike" cap="none" dirty="0">
                          <a:solidFill>
                            <a:srgbClr val="000000"/>
                          </a:solidFill>
                          <a:effectLst/>
                          <a:latin typeface="+mn-lt"/>
                          <a:ea typeface="+mn-ea"/>
                          <a:cs typeface="+mn-cs"/>
                          <a:sym typeface="Arial"/>
                        </a:rPr>
                        <a:t>SP.POP.TOTL</a:t>
                      </a:r>
                      <a:endParaRPr lang="fr-FR" sz="1000" b="1"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a:solidFill>
                            <a:srgbClr val="000000"/>
                          </a:solidFill>
                          <a:effectLst/>
                          <a:latin typeface="+mn-lt"/>
                          <a:ea typeface="+mn-ea"/>
                          <a:cs typeface="+mn-cs"/>
                          <a:sym typeface="Arial"/>
                        </a:rPr>
                        <a:t>Total population </a:t>
                      </a:r>
                      <a:r>
                        <a:rPr lang="fr-FR" sz="1000" b="0" i="0" u="none" strike="noStrike" cap="none" dirty="0" err="1">
                          <a:solidFill>
                            <a:srgbClr val="000000"/>
                          </a:solidFill>
                          <a:effectLst/>
                          <a:latin typeface="+mn-lt"/>
                          <a:ea typeface="+mn-ea"/>
                          <a:cs typeface="+mn-cs"/>
                          <a:sym typeface="Arial"/>
                        </a:rPr>
                        <a:t>is</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based</a:t>
                      </a:r>
                      <a:r>
                        <a:rPr lang="fr-FR" sz="1000" b="0" i="0" u="none" strike="noStrike" cap="none" dirty="0">
                          <a:solidFill>
                            <a:srgbClr val="000000"/>
                          </a:solidFill>
                          <a:effectLst/>
                          <a:latin typeface="+mn-lt"/>
                          <a:ea typeface="+mn-ea"/>
                          <a:cs typeface="+mn-cs"/>
                          <a:sym typeface="Arial"/>
                        </a:rPr>
                        <a:t> on the de facto </a:t>
                      </a:r>
                      <a:r>
                        <a:rPr lang="fr-FR" sz="1000" b="0" i="0" u="none" strike="noStrike" cap="none" dirty="0" err="1">
                          <a:solidFill>
                            <a:srgbClr val="000000"/>
                          </a:solidFill>
                          <a:effectLst/>
                          <a:latin typeface="+mn-lt"/>
                          <a:ea typeface="+mn-ea"/>
                          <a:cs typeface="+mn-cs"/>
                          <a:sym typeface="Arial"/>
                        </a:rPr>
                        <a:t>definition</a:t>
                      </a:r>
                      <a:r>
                        <a:rPr lang="fr-FR" sz="1000" b="0" i="0" u="none" strike="noStrike" cap="none" dirty="0">
                          <a:solidFill>
                            <a:srgbClr val="000000"/>
                          </a:solidFill>
                          <a:effectLst/>
                          <a:latin typeface="+mn-lt"/>
                          <a:ea typeface="+mn-ea"/>
                          <a:cs typeface="+mn-cs"/>
                          <a:sym typeface="Arial"/>
                        </a:rPr>
                        <a:t> of population, </a:t>
                      </a:r>
                      <a:r>
                        <a:rPr lang="fr-FR" sz="1000" b="0" i="0" u="none" strike="noStrike" cap="none" dirty="0" err="1">
                          <a:solidFill>
                            <a:srgbClr val="000000"/>
                          </a:solidFill>
                          <a:effectLst/>
                          <a:latin typeface="+mn-lt"/>
                          <a:ea typeface="+mn-ea"/>
                          <a:cs typeface="+mn-cs"/>
                          <a:sym typeface="Arial"/>
                        </a:rPr>
                        <a:t>which</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counts</a:t>
                      </a:r>
                      <a:r>
                        <a:rPr lang="fr-FR" sz="1000" b="0" i="0" u="none" strike="noStrike" cap="none" dirty="0">
                          <a:solidFill>
                            <a:srgbClr val="000000"/>
                          </a:solidFill>
                          <a:effectLst/>
                          <a:latin typeface="+mn-lt"/>
                          <a:ea typeface="+mn-ea"/>
                          <a:cs typeface="+mn-cs"/>
                          <a:sym typeface="Arial"/>
                        </a:rPr>
                        <a:t> all </a:t>
                      </a:r>
                      <a:r>
                        <a:rPr lang="fr-FR" sz="1000" b="0" i="0" u="none" strike="noStrike" cap="none" dirty="0" err="1">
                          <a:solidFill>
                            <a:srgbClr val="000000"/>
                          </a:solidFill>
                          <a:effectLst/>
                          <a:latin typeface="+mn-lt"/>
                          <a:ea typeface="+mn-ea"/>
                          <a:cs typeface="+mn-cs"/>
                          <a:sym typeface="Arial"/>
                        </a:rPr>
                        <a:t>residents</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regardless</a:t>
                      </a:r>
                      <a:r>
                        <a:rPr lang="fr-FR" sz="1000" b="0" i="0" u="none" strike="noStrike" cap="none" dirty="0">
                          <a:solidFill>
                            <a:srgbClr val="000000"/>
                          </a:solidFill>
                          <a:effectLst/>
                          <a:latin typeface="+mn-lt"/>
                          <a:ea typeface="+mn-ea"/>
                          <a:cs typeface="+mn-cs"/>
                          <a:sym typeface="Arial"/>
                        </a:rPr>
                        <a:t> of </a:t>
                      </a:r>
                      <a:r>
                        <a:rPr lang="fr-FR" sz="1000" b="0" i="0" u="none" strike="noStrike" cap="none" dirty="0" err="1">
                          <a:solidFill>
                            <a:srgbClr val="000000"/>
                          </a:solidFill>
                          <a:effectLst/>
                          <a:latin typeface="+mn-lt"/>
                          <a:ea typeface="+mn-ea"/>
                          <a:cs typeface="+mn-cs"/>
                          <a:sym typeface="Arial"/>
                        </a:rPr>
                        <a:t>legal</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status</a:t>
                      </a:r>
                      <a:r>
                        <a:rPr lang="fr-FR" sz="1000" b="0" i="0" u="none" strike="noStrike" cap="none" dirty="0">
                          <a:solidFill>
                            <a:srgbClr val="000000"/>
                          </a:solidFill>
                          <a:effectLst/>
                          <a:latin typeface="+mn-lt"/>
                          <a:ea typeface="+mn-ea"/>
                          <a:cs typeface="+mn-cs"/>
                          <a:sym typeface="Arial"/>
                        </a:rPr>
                        <a:t> or </a:t>
                      </a:r>
                      <a:r>
                        <a:rPr lang="fr-FR" sz="1000" b="0" i="0" u="none" strike="noStrike" cap="none" dirty="0" err="1">
                          <a:solidFill>
                            <a:srgbClr val="000000"/>
                          </a:solidFill>
                          <a:effectLst/>
                          <a:latin typeface="+mn-lt"/>
                          <a:ea typeface="+mn-ea"/>
                          <a:cs typeface="+mn-cs"/>
                          <a:sym typeface="Arial"/>
                        </a:rPr>
                        <a:t>citizenship</a:t>
                      </a:r>
                      <a:r>
                        <a:rPr lang="fr-FR" sz="1000" b="0" i="0" u="none" strike="noStrike" cap="none" dirty="0">
                          <a:solidFill>
                            <a:srgbClr val="000000"/>
                          </a:solidFill>
                          <a:effectLst/>
                          <a:latin typeface="+mn-lt"/>
                          <a:ea typeface="+mn-ea"/>
                          <a:cs typeface="+mn-cs"/>
                          <a:sym typeface="Arial"/>
                        </a:rPr>
                        <a:t>. The values </a:t>
                      </a:r>
                      <a:r>
                        <a:rPr lang="fr-FR" sz="1000" b="0" i="0" u="none" strike="noStrike" cap="none" dirty="0" err="1">
                          <a:solidFill>
                            <a:srgbClr val="000000"/>
                          </a:solidFill>
                          <a:effectLst/>
                          <a:latin typeface="+mn-lt"/>
                          <a:ea typeface="+mn-ea"/>
                          <a:cs typeface="+mn-cs"/>
                          <a:sym typeface="Arial"/>
                        </a:rPr>
                        <a:t>shown</a:t>
                      </a:r>
                      <a:r>
                        <a:rPr lang="fr-FR" sz="1000" b="0" i="0" u="none" strike="noStrike" cap="none" dirty="0">
                          <a:solidFill>
                            <a:srgbClr val="000000"/>
                          </a:solidFill>
                          <a:effectLst/>
                          <a:latin typeface="+mn-lt"/>
                          <a:ea typeface="+mn-ea"/>
                          <a:cs typeface="+mn-cs"/>
                          <a:sym typeface="Arial"/>
                        </a:rPr>
                        <a:t> are </a:t>
                      </a:r>
                      <a:r>
                        <a:rPr lang="fr-FR" sz="1000" b="0" i="0" u="none" strike="noStrike" cap="none" dirty="0" err="1">
                          <a:solidFill>
                            <a:srgbClr val="000000"/>
                          </a:solidFill>
                          <a:effectLst/>
                          <a:latin typeface="+mn-lt"/>
                          <a:ea typeface="+mn-ea"/>
                          <a:cs typeface="+mn-cs"/>
                          <a:sym typeface="Arial"/>
                        </a:rPr>
                        <a:t>midyear</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estimates</a:t>
                      </a:r>
                      <a:r>
                        <a:rPr lang="fr-FR" sz="1000" b="0" i="0" u="none" strike="noStrike" cap="none" dirty="0">
                          <a:solidFill>
                            <a:srgbClr val="000000"/>
                          </a:solidFill>
                          <a:effectLst/>
                          <a:latin typeface="+mn-lt"/>
                          <a:ea typeface="+mn-ea"/>
                          <a:cs typeface="+mn-cs"/>
                          <a:sym typeface="Arial"/>
                        </a:rPr>
                        <a:t>.</a:t>
                      </a:r>
                    </a:p>
                    <a:p>
                      <a:endParaRPr lang="fr-FR" sz="10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764048701"/>
                  </a:ext>
                </a:extLst>
              </a:tr>
            </a:tbl>
          </a:graphicData>
        </a:graphic>
      </p:graphicFrame>
      <p:graphicFrame>
        <p:nvGraphicFramePr>
          <p:cNvPr id="6" name="Tableau 7">
            <a:extLst>
              <a:ext uri="{FF2B5EF4-FFF2-40B4-BE49-F238E27FC236}">
                <a16:creationId xmlns:a16="http://schemas.microsoft.com/office/drawing/2014/main" id="{DC2CE2AD-82F8-3207-65C0-729309F9777F}"/>
              </a:ext>
            </a:extLst>
          </p:cNvPr>
          <p:cNvGraphicFramePr>
            <a:graphicFrameLocks noGrp="1"/>
          </p:cNvGraphicFramePr>
          <p:nvPr>
            <p:extLst>
              <p:ext uri="{D42A27DB-BD31-4B8C-83A1-F6EECF244321}">
                <p14:modId xmlns:p14="http://schemas.microsoft.com/office/powerpoint/2010/main" val="3165610059"/>
              </p:ext>
            </p:extLst>
          </p:nvPr>
        </p:nvGraphicFramePr>
        <p:xfrm>
          <a:off x="90619" y="3739034"/>
          <a:ext cx="8962762" cy="701040"/>
        </p:xfrm>
        <a:graphic>
          <a:graphicData uri="http://schemas.openxmlformats.org/drawingml/2006/table">
            <a:tbl>
              <a:tblPr firstRow="1" bandRow="1">
                <a:tableStyleId>{91EBBBCC-DAD2-459C-BE2E-F6DE35CF9A28}</a:tableStyleId>
              </a:tblPr>
              <a:tblGrid>
                <a:gridCol w="4481381">
                  <a:extLst>
                    <a:ext uri="{9D8B030D-6E8A-4147-A177-3AD203B41FA5}">
                      <a16:colId xmlns:a16="http://schemas.microsoft.com/office/drawing/2014/main" val="3435027764"/>
                    </a:ext>
                  </a:extLst>
                </a:gridCol>
                <a:gridCol w="4481381">
                  <a:extLst>
                    <a:ext uri="{9D8B030D-6E8A-4147-A177-3AD203B41FA5}">
                      <a16:colId xmlns:a16="http://schemas.microsoft.com/office/drawing/2014/main" val="1893924215"/>
                    </a:ext>
                  </a:extLst>
                </a:gridCol>
              </a:tblGrid>
              <a:tr h="0">
                <a:tc>
                  <a:txBody>
                    <a:bodyPr/>
                    <a:lstStyle/>
                    <a:p>
                      <a:r>
                        <a:rPr lang="fr-FR" sz="1000" b="1" u="none" strike="noStrike" cap="none" dirty="0">
                          <a:solidFill>
                            <a:srgbClr val="000000"/>
                          </a:solidFill>
                          <a:effectLst/>
                          <a:sym typeface="Arial"/>
                        </a:rPr>
                        <a:t>SP.POP.GROW</a:t>
                      </a:r>
                      <a:endParaRPr lang="fr-FR" sz="1000" b="1"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err="1">
                          <a:solidFill>
                            <a:srgbClr val="000000"/>
                          </a:solidFill>
                          <a:effectLst/>
                          <a:latin typeface="+mn-lt"/>
                          <a:ea typeface="+mn-ea"/>
                          <a:cs typeface="+mn-cs"/>
                          <a:sym typeface="Arial"/>
                        </a:rPr>
                        <a:t>Annual</a:t>
                      </a:r>
                      <a:r>
                        <a:rPr lang="fr-FR" sz="1000" b="0" i="0" u="none" strike="noStrike" cap="none" dirty="0">
                          <a:solidFill>
                            <a:srgbClr val="000000"/>
                          </a:solidFill>
                          <a:effectLst/>
                          <a:latin typeface="+mn-lt"/>
                          <a:ea typeface="+mn-ea"/>
                          <a:cs typeface="+mn-cs"/>
                          <a:sym typeface="Arial"/>
                        </a:rPr>
                        <a:t> population </a:t>
                      </a:r>
                      <a:r>
                        <a:rPr lang="fr-FR" sz="1000" b="0" i="0" u="none" strike="noStrike" cap="none" dirty="0" err="1">
                          <a:solidFill>
                            <a:srgbClr val="000000"/>
                          </a:solidFill>
                          <a:effectLst/>
                          <a:latin typeface="+mn-lt"/>
                          <a:ea typeface="+mn-ea"/>
                          <a:cs typeface="+mn-cs"/>
                          <a:sym typeface="Arial"/>
                        </a:rPr>
                        <a:t>growth</a:t>
                      </a:r>
                      <a:r>
                        <a:rPr lang="fr-FR" sz="1000" b="0" i="0" u="none" strike="noStrike" cap="none" dirty="0">
                          <a:solidFill>
                            <a:srgbClr val="000000"/>
                          </a:solidFill>
                          <a:effectLst/>
                          <a:latin typeface="+mn-lt"/>
                          <a:ea typeface="+mn-ea"/>
                          <a:cs typeface="+mn-cs"/>
                          <a:sym typeface="Arial"/>
                        </a:rPr>
                        <a:t> rate for </a:t>
                      </a:r>
                      <a:r>
                        <a:rPr lang="fr-FR" sz="1000" b="0" i="0" u="none" strike="noStrike" cap="none" dirty="0" err="1">
                          <a:solidFill>
                            <a:srgbClr val="000000"/>
                          </a:solidFill>
                          <a:effectLst/>
                          <a:latin typeface="+mn-lt"/>
                          <a:ea typeface="+mn-ea"/>
                          <a:cs typeface="+mn-cs"/>
                          <a:sym typeface="Arial"/>
                        </a:rPr>
                        <a:t>year</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t</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is</a:t>
                      </a:r>
                      <a:r>
                        <a:rPr lang="fr-FR" sz="1000" b="0" i="0" u="none" strike="noStrike" cap="none" dirty="0">
                          <a:solidFill>
                            <a:srgbClr val="000000"/>
                          </a:solidFill>
                          <a:effectLst/>
                          <a:latin typeface="+mn-lt"/>
                          <a:ea typeface="+mn-ea"/>
                          <a:cs typeface="+mn-cs"/>
                          <a:sym typeface="Arial"/>
                        </a:rPr>
                        <a:t> the </a:t>
                      </a:r>
                      <a:r>
                        <a:rPr lang="fr-FR" sz="1000" b="0" i="0" u="none" strike="noStrike" cap="none" dirty="0" err="1">
                          <a:solidFill>
                            <a:srgbClr val="000000"/>
                          </a:solidFill>
                          <a:effectLst/>
                          <a:latin typeface="+mn-lt"/>
                          <a:ea typeface="+mn-ea"/>
                          <a:cs typeface="+mn-cs"/>
                          <a:sym typeface="Arial"/>
                        </a:rPr>
                        <a:t>exponential</a:t>
                      </a:r>
                      <a:r>
                        <a:rPr lang="fr-FR" sz="1000" b="0" i="0" u="none" strike="noStrike" cap="none" dirty="0">
                          <a:solidFill>
                            <a:srgbClr val="000000"/>
                          </a:solidFill>
                          <a:effectLst/>
                          <a:latin typeface="+mn-lt"/>
                          <a:ea typeface="+mn-ea"/>
                          <a:cs typeface="+mn-cs"/>
                          <a:sym typeface="Arial"/>
                        </a:rPr>
                        <a:t> rate of </a:t>
                      </a:r>
                      <a:r>
                        <a:rPr lang="fr-FR" sz="1000" b="0" i="0" u="none" strike="noStrike" cap="none" dirty="0" err="1">
                          <a:solidFill>
                            <a:srgbClr val="000000"/>
                          </a:solidFill>
                          <a:effectLst/>
                          <a:latin typeface="+mn-lt"/>
                          <a:ea typeface="+mn-ea"/>
                          <a:cs typeface="+mn-cs"/>
                          <a:sym typeface="Arial"/>
                        </a:rPr>
                        <a:t>growth</a:t>
                      </a:r>
                      <a:r>
                        <a:rPr lang="fr-FR" sz="1000" b="0" i="0" u="none" strike="noStrike" cap="none" dirty="0">
                          <a:solidFill>
                            <a:srgbClr val="000000"/>
                          </a:solidFill>
                          <a:effectLst/>
                          <a:latin typeface="+mn-lt"/>
                          <a:ea typeface="+mn-ea"/>
                          <a:cs typeface="+mn-cs"/>
                          <a:sym typeface="Arial"/>
                        </a:rPr>
                        <a:t> of </a:t>
                      </a:r>
                      <a:r>
                        <a:rPr lang="fr-FR" sz="1000" b="0" i="0" u="none" strike="noStrike" cap="none" dirty="0" err="1">
                          <a:solidFill>
                            <a:srgbClr val="000000"/>
                          </a:solidFill>
                          <a:effectLst/>
                          <a:latin typeface="+mn-lt"/>
                          <a:ea typeface="+mn-ea"/>
                          <a:cs typeface="+mn-cs"/>
                          <a:sym typeface="Arial"/>
                        </a:rPr>
                        <a:t>midyear</a:t>
                      </a:r>
                      <a:r>
                        <a:rPr lang="fr-FR" sz="1000" b="0" i="0" u="none" strike="noStrike" cap="none" dirty="0">
                          <a:solidFill>
                            <a:srgbClr val="000000"/>
                          </a:solidFill>
                          <a:effectLst/>
                          <a:latin typeface="+mn-lt"/>
                          <a:ea typeface="+mn-ea"/>
                          <a:cs typeface="+mn-cs"/>
                          <a:sym typeface="Arial"/>
                        </a:rPr>
                        <a:t> population </a:t>
                      </a:r>
                      <a:r>
                        <a:rPr lang="fr-FR" sz="1000" b="0" i="0" u="none" strike="noStrike" cap="none" dirty="0" err="1">
                          <a:solidFill>
                            <a:srgbClr val="000000"/>
                          </a:solidFill>
                          <a:effectLst/>
                          <a:latin typeface="+mn-lt"/>
                          <a:ea typeface="+mn-ea"/>
                          <a:cs typeface="+mn-cs"/>
                          <a:sym typeface="Arial"/>
                        </a:rPr>
                        <a:t>from</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year</a:t>
                      </a:r>
                      <a:r>
                        <a:rPr lang="fr-FR" sz="1000" b="0" i="0" u="none" strike="noStrike" cap="none" dirty="0">
                          <a:solidFill>
                            <a:srgbClr val="000000"/>
                          </a:solidFill>
                          <a:effectLst/>
                          <a:latin typeface="+mn-lt"/>
                          <a:ea typeface="+mn-ea"/>
                          <a:cs typeface="+mn-cs"/>
                          <a:sym typeface="Arial"/>
                        </a:rPr>
                        <a:t> t-1 to </a:t>
                      </a:r>
                      <a:r>
                        <a:rPr lang="fr-FR" sz="1000" b="0" i="0" u="none" strike="noStrike" cap="none" dirty="0" err="1">
                          <a:solidFill>
                            <a:srgbClr val="000000"/>
                          </a:solidFill>
                          <a:effectLst/>
                          <a:latin typeface="+mn-lt"/>
                          <a:ea typeface="+mn-ea"/>
                          <a:cs typeface="+mn-cs"/>
                          <a:sym typeface="Arial"/>
                        </a:rPr>
                        <a:t>t</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expressed</a:t>
                      </a:r>
                      <a:r>
                        <a:rPr lang="fr-FR" sz="1000" b="0" i="0" u="none" strike="noStrike" cap="none" dirty="0">
                          <a:solidFill>
                            <a:srgbClr val="000000"/>
                          </a:solidFill>
                          <a:effectLst/>
                          <a:latin typeface="+mn-lt"/>
                          <a:ea typeface="+mn-ea"/>
                          <a:cs typeface="+mn-cs"/>
                          <a:sym typeface="Arial"/>
                        </a:rPr>
                        <a:t> as a percentage . Population </a:t>
                      </a:r>
                      <a:r>
                        <a:rPr lang="fr-FR" sz="1000" b="0" i="0" u="none" strike="noStrike" cap="none" dirty="0" err="1">
                          <a:solidFill>
                            <a:srgbClr val="000000"/>
                          </a:solidFill>
                          <a:effectLst/>
                          <a:latin typeface="+mn-lt"/>
                          <a:ea typeface="+mn-ea"/>
                          <a:cs typeface="+mn-cs"/>
                          <a:sym typeface="Arial"/>
                        </a:rPr>
                        <a:t>is</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based</a:t>
                      </a:r>
                      <a:r>
                        <a:rPr lang="fr-FR" sz="1000" b="0" i="0" u="none" strike="noStrike" cap="none" dirty="0">
                          <a:solidFill>
                            <a:srgbClr val="000000"/>
                          </a:solidFill>
                          <a:effectLst/>
                          <a:latin typeface="+mn-lt"/>
                          <a:ea typeface="+mn-ea"/>
                          <a:cs typeface="+mn-cs"/>
                          <a:sym typeface="Arial"/>
                        </a:rPr>
                        <a:t> on the de facto </a:t>
                      </a:r>
                      <a:r>
                        <a:rPr lang="fr-FR" sz="1000" b="0" i="0" u="none" strike="noStrike" cap="none" dirty="0" err="1">
                          <a:solidFill>
                            <a:srgbClr val="000000"/>
                          </a:solidFill>
                          <a:effectLst/>
                          <a:latin typeface="+mn-lt"/>
                          <a:ea typeface="+mn-ea"/>
                          <a:cs typeface="+mn-cs"/>
                          <a:sym typeface="Arial"/>
                        </a:rPr>
                        <a:t>definition</a:t>
                      </a:r>
                      <a:r>
                        <a:rPr lang="fr-FR" sz="1000" b="0" i="0" u="none" strike="noStrike" cap="none" dirty="0">
                          <a:solidFill>
                            <a:srgbClr val="000000"/>
                          </a:solidFill>
                          <a:effectLst/>
                          <a:latin typeface="+mn-lt"/>
                          <a:ea typeface="+mn-ea"/>
                          <a:cs typeface="+mn-cs"/>
                          <a:sym typeface="Arial"/>
                        </a:rPr>
                        <a:t> of population, </a:t>
                      </a:r>
                      <a:r>
                        <a:rPr lang="fr-FR" sz="1000" b="0" i="0" u="none" strike="noStrike" cap="none" dirty="0" err="1">
                          <a:solidFill>
                            <a:srgbClr val="000000"/>
                          </a:solidFill>
                          <a:effectLst/>
                          <a:latin typeface="+mn-lt"/>
                          <a:ea typeface="+mn-ea"/>
                          <a:cs typeface="+mn-cs"/>
                          <a:sym typeface="Arial"/>
                        </a:rPr>
                        <a:t>which</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counts</a:t>
                      </a:r>
                      <a:r>
                        <a:rPr lang="fr-FR" sz="1000" b="0" i="0" u="none" strike="noStrike" cap="none" dirty="0">
                          <a:solidFill>
                            <a:srgbClr val="000000"/>
                          </a:solidFill>
                          <a:effectLst/>
                          <a:latin typeface="+mn-lt"/>
                          <a:ea typeface="+mn-ea"/>
                          <a:cs typeface="+mn-cs"/>
                          <a:sym typeface="Arial"/>
                        </a:rPr>
                        <a:t> all </a:t>
                      </a:r>
                      <a:r>
                        <a:rPr lang="fr-FR" sz="1000" b="0" i="0" u="none" strike="noStrike" cap="none" dirty="0" err="1">
                          <a:solidFill>
                            <a:srgbClr val="000000"/>
                          </a:solidFill>
                          <a:effectLst/>
                          <a:latin typeface="+mn-lt"/>
                          <a:ea typeface="+mn-ea"/>
                          <a:cs typeface="+mn-cs"/>
                          <a:sym typeface="Arial"/>
                        </a:rPr>
                        <a:t>residents</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regardless</a:t>
                      </a:r>
                      <a:r>
                        <a:rPr lang="fr-FR" sz="1000" b="0" i="0" u="none" strike="noStrike" cap="none" dirty="0">
                          <a:solidFill>
                            <a:srgbClr val="000000"/>
                          </a:solidFill>
                          <a:effectLst/>
                          <a:latin typeface="+mn-lt"/>
                          <a:ea typeface="+mn-ea"/>
                          <a:cs typeface="+mn-cs"/>
                          <a:sym typeface="Arial"/>
                        </a:rPr>
                        <a:t> of </a:t>
                      </a:r>
                      <a:r>
                        <a:rPr lang="fr-FR" sz="1000" b="0" i="0" u="none" strike="noStrike" cap="none" dirty="0" err="1">
                          <a:solidFill>
                            <a:srgbClr val="000000"/>
                          </a:solidFill>
                          <a:effectLst/>
                          <a:latin typeface="+mn-lt"/>
                          <a:ea typeface="+mn-ea"/>
                          <a:cs typeface="+mn-cs"/>
                          <a:sym typeface="Arial"/>
                        </a:rPr>
                        <a:t>legal</a:t>
                      </a:r>
                      <a:r>
                        <a:rPr lang="fr-FR" sz="1000" b="0" i="0" u="none" strike="noStrike" cap="none" dirty="0">
                          <a:solidFill>
                            <a:srgbClr val="000000"/>
                          </a:solidFill>
                          <a:effectLst/>
                          <a:latin typeface="+mn-lt"/>
                          <a:ea typeface="+mn-ea"/>
                          <a:cs typeface="+mn-cs"/>
                          <a:sym typeface="Arial"/>
                        </a:rPr>
                        <a:t> </a:t>
                      </a:r>
                      <a:r>
                        <a:rPr lang="fr-FR" sz="1000" b="0" i="0" u="none" strike="noStrike" cap="none" dirty="0" err="1">
                          <a:solidFill>
                            <a:srgbClr val="000000"/>
                          </a:solidFill>
                          <a:effectLst/>
                          <a:latin typeface="+mn-lt"/>
                          <a:ea typeface="+mn-ea"/>
                          <a:cs typeface="+mn-cs"/>
                          <a:sym typeface="Arial"/>
                        </a:rPr>
                        <a:t>status</a:t>
                      </a:r>
                      <a:r>
                        <a:rPr lang="fr-FR" sz="1000" b="0" i="0" u="none" strike="noStrike" cap="none" dirty="0">
                          <a:solidFill>
                            <a:srgbClr val="000000"/>
                          </a:solidFill>
                          <a:effectLst/>
                          <a:latin typeface="+mn-lt"/>
                          <a:ea typeface="+mn-ea"/>
                          <a:cs typeface="+mn-cs"/>
                          <a:sym typeface="Arial"/>
                        </a:rPr>
                        <a:t> or </a:t>
                      </a:r>
                      <a:r>
                        <a:rPr lang="fr-FR" sz="1000" b="0" i="0" u="none" strike="noStrike" cap="none" dirty="0" err="1">
                          <a:solidFill>
                            <a:srgbClr val="000000"/>
                          </a:solidFill>
                          <a:effectLst/>
                          <a:latin typeface="+mn-lt"/>
                          <a:ea typeface="+mn-ea"/>
                          <a:cs typeface="+mn-cs"/>
                          <a:sym typeface="Arial"/>
                        </a:rPr>
                        <a:t>citizenship</a:t>
                      </a:r>
                      <a:r>
                        <a:rPr lang="fr-FR" sz="1000" b="0" i="0" u="none" strike="noStrike" cap="none" dirty="0">
                          <a:solidFill>
                            <a:srgbClr val="000000"/>
                          </a:solidFill>
                          <a:effectLst/>
                          <a:latin typeface="+mn-lt"/>
                          <a:ea typeface="+mn-ea"/>
                          <a:cs typeface="+mn-cs"/>
                          <a:sym typeface="Aria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323785869"/>
                  </a:ext>
                </a:extLst>
              </a:tr>
            </a:tbl>
          </a:graphicData>
        </a:graphic>
      </p:graphicFrame>
      <p:sp>
        <p:nvSpPr>
          <p:cNvPr id="8" name="ZoneTexte 7">
            <a:extLst>
              <a:ext uri="{FF2B5EF4-FFF2-40B4-BE49-F238E27FC236}">
                <a16:creationId xmlns:a16="http://schemas.microsoft.com/office/drawing/2014/main" id="{049FE657-0E36-933D-4D6F-E2AE6C7E90B1}"/>
              </a:ext>
            </a:extLst>
          </p:cNvPr>
          <p:cNvSpPr txBox="1"/>
          <p:nvPr/>
        </p:nvSpPr>
        <p:spPr>
          <a:xfrm>
            <a:off x="2226863" y="46361"/>
            <a:ext cx="5238974" cy="369332"/>
          </a:xfrm>
          <a:prstGeom prst="rect">
            <a:avLst/>
          </a:prstGeom>
          <a:noFill/>
        </p:spPr>
        <p:txBody>
          <a:bodyPr wrap="square" rtlCol="0">
            <a:spAutoFit/>
          </a:bodyPr>
          <a:lstStyle/>
          <a:p>
            <a:r>
              <a:rPr lang="fr-FR" sz="1800" b="1" dirty="0">
                <a:solidFill>
                  <a:schemeClr val="dk1"/>
                </a:solidFill>
                <a:latin typeface="Dosis" pitchFamily="2" charset="77"/>
                <a:sym typeface="Dosis"/>
              </a:rPr>
              <a:t>Richesse et allocation des richesses dans l’éducation </a:t>
            </a:r>
            <a:endParaRPr lang="fr-FR" sz="1800" b="1" dirty="0">
              <a:latin typeface="Dosis" pitchFamily="2" charset="77"/>
            </a:endParaRPr>
          </a:p>
        </p:txBody>
      </p:sp>
      <p:sp>
        <p:nvSpPr>
          <p:cNvPr id="9" name="ZoneTexte 8">
            <a:extLst>
              <a:ext uri="{FF2B5EF4-FFF2-40B4-BE49-F238E27FC236}">
                <a16:creationId xmlns:a16="http://schemas.microsoft.com/office/drawing/2014/main" id="{0E691E7D-42B6-5F92-2BC9-11F01C847C92}"/>
              </a:ext>
            </a:extLst>
          </p:cNvPr>
          <p:cNvSpPr txBox="1"/>
          <p:nvPr/>
        </p:nvSpPr>
        <p:spPr>
          <a:xfrm>
            <a:off x="3870063" y="1600663"/>
            <a:ext cx="1403873" cy="369332"/>
          </a:xfrm>
          <a:prstGeom prst="rect">
            <a:avLst/>
          </a:prstGeom>
          <a:noFill/>
        </p:spPr>
        <p:txBody>
          <a:bodyPr wrap="square" rtlCol="0">
            <a:spAutoFit/>
          </a:bodyPr>
          <a:lstStyle/>
          <a:p>
            <a:r>
              <a:rPr lang="fr-FR" sz="1800" b="1" dirty="0">
                <a:solidFill>
                  <a:schemeClr val="dk1"/>
                </a:solidFill>
                <a:latin typeface="Dosis" pitchFamily="2" charset="77"/>
                <a:sym typeface="Dosis"/>
              </a:rPr>
              <a:t>Population</a:t>
            </a:r>
            <a:endParaRPr lang="fr-FR" sz="1800" b="1" dirty="0">
              <a:latin typeface="Dosis" pitchFamily="2" charset="77"/>
            </a:endParaRPr>
          </a:p>
        </p:txBody>
      </p:sp>
      <p:sp>
        <p:nvSpPr>
          <p:cNvPr id="10" name="ZoneTexte 9">
            <a:extLst>
              <a:ext uri="{FF2B5EF4-FFF2-40B4-BE49-F238E27FC236}">
                <a16:creationId xmlns:a16="http://schemas.microsoft.com/office/drawing/2014/main" id="{9EE91CEA-6261-898A-3674-A8A4ACC6E680}"/>
              </a:ext>
            </a:extLst>
          </p:cNvPr>
          <p:cNvSpPr txBox="1"/>
          <p:nvPr/>
        </p:nvSpPr>
        <p:spPr>
          <a:xfrm>
            <a:off x="3870063" y="3369702"/>
            <a:ext cx="1403873" cy="369332"/>
          </a:xfrm>
          <a:prstGeom prst="rect">
            <a:avLst/>
          </a:prstGeom>
          <a:noFill/>
        </p:spPr>
        <p:txBody>
          <a:bodyPr wrap="square" rtlCol="0">
            <a:spAutoFit/>
          </a:bodyPr>
          <a:lstStyle/>
          <a:p>
            <a:r>
              <a:rPr lang="fr-FR" sz="1800" b="1" dirty="0">
                <a:solidFill>
                  <a:schemeClr val="dk1"/>
                </a:solidFill>
                <a:latin typeface="Dosis" pitchFamily="2" charset="77"/>
                <a:sym typeface="Dosis"/>
              </a:rPr>
              <a:t>Evolution</a:t>
            </a:r>
            <a:endParaRPr lang="fr-FR" sz="1800" b="1" dirty="0">
              <a:latin typeface="Dosis" pitchFamily="2" charset="77"/>
            </a:endParaRPr>
          </a:p>
        </p:txBody>
      </p:sp>
    </p:spTree>
    <p:extLst>
      <p:ext uri="{BB962C8B-B14F-4D97-AF65-F5344CB8AC3E}">
        <p14:creationId xmlns:p14="http://schemas.microsoft.com/office/powerpoint/2010/main" val="3816654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4" y="-105177"/>
            <a:ext cx="6529953" cy="857400"/>
          </a:xfrm>
        </p:spPr>
        <p:txBody>
          <a:bodyPr/>
          <a:lstStyle/>
          <a:p>
            <a:pPr marL="285750" indent="-285750">
              <a:buFont typeface="Wingdings" pitchFamily="2" charset="2"/>
              <a:buChar char="q"/>
            </a:pPr>
            <a:r>
              <a:rPr lang="fr-FR" dirty="0"/>
              <a:t>Autres critères d’étude</a:t>
            </a:r>
          </a:p>
        </p:txBody>
      </p:sp>
      <p:sp>
        <p:nvSpPr>
          <p:cNvPr id="3" name="Espace réservé du texte 2">
            <a:extLst>
              <a:ext uri="{FF2B5EF4-FFF2-40B4-BE49-F238E27FC236}">
                <a16:creationId xmlns:a16="http://schemas.microsoft.com/office/drawing/2014/main" id="{F095F0B9-3427-3054-0121-9E8C450338C4}"/>
              </a:ext>
            </a:extLst>
          </p:cNvPr>
          <p:cNvSpPr>
            <a:spLocks noGrp="1"/>
          </p:cNvSpPr>
          <p:nvPr>
            <p:ph type="body" idx="1"/>
          </p:nvPr>
        </p:nvSpPr>
        <p:spPr>
          <a:xfrm>
            <a:off x="747924" y="901621"/>
            <a:ext cx="6140400" cy="703245"/>
          </a:xfrm>
        </p:spPr>
        <p:txBody>
          <a:bodyPr/>
          <a:lstStyle/>
          <a:p>
            <a:pPr marL="69850" indent="0">
              <a:buNone/>
            </a:pPr>
            <a:r>
              <a:rPr lang="fr-FR" sz="1400" dirty="0"/>
              <a:t>On ne va pas choisir d’année d’étude.</a:t>
            </a:r>
            <a:br>
              <a:rPr lang="fr-FR" sz="1400" dirty="0"/>
            </a:br>
            <a:r>
              <a:rPr lang="fr-FR" sz="1400" dirty="0"/>
              <a:t>Au lieu de ça, on simplifie le </a:t>
            </a:r>
            <a:r>
              <a:rPr lang="fr-FR" sz="1400" dirty="0" err="1"/>
              <a:t>dataset</a:t>
            </a:r>
            <a:r>
              <a:rPr lang="fr-FR" sz="1400" dirty="0"/>
              <a:t> en ne gardant qu'une valeur d'étude pour chaque pays.</a:t>
            </a:r>
            <a:br>
              <a:rPr lang="fr-FR" sz="1400" dirty="0"/>
            </a:br>
            <a:endParaRPr lang="fr-FR" sz="1400" dirty="0"/>
          </a:p>
          <a:p>
            <a:pPr marL="69850" indent="0">
              <a:buNone/>
            </a:pPr>
            <a:r>
              <a:rPr lang="fr-FR" sz="1400" dirty="0"/>
              <a:t>Pour se faire on choisit la valeur non Nan la plus proche de notre année d'étude (2017) :</a:t>
            </a:r>
          </a:p>
          <a:p>
            <a:pPr>
              <a:buFont typeface="Courier New" panose="02070309020205020404" pitchFamily="49" charset="0"/>
              <a:buChar char="o"/>
            </a:pPr>
            <a:endParaRPr lang="fr-FR" sz="1400" b="1" dirty="0"/>
          </a:p>
          <a:p>
            <a:endParaRPr lang="fr-FR" sz="1100"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14</a:t>
            </a:fld>
            <a:endParaRPr lang="fr-FR"/>
          </a:p>
        </p:txBody>
      </p:sp>
      <p:sp>
        <p:nvSpPr>
          <p:cNvPr id="6" name="Espace réservé du texte 2">
            <a:extLst>
              <a:ext uri="{FF2B5EF4-FFF2-40B4-BE49-F238E27FC236}">
                <a16:creationId xmlns:a16="http://schemas.microsoft.com/office/drawing/2014/main" id="{E143BED1-36DE-BB63-467D-C7C0E36E0242}"/>
              </a:ext>
            </a:extLst>
          </p:cNvPr>
          <p:cNvSpPr txBox="1">
            <a:spLocks/>
          </p:cNvSpPr>
          <p:nvPr/>
        </p:nvSpPr>
        <p:spPr>
          <a:xfrm>
            <a:off x="854489" y="543654"/>
            <a:ext cx="7435022" cy="5949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a:buFont typeface="Courier New" panose="02070309020205020404" pitchFamily="49" charset="0"/>
              <a:buChar char="o"/>
            </a:pPr>
            <a:r>
              <a:rPr lang="fr-FR" sz="1400" b="1" dirty="0"/>
              <a:t>Choix de l’année d’étude</a:t>
            </a:r>
            <a:endParaRPr lang="fr-FR" sz="1100" b="1" dirty="0"/>
          </a:p>
        </p:txBody>
      </p:sp>
      <p:pic>
        <p:nvPicPr>
          <p:cNvPr id="8" name="Image 7" descr="Une image contenant texte&#10;&#10;Description générée automatiquement">
            <a:extLst>
              <a:ext uri="{FF2B5EF4-FFF2-40B4-BE49-F238E27FC236}">
                <a16:creationId xmlns:a16="http://schemas.microsoft.com/office/drawing/2014/main" id="{A345B793-ED7B-A45A-913F-8083FC742D01}"/>
              </a:ext>
            </a:extLst>
          </p:cNvPr>
          <p:cNvPicPr>
            <a:picLocks noChangeAspect="1"/>
          </p:cNvPicPr>
          <p:nvPr/>
        </p:nvPicPr>
        <p:blipFill rotWithShape="1">
          <a:blip r:embed="rId2"/>
          <a:srcRect l="1807" b="6211"/>
          <a:stretch/>
        </p:blipFill>
        <p:spPr>
          <a:xfrm>
            <a:off x="866784" y="2460025"/>
            <a:ext cx="5902679" cy="1978506"/>
          </a:xfrm>
          <a:prstGeom prst="rect">
            <a:avLst/>
          </a:prstGeom>
        </p:spPr>
      </p:pic>
    </p:spTree>
    <p:extLst>
      <p:ext uri="{BB962C8B-B14F-4D97-AF65-F5344CB8AC3E}">
        <p14:creationId xmlns:p14="http://schemas.microsoft.com/office/powerpoint/2010/main" val="1001960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095F0B9-3427-3054-0121-9E8C450338C4}"/>
              </a:ext>
            </a:extLst>
          </p:cNvPr>
          <p:cNvSpPr>
            <a:spLocks noGrp="1"/>
          </p:cNvSpPr>
          <p:nvPr>
            <p:ph type="body" idx="1"/>
          </p:nvPr>
        </p:nvSpPr>
        <p:spPr>
          <a:xfrm>
            <a:off x="747924" y="901621"/>
            <a:ext cx="6140400" cy="703245"/>
          </a:xfrm>
        </p:spPr>
        <p:txBody>
          <a:bodyPr/>
          <a:lstStyle/>
          <a:p>
            <a:pPr marL="69850" indent="0">
              <a:buNone/>
            </a:pPr>
            <a:r>
              <a:rPr lang="fr-FR" sz="1400" dirty="0"/>
              <a:t>On ne garde que les pays remplis à au moins 90%, notre étude passe de 215 pays à 144 </a:t>
            </a:r>
          </a:p>
          <a:p>
            <a:pPr>
              <a:buFont typeface="Courier New" panose="02070309020205020404" pitchFamily="49" charset="0"/>
              <a:buChar char="o"/>
            </a:pPr>
            <a:endParaRPr lang="fr-FR" sz="1400" b="1" dirty="0"/>
          </a:p>
          <a:p>
            <a:endParaRPr lang="fr-FR" sz="1100"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15</a:t>
            </a:fld>
            <a:endParaRPr lang="fr-FR"/>
          </a:p>
        </p:txBody>
      </p:sp>
      <p:pic>
        <p:nvPicPr>
          <p:cNvPr id="6" name="Image 5">
            <a:extLst>
              <a:ext uri="{FF2B5EF4-FFF2-40B4-BE49-F238E27FC236}">
                <a16:creationId xmlns:a16="http://schemas.microsoft.com/office/drawing/2014/main" id="{095AE8A7-F10E-7FC1-8F34-F7BAC07F33E3}"/>
              </a:ext>
            </a:extLst>
          </p:cNvPr>
          <p:cNvPicPr>
            <a:picLocks noChangeAspect="1"/>
          </p:cNvPicPr>
          <p:nvPr/>
        </p:nvPicPr>
        <p:blipFill>
          <a:blip r:embed="rId2"/>
          <a:stretch>
            <a:fillRect/>
          </a:stretch>
        </p:blipFill>
        <p:spPr>
          <a:xfrm>
            <a:off x="1257299" y="1421380"/>
            <a:ext cx="4987383" cy="3430020"/>
          </a:xfrm>
          <a:prstGeom prst="rect">
            <a:avLst/>
          </a:prstGeom>
        </p:spPr>
      </p:pic>
      <p:sp>
        <p:nvSpPr>
          <p:cNvPr id="8" name="Espace réservé du texte 2">
            <a:extLst>
              <a:ext uri="{FF2B5EF4-FFF2-40B4-BE49-F238E27FC236}">
                <a16:creationId xmlns:a16="http://schemas.microsoft.com/office/drawing/2014/main" id="{F98EA71B-30CF-9D91-5C54-B1374838A86B}"/>
              </a:ext>
            </a:extLst>
          </p:cNvPr>
          <p:cNvSpPr txBox="1">
            <a:spLocks/>
          </p:cNvSpPr>
          <p:nvPr/>
        </p:nvSpPr>
        <p:spPr>
          <a:xfrm>
            <a:off x="961054" y="310895"/>
            <a:ext cx="7435022" cy="5949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a:buFont typeface="Courier New" panose="02070309020205020404" pitchFamily="49" charset="0"/>
              <a:buChar char="o"/>
            </a:pPr>
            <a:r>
              <a:rPr lang="fr-FR" sz="1400" b="1" dirty="0"/>
              <a:t>Filtre sur le </a:t>
            </a:r>
            <a:r>
              <a:rPr lang="fr-FR" sz="1400" b="1" dirty="0" err="1"/>
              <a:t>dataset</a:t>
            </a:r>
            <a:r>
              <a:rPr lang="fr-FR" sz="1400" b="1" dirty="0"/>
              <a:t> avec seuil de 90% de données remplies</a:t>
            </a:r>
            <a:br>
              <a:rPr lang="fr-FR" sz="1100" b="1" dirty="0"/>
            </a:br>
            <a:endParaRPr lang="fr-FR" sz="1100" b="1" dirty="0"/>
          </a:p>
        </p:txBody>
      </p:sp>
    </p:spTree>
    <p:extLst>
      <p:ext uri="{BB962C8B-B14F-4D97-AF65-F5344CB8AC3E}">
        <p14:creationId xmlns:p14="http://schemas.microsoft.com/office/powerpoint/2010/main" val="1739558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5" y="548074"/>
            <a:ext cx="8564026" cy="857400"/>
          </a:xfrm>
        </p:spPr>
        <p:txBody>
          <a:bodyPr/>
          <a:lstStyle/>
          <a:p>
            <a:pPr marL="285750" indent="-285750">
              <a:buFont typeface="Wingdings" pitchFamily="2" charset="2"/>
              <a:buChar char="q"/>
            </a:pPr>
            <a:r>
              <a:rPr lang="fr-FR" sz="2800" dirty="0"/>
              <a:t>Analyse univariée/bivariée</a:t>
            </a:r>
            <a:br>
              <a:rPr lang="fr-FR" sz="2800" dirty="0"/>
            </a:br>
            <a:br>
              <a:rPr lang="fr-FR" b="1" dirty="0"/>
            </a:br>
            <a:endParaRPr lang="fr-FR"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16</a:t>
            </a:fld>
            <a:endParaRPr lang="fr-FR"/>
          </a:p>
        </p:txBody>
      </p:sp>
      <p:sp>
        <p:nvSpPr>
          <p:cNvPr id="8" name="Espace réservé du texte 7">
            <a:extLst>
              <a:ext uri="{FF2B5EF4-FFF2-40B4-BE49-F238E27FC236}">
                <a16:creationId xmlns:a16="http://schemas.microsoft.com/office/drawing/2014/main" id="{56DB1F67-B449-1867-19C0-6D30A817BC73}"/>
              </a:ext>
            </a:extLst>
          </p:cNvPr>
          <p:cNvSpPr>
            <a:spLocks noGrp="1"/>
          </p:cNvSpPr>
          <p:nvPr>
            <p:ph type="body" idx="1"/>
          </p:nvPr>
        </p:nvSpPr>
        <p:spPr>
          <a:xfrm>
            <a:off x="747925" y="766350"/>
            <a:ext cx="6140400" cy="3610800"/>
          </a:xfrm>
        </p:spPr>
        <p:txBody>
          <a:bodyPr/>
          <a:lstStyle/>
          <a:p>
            <a:pPr marL="69850" indent="0">
              <a:buNone/>
            </a:pPr>
            <a:br>
              <a:rPr lang="fr-FR" dirty="0"/>
            </a:br>
            <a:endParaRPr lang="fr-FR" sz="1600" dirty="0"/>
          </a:p>
          <a:p>
            <a:pPr marL="69850" indent="0">
              <a:buNone/>
            </a:pPr>
            <a:r>
              <a:rPr lang="fr-FR" dirty="0"/>
              <a:t>Les analyses univariées et bivariées serviront dans notre étude à évaluer la pertinence des indicateurs ainsi qu’à attribuer un </a:t>
            </a:r>
            <a:r>
              <a:rPr lang="fr-FR" dirty="0" err="1"/>
              <a:t>poid</a:t>
            </a:r>
            <a:r>
              <a:rPr lang="fr-FR" dirty="0"/>
              <a:t> aux indicateurs pour la sélection des pays de prédilection</a:t>
            </a:r>
          </a:p>
          <a:p>
            <a:endParaRPr lang="fr-FR" dirty="0"/>
          </a:p>
        </p:txBody>
      </p:sp>
    </p:spTree>
    <p:extLst>
      <p:ext uri="{BB962C8B-B14F-4D97-AF65-F5344CB8AC3E}">
        <p14:creationId xmlns:p14="http://schemas.microsoft.com/office/powerpoint/2010/main" val="3227982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4677CDF-7DE9-7517-4927-05E41CE295B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t>17</a:t>
            </a:fld>
            <a:endParaRPr lang="fr-FR"/>
          </a:p>
        </p:txBody>
      </p:sp>
      <p:sp>
        <p:nvSpPr>
          <p:cNvPr id="3" name="Espace réservé du texte 7">
            <a:extLst>
              <a:ext uri="{FF2B5EF4-FFF2-40B4-BE49-F238E27FC236}">
                <a16:creationId xmlns:a16="http://schemas.microsoft.com/office/drawing/2014/main" id="{98B6EF64-D469-8CA7-ADAE-488B29D5E63B}"/>
              </a:ext>
            </a:extLst>
          </p:cNvPr>
          <p:cNvSpPr txBox="1">
            <a:spLocks/>
          </p:cNvSpPr>
          <p:nvPr/>
        </p:nvSpPr>
        <p:spPr>
          <a:xfrm>
            <a:off x="1323380" y="-183214"/>
            <a:ext cx="7541839" cy="19399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a:buFont typeface="Courier New" panose="02070309020205020404" pitchFamily="49" charset="0"/>
              <a:buChar char="o"/>
            </a:pPr>
            <a:r>
              <a:rPr lang="fr-FR" dirty="0"/>
              <a:t>Analyse univariée</a:t>
            </a:r>
          </a:p>
          <a:p>
            <a:pPr marL="69850" indent="0">
              <a:buNone/>
            </a:pPr>
            <a:r>
              <a:rPr lang="fr-FR" sz="1600" dirty="0">
                <a:cs typeface="Arial"/>
                <a:sym typeface="Arial"/>
              </a:rPr>
              <a:t>On constate une grande disparité des ordres de grandeur entre les indicateurs.</a:t>
            </a:r>
          </a:p>
        </p:txBody>
      </p:sp>
      <p:pic>
        <p:nvPicPr>
          <p:cNvPr id="4" name="Image 3" descr="Une image contenant table&#10;&#10;Description générée automatiquement">
            <a:extLst>
              <a:ext uri="{FF2B5EF4-FFF2-40B4-BE49-F238E27FC236}">
                <a16:creationId xmlns:a16="http://schemas.microsoft.com/office/drawing/2014/main" id="{FCACF659-AD5F-DBF6-4DEE-000BC551052E}"/>
              </a:ext>
            </a:extLst>
          </p:cNvPr>
          <p:cNvPicPr>
            <a:picLocks noChangeAspect="1"/>
          </p:cNvPicPr>
          <p:nvPr/>
        </p:nvPicPr>
        <p:blipFill>
          <a:blip r:embed="rId2"/>
          <a:stretch>
            <a:fillRect/>
          </a:stretch>
        </p:blipFill>
        <p:spPr>
          <a:xfrm>
            <a:off x="858107" y="746986"/>
            <a:ext cx="7326820" cy="1816677"/>
          </a:xfrm>
          <a:prstGeom prst="rect">
            <a:avLst/>
          </a:prstGeom>
        </p:spPr>
      </p:pic>
      <p:pic>
        <p:nvPicPr>
          <p:cNvPr id="6" name="Image 5">
            <a:extLst>
              <a:ext uri="{FF2B5EF4-FFF2-40B4-BE49-F238E27FC236}">
                <a16:creationId xmlns:a16="http://schemas.microsoft.com/office/drawing/2014/main" id="{23FB5494-23D5-D795-355B-A4FAEF840EC5}"/>
              </a:ext>
            </a:extLst>
          </p:cNvPr>
          <p:cNvPicPr>
            <a:picLocks noChangeAspect="1"/>
          </p:cNvPicPr>
          <p:nvPr/>
        </p:nvPicPr>
        <p:blipFill>
          <a:blip r:embed="rId3"/>
          <a:stretch>
            <a:fillRect/>
          </a:stretch>
        </p:blipFill>
        <p:spPr>
          <a:xfrm>
            <a:off x="7277857" y="3808926"/>
            <a:ext cx="1866143" cy="1242432"/>
          </a:xfrm>
          <a:prstGeom prst="rect">
            <a:avLst/>
          </a:prstGeom>
        </p:spPr>
      </p:pic>
      <p:pic>
        <p:nvPicPr>
          <p:cNvPr id="8" name="Image 7">
            <a:extLst>
              <a:ext uri="{FF2B5EF4-FFF2-40B4-BE49-F238E27FC236}">
                <a16:creationId xmlns:a16="http://schemas.microsoft.com/office/drawing/2014/main" id="{498F7A4D-9D25-7AB6-134E-88B9B8CAA3F0}"/>
              </a:ext>
            </a:extLst>
          </p:cNvPr>
          <p:cNvPicPr>
            <a:picLocks noChangeAspect="1"/>
          </p:cNvPicPr>
          <p:nvPr/>
        </p:nvPicPr>
        <p:blipFill>
          <a:blip r:embed="rId4"/>
          <a:stretch>
            <a:fillRect/>
          </a:stretch>
        </p:blipFill>
        <p:spPr>
          <a:xfrm>
            <a:off x="5465880" y="3870522"/>
            <a:ext cx="1811977" cy="1194925"/>
          </a:xfrm>
          <a:prstGeom prst="rect">
            <a:avLst/>
          </a:prstGeom>
        </p:spPr>
      </p:pic>
      <p:pic>
        <p:nvPicPr>
          <p:cNvPr id="10" name="Image 9">
            <a:extLst>
              <a:ext uri="{FF2B5EF4-FFF2-40B4-BE49-F238E27FC236}">
                <a16:creationId xmlns:a16="http://schemas.microsoft.com/office/drawing/2014/main" id="{C7FB20B2-841D-8B87-2292-7D3C38F8B95E}"/>
              </a:ext>
            </a:extLst>
          </p:cNvPr>
          <p:cNvPicPr>
            <a:picLocks noChangeAspect="1"/>
          </p:cNvPicPr>
          <p:nvPr/>
        </p:nvPicPr>
        <p:blipFill>
          <a:blip r:embed="rId5"/>
          <a:stretch>
            <a:fillRect/>
          </a:stretch>
        </p:blipFill>
        <p:spPr>
          <a:xfrm>
            <a:off x="3722726" y="3830914"/>
            <a:ext cx="1713039" cy="1153099"/>
          </a:xfrm>
          <a:prstGeom prst="rect">
            <a:avLst/>
          </a:prstGeom>
        </p:spPr>
      </p:pic>
      <p:pic>
        <p:nvPicPr>
          <p:cNvPr id="12" name="Image 11">
            <a:extLst>
              <a:ext uri="{FF2B5EF4-FFF2-40B4-BE49-F238E27FC236}">
                <a16:creationId xmlns:a16="http://schemas.microsoft.com/office/drawing/2014/main" id="{F59D6FB4-CA50-F623-6989-B0286150D915}"/>
              </a:ext>
            </a:extLst>
          </p:cNvPr>
          <p:cNvPicPr>
            <a:picLocks noChangeAspect="1"/>
          </p:cNvPicPr>
          <p:nvPr/>
        </p:nvPicPr>
        <p:blipFill>
          <a:blip r:embed="rId6"/>
          <a:stretch>
            <a:fillRect/>
          </a:stretch>
        </p:blipFill>
        <p:spPr>
          <a:xfrm>
            <a:off x="1990333" y="3871442"/>
            <a:ext cx="1713039" cy="1117400"/>
          </a:xfrm>
          <a:prstGeom prst="rect">
            <a:avLst/>
          </a:prstGeom>
        </p:spPr>
      </p:pic>
      <p:pic>
        <p:nvPicPr>
          <p:cNvPr id="14" name="Image 13">
            <a:extLst>
              <a:ext uri="{FF2B5EF4-FFF2-40B4-BE49-F238E27FC236}">
                <a16:creationId xmlns:a16="http://schemas.microsoft.com/office/drawing/2014/main" id="{DF7EFD26-67B6-67DE-5B08-C9E250DCF8D4}"/>
              </a:ext>
            </a:extLst>
          </p:cNvPr>
          <p:cNvPicPr>
            <a:picLocks noChangeAspect="1"/>
          </p:cNvPicPr>
          <p:nvPr/>
        </p:nvPicPr>
        <p:blipFill>
          <a:blip r:embed="rId7"/>
          <a:stretch>
            <a:fillRect/>
          </a:stretch>
        </p:blipFill>
        <p:spPr>
          <a:xfrm>
            <a:off x="59163" y="3808926"/>
            <a:ext cx="1899958" cy="1205557"/>
          </a:xfrm>
          <a:prstGeom prst="rect">
            <a:avLst/>
          </a:prstGeom>
        </p:spPr>
      </p:pic>
      <p:pic>
        <p:nvPicPr>
          <p:cNvPr id="16" name="Image 15">
            <a:extLst>
              <a:ext uri="{FF2B5EF4-FFF2-40B4-BE49-F238E27FC236}">
                <a16:creationId xmlns:a16="http://schemas.microsoft.com/office/drawing/2014/main" id="{715C1E44-5064-373D-1540-87815C24EA29}"/>
              </a:ext>
            </a:extLst>
          </p:cNvPr>
          <p:cNvPicPr>
            <a:picLocks noChangeAspect="1"/>
          </p:cNvPicPr>
          <p:nvPr/>
        </p:nvPicPr>
        <p:blipFill>
          <a:blip r:embed="rId8"/>
          <a:stretch>
            <a:fillRect/>
          </a:stretch>
        </p:blipFill>
        <p:spPr>
          <a:xfrm>
            <a:off x="7509277" y="2719829"/>
            <a:ext cx="1628069" cy="1086834"/>
          </a:xfrm>
          <a:prstGeom prst="rect">
            <a:avLst/>
          </a:prstGeom>
        </p:spPr>
      </p:pic>
      <p:pic>
        <p:nvPicPr>
          <p:cNvPr id="18" name="Image 17">
            <a:extLst>
              <a:ext uri="{FF2B5EF4-FFF2-40B4-BE49-F238E27FC236}">
                <a16:creationId xmlns:a16="http://schemas.microsoft.com/office/drawing/2014/main" id="{D30E8F2D-5DD7-B4BF-ED66-DF58C94A29A2}"/>
              </a:ext>
            </a:extLst>
          </p:cNvPr>
          <p:cNvPicPr>
            <a:picLocks noChangeAspect="1"/>
          </p:cNvPicPr>
          <p:nvPr/>
        </p:nvPicPr>
        <p:blipFill>
          <a:blip r:embed="rId9"/>
          <a:stretch>
            <a:fillRect/>
          </a:stretch>
        </p:blipFill>
        <p:spPr>
          <a:xfrm>
            <a:off x="54259" y="2723447"/>
            <a:ext cx="1584452" cy="1082065"/>
          </a:xfrm>
          <a:prstGeom prst="rect">
            <a:avLst/>
          </a:prstGeom>
        </p:spPr>
      </p:pic>
      <p:pic>
        <p:nvPicPr>
          <p:cNvPr id="20" name="Image 19">
            <a:extLst>
              <a:ext uri="{FF2B5EF4-FFF2-40B4-BE49-F238E27FC236}">
                <a16:creationId xmlns:a16="http://schemas.microsoft.com/office/drawing/2014/main" id="{5F0891DA-741B-DE79-B261-B87745BD2C48}"/>
              </a:ext>
            </a:extLst>
          </p:cNvPr>
          <p:cNvPicPr>
            <a:picLocks noChangeAspect="1"/>
          </p:cNvPicPr>
          <p:nvPr/>
        </p:nvPicPr>
        <p:blipFill>
          <a:blip r:embed="rId10"/>
          <a:stretch>
            <a:fillRect/>
          </a:stretch>
        </p:blipFill>
        <p:spPr>
          <a:xfrm>
            <a:off x="1633267" y="2784235"/>
            <a:ext cx="1475706" cy="1014800"/>
          </a:xfrm>
          <a:prstGeom prst="rect">
            <a:avLst/>
          </a:prstGeom>
        </p:spPr>
      </p:pic>
      <p:pic>
        <p:nvPicPr>
          <p:cNvPr id="22" name="Image 21">
            <a:extLst>
              <a:ext uri="{FF2B5EF4-FFF2-40B4-BE49-F238E27FC236}">
                <a16:creationId xmlns:a16="http://schemas.microsoft.com/office/drawing/2014/main" id="{3D2B241F-1DB5-332C-6E64-3C4844B4FD61}"/>
              </a:ext>
            </a:extLst>
          </p:cNvPr>
          <p:cNvPicPr>
            <a:picLocks noChangeAspect="1"/>
          </p:cNvPicPr>
          <p:nvPr/>
        </p:nvPicPr>
        <p:blipFill>
          <a:blip r:embed="rId11"/>
          <a:stretch>
            <a:fillRect/>
          </a:stretch>
        </p:blipFill>
        <p:spPr>
          <a:xfrm>
            <a:off x="3115884" y="2745231"/>
            <a:ext cx="1543918" cy="1050545"/>
          </a:xfrm>
          <a:prstGeom prst="rect">
            <a:avLst/>
          </a:prstGeom>
        </p:spPr>
      </p:pic>
      <p:pic>
        <p:nvPicPr>
          <p:cNvPr id="24" name="Image 23">
            <a:extLst>
              <a:ext uri="{FF2B5EF4-FFF2-40B4-BE49-F238E27FC236}">
                <a16:creationId xmlns:a16="http://schemas.microsoft.com/office/drawing/2014/main" id="{ED959093-68A6-64BC-7720-B6FE7489476A}"/>
              </a:ext>
            </a:extLst>
          </p:cNvPr>
          <p:cNvPicPr>
            <a:picLocks noChangeAspect="1"/>
          </p:cNvPicPr>
          <p:nvPr/>
        </p:nvPicPr>
        <p:blipFill>
          <a:blip r:embed="rId12"/>
          <a:stretch>
            <a:fillRect/>
          </a:stretch>
        </p:blipFill>
        <p:spPr>
          <a:xfrm>
            <a:off x="4649237" y="2711363"/>
            <a:ext cx="1564188" cy="1086834"/>
          </a:xfrm>
          <a:prstGeom prst="rect">
            <a:avLst/>
          </a:prstGeom>
        </p:spPr>
      </p:pic>
      <p:pic>
        <p:nvPicPr>
          <p:cNvPr id="26" name="Image 25">
            <a:extLst>
              <a:ext uri="{FF2B5EF4-FFF2-40B4-BE49-F238E27FC236}">
                <a16:creationId xmlns:a16="http://schemas.microsoft.com/office/drawing/2014/main" id="{3C383406-BBED-B47D-16B6-D83DB25EEA7F}"/>
              </a:ext>
            </a:extLst>
          </p:cNvPr>
          <p:cNvPicPr>
            <a:picLocks noChangeAspect="1"/>
          </p:cNvPicPr>
          <p:nvPr/>
        </p:nvPicPr>
        <p:blipFill>
          <a:blip r:embed="rId13"/>
          <a:stretch>
            <a:fillRect/>
          </a:stretch>
        </p:blipFill>
        <p:spPr>
          <a:xfrm>
            <a:off x="5871398" y="2732886"/>
            <a:ext cx="1626005" cy="1086834"/>
          </a:xfrm>
          <a:prstGeom prst="rect">
            <a:avLst/>
          </a:prstGeom>
        </p:spPr>
      </p:pic>
    </p:spTree>
    <p:extLst>
      <p:ext uri="{BB962C8B-B14F-4D97-AF65-F5344CB8AC3E}">
        <p14:creationId xmlns:p14="http://schemas.microsoft.com/office/powerpoint/2010/main" val="3851870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A30F16F-0FC6-232A-69A6-87706C138DE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t>18</a:t>
            </a:fld>
            <a:endParaRPr lang="fr-FR"/>
          </a:p>
        </p:txBody>
      </p:sp>
      <p:sp>
        <p:nvSpPr>
          <p:cNvPr id="5" name="ZoneTexte 4">
            <a:extLst>
              <a:ext uri="{FF2B5EF4-FFF2-40B4-BE49-F238E27FC236}">
                <a16:creationId xmlns:a16="http://schemas.microsoft.com/office/drawing/2014/main" id="{CC8C4F0E-1D21-8FBB-4E74-2DFBC258E457}"/>
              </a:ext>
            </a:extLst>
          </p:cNvPr>
          <p:cNvSpPr txBox="1"/>
          <p:nvPr/>
        </p:nvSpPr>
        <p:spPr>
          <a:xfrm>
            <a:off x="271154" y="2429934"/>
            <a:ext cx="8068514" cy="2277547"/>
          </a:xfrm>
          <a:prstGeom prst="rect">
            <a:avLst/>
          </a:prstGeom>
          <a:noFill/>
        </p:spPr>
        <p:txBody>
          <a:bodyPr wrap="square" rtlCol="0">
            <a:spAutoFit/>
          </a:bodyPr>
          <a:lstStyle/>
          <a:p>
            <a:pPr marL="285750" indent="-285750">
              <a:buFontTx/>
              <a:buChar char="-"/>
            </a:pPr>
            <a:r>
              <a:rPr lang="fr-FR" sz="1600" dirty="0">
                <a:solidFill>
                  <a:schemeClr val="dk1"/>
                </a:solidFill>
                <a:latin typeface="Dosis"/>
              </a:rPr>
              <a:t>L’analyse univariée sur l’indicateur « Population, total » nous permet de prendre connaissance des pays « </a:t>
            </a:r>
            <a:r>
              <a:rPr lang="fr-FR" sz="1600" dirty="0" err="1">
                <a:solidFill>
                  <a:schemeClr val="dk1"/>
                </a:solidFill>
                <a:latin typeface="Dosis"/>
              </a:rPr>
              <a:t>outliers</a:t>
            </a:r>
            <a:r>
              <a:rPr lang="fr-FR" sz="1600" dirty="0">
                <a:solidFill>
                  <a:schemeClr val="dk1"/>
                </a:solidFill>
                <a:latin typeface="Dosis"/>
              </a:rPr>
              <a:t> » de notre étude. Il n’est pas étonnant de retrouver des pays d’Asie par exemple pour la population totale la plus élevée, ces </a:t>
            </a:r>
            <a:r>
              <a:rPr lang="fr-FR" sz="1600" dirty="0" err="1">
                <a:solidFill>
                  <a:schemeClr val="dk1"/>
                </a:solidFill>
                <a:latin typeface="Dosis"/>
              </a:rPr>
              <a:t>outliers</a:t>
            </a:r>
            <a:r>
              <a:rPr lang="fr-FR" sz="1600" dirty="0">
                <a:solidFill>
                  <a:schemeClr val="dk1"/>
                </a:solidFill>
                <a:latin typeface="Dosis"/>
              </a:rPr>
              <a:t> sont cohérents, </a:t>
            </a:r>
          </a:p>
          <a:p>
            <a:pPr marL="285750" indent="-285750">
              <a:buFontTx/>
              <a:buChar char="-"/>
            </a:pPr>
            <a:endParaRPr lang="fr-FR" sz="1600" dirty="0">
              <a:solidFill>
                <a:schemeClr val="dk1"/>
              </a:solidFill>
              <a:latin typeface="Dosis"/>
            </a:endParaRPr>
          </a:p>
          <a:p>
            <a:pPr marL="285750" indent="-285750">
              <a:buFontTx/>
              <a:buChar char="-"/>
            </a:pPr>
            <a:r>
              <a:rPr lang="fr-FR" sz="1600" dirty="0">
                <a:solidFill>
                  <a:schemeClr val="dk1"/>
                </a:solidFill>
                <a:latin typeface="Dosis"/>
              </a:rPr>
              <a:t>L’analyse univariée nous permet de prendre en compte l’ordre de grandeur de chaque indicateur. On pensera donc à bien "normaliser" les valeurs prises dans les colonnes de chaque indicateur sélectionné. Ainsi, la valeur écrasante de la population ne faussera pas notre score en procédant à une mise à l’échelle.</a:t>
            </a:r>
          </a:p>
          <a:p>
            <a:endParaRPr lang="fr-FR" dirty="0"/>
          </a:p>
        </p:txBody>
      </p:sp>
      <p:pic>
        <p:nvPicPr>
          <p:cNvPr id="6" name="Image 5">
            <a:extLst>
              <a:ext uri="{FF2B5EF4-FFF2-40B4-BE49-F238E27FC236}">
                <a16:creationId xmlns:a16="http://schemas.microsoft.com/office/drawing/2014/main" id="{3A1384EF-9719-DE94-AD31-57538D5AD7AF}"/>
              </a:ext>
            </a:extLst>
          </p:cNvPr>
          <p:cNvPicPr>
            <a:picLocks noChangeAspect="1"/>
          </p:cNvPicPr>
          <p:nvPr/>
        </p:nvPicPr>
        <p:blipFill>
          <a:blip r:embed="rId2"/>
          <a:stretch>
            <a:fillRect/>
          </a:stretch>
        </p:blipFill>
        <p:spPr>
          <a:xfrm>
            <a:off x="887700" y="313164"/>
            <a:ext cx="6819900" cy="1751616"/>
          </a:xfrm>
          <a:prstGeom prst="rect">
            <a:avLst/>
          </a:prstGeom>
        </p:spPr>
      </p:pic>
    </p:spTree>
    <p:extLst>
      <p:ext uri="{BB962C8B-B14F-4D97-AF65-F5344CB8AC3E}">
        <p14:creationId xmlns:p14="http://schemas.microsoft.com/office/powerpoint/2010/main" val="1350354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0979EEB5-22A3-4DDE-D47E-F4CBB3FB073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19</a:t>
            </a:fld>
            <a:endParaRPr lang="fr-FR"/>
          </a:p>
        </p:txBody>
      </p:sp>
      <p:sp>
        <p:nvSpPr>
          <p:cNvPr id="3" name="ZoneTexte 2">
            <a:extLst>
              <a:ext uri="{FF2B5EF4-FFF2-40B4-BE49-F238E27FC236}">
                <a16:creationId xmlns:a16="http://schemas.microsoft.com/office/drawing/2014/main" id="{B08773BE-E687-E0F2-C43C-7DB2AB4EDC39}"/>
              </a:ext>
            </a:extLst>
          </p:cNvPr>
          <p:cNvSpPr txBox="1"/>
          <p:nvPr/>
        </p:nvSpPr>
        <p:spPr>
          <a:xfrm>
            <a:off x="326571" y="2570587"/>
            <a:ext cx="8332237" cy="2031325"/>
          </a:xfrm>
          <a:prstGeom prst="rect">
            <a:avLst/>
          </a:prstGeom>
          <a:noFill/>
        </p:spPr>
        <p:txBody>
          <a:bodyPr wrap="square" rtlCol="0">
            <a:spAutoFit/>
          </a:bodyPr>
          <a:lstStyle/>
          <a:p>
            <a:r>
              <a:rPr lang="fr-FR" sz="1600" dirty="0">
                <a:solidFill>
                  <a:schemeClr val="dk1"/>
                </a:solidFill>
                <a:latin typeface="Dosis"/>
              </a:rPr>
              <a:t>Analyse des boîtes à moustache « normalisées » :</a:t>
            </a:r>
          </a:p>
          <a:p>
            <a:endParaRPr lang="fr-FR" sz="1600" dirty="0">
              <a:solidFill>
                <a:schemeClr val="dk1"/>
              </a:solidFill>
              <a:latin typeface="Dosis"/>
            </a:endParaRPr>
          </a:p>
          <a:p>
            <a:r>
              <a:rPr lang="fr-FR" sz="1600" dirty="0">
                <a:solidFill>
                  <a:schemeClr val="dk1"/>
                </a:solidFill>
                <a:latin typeface="Dosis"/>
              </a:rPr>
              <a:t>- On repère beaucoup d’</a:t>
            </a:r>
            <a:r>
              <a:rPr lang="fr-FR" sz="1600" dirty="0" err="1">
                <a:solidFill>
                  <a:schemeClr val="dk1"/>
                </a:solidFill>
                <a:latin typeface="Dosis"/>
              </a:rPr>
              <a:t>outliers</a:t>
            </a:r>
            <a:r>
              <a:rPr lang="fr-FR" sz="1600" dirty="0">
                <a:solidFill>
                  <a:schemeClr val="dk1"/>
                </a:solidFill>
                <a:latin typeface="Dosis"/>
              </a:rPr>
              <a:t>, notamment sur notre indicateur  « population cible niveau étudiant », sur le PIB et le nombre d’ordinateurs personnels</a:t>
            </a:r>
          </a:p>
          <a:p>
            <a:pPr marL="285750" indent="-285750">
              <a:buFontTx/>
              <a:buChar char="-"/>
            </a:pPr>
            <a:endParaRPr lang="fr-FR" sz="1600" dirty="0">
              <a:solidFill>
                <a:schemeClr val="dk1"/>
              </a:solidFill>
              <a:latin typeface="Dosis"/>
            </a:endParaRPr>
          </a:p>
          <a:p>
            <a:r>
              <a:rPr lang="fr-FR" sz="1600" dirty="0">
                <a:solidFill>
                  <a:schemeClr val="dk1"/>
                </a:solidFill>
                <a:latin typeface="Dosis"/>
              </a:rPr>
              <a:t>- Les </a:t>
            </a:r>
            <a:r>
              <a:rPr lang="fr-FR" sz="1600" dirty="0">
                <a:solidFill>
                  <a:schemeClr val="dk1"/>
                </a:solidFill>
                <a:latin typeface="Dosis"/>
                <a:sym typeface="Dosis"/>
              </a:rPr>
              <a:t>indicateurs ont d’ailleurs globalement une distribution normale sauf pour ces 3 indicateurs</a:t>
            </a:r>
          </a:p>
          <a:p>
            <a:pPr marL="285750" indent="-285750">
              <a:buFontTx/>
              <a:buChar char="-"/>
            </a:pPr>
            <a:endParaRPr lang="fr-FR" sz="1600" dirty="0">
              <a:solidFill>
                <a:schemeClr val="dk1"/>
              </a:solidFill>
              <a:latin typeface="Dosis"/>
            </a:endParaRPr>
          </a:p>
          <a:p>
            <a:endParaRPr lang="fr-FR" dirty="0"/>
          </a:p>
        </p:txBody>
      </p:sp>
      <p:sp>
        <p:nvSpPr>
          <p:cNvPr id="7" name="Espace réservé du texte 7">
            <a:extLst>
              <a:ext uri="{FF2B5EF4-FFF2-40B4-BE49-F238E27FC236}">
                <a16:creationId xmlns:a16="http://schemas.microsoft.com/office/drawing/2014/main" id="{BAC82B3A-DD69-732B-BE2A-184E2BA19D49}"/>
              </a:ext>
            </a:extLst>
          </p:cNvPr>
          <p:cNvSpPr txBox="1">
            <a:spLocks/>
          </p:cNvSpPr>
          <p:nvPr/>
        </p:nvSpPr>
        <p:spPr>
          <a:xfrm>
            <a:off x="1501800" y="-77171"/>
            <a:ext cx="6140400" cy="19399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7350" algn="l" rtl="0">
              <a:lnSpc>
                <a:spcPct val="100000"/>
              </a:lnSpc>
              <a:spcBef>
                <a:spcPts val="600"/>
              </a:spcBef>
              <a:spcAft>
                <a:spcPts val="0"/>
              </a:spcAft>
              <a:buClr>
                <a:schemeClr val="dk1"/>
              </a:buClr>
              <a:buSzPts val="2500"/>
              <a:buFont typeface="Dosis"/>
              <a:buChar char="✘"/>
              <a:defRPr sz="2500" b="0" i="0" u="none" strike="noStrike" cap="none">
                <a:solidFill>
                  <a:schemeClr val="dk1"/>
                </a:solidFill>
                <a:latin typeface="Dosis"/>
                <a:ea typeface="Dosis"/>
                <a:cs typeface="Dosis"/>
                <a:sym typeface="Dosis"/>
              </a:defRPr>
            </a:lvl1pPr>
            <a:lvl2pPr marL="914400" marR="0" lvl="1"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2pPr>
            <a:lvl3pPr marL="1371600" marR="0" lvl="2" indent="-355600" algn="l" rtl="0">
              <a:lnSpc>
                <a:spcPct val="100000"/>
              </a:lnSpc>
              <a:spcBef>
                <a:spcPts val="0"/>
              </a:spcBef>
              <a:spcAft>
                <a:spcPts val="0"/>
              </a:spcAft>
              <a:buClr>
                <a:schemeClr val="dk1"/>
              </a:buClr>
              <a:buSzPts val="2000"/>
              <a:buFont typeface="Dosis"/>
              <a:buChar char="■"/>
              <a:defRPr sz="2000" b="0" i="0" u="none" strike="noStrike" cap="none">
                <a:solidFill>
                  <a:schemeClr val="dk1"/>
                </a:solidFill>
                <a:latin typeface="Dosis"/>
                <a:ea typeface="Dosis"/>
                <a:cs typeface="Dosis"/>
                <a:sym typeface="Dosis"/>
              </a:defRPr>
            </a:lvl3pPr>
            <a:lvl4pPr marL="1828800" marR="0" lvl="3"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4pPr>
            <a:lvl5pPr marL="2286000" marR="0" lvl="4"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5pPr>
            <a:lvl6pPr marL="2743200" marR="0" lvl="5"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6pPr>
            <a:lvl7pPr marL="3200400" marR="0" lvl="6"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7pPr>
            <a:lvl8pPr marL="3657600" marR="0" lvl="7"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8pPr>
            <a:lvl9pPr marL="4114800" marR="0" lvl="8" indent="-342900" algn="l" rtl="0">
              <a:lnSpc>
                <a:spcPct val="100000"/>
              </a:lnSpc>
              <a:spcBef>
                <a:spcPts val="0"/>
              </a:spcBef>
              <a:spcAft>
                <a:spcPts val="0"/>
              </a:spcAft>
              <a:buClr>
                <a:schemeClr val="dk1"/>
              </a:buClr>
              <a:buSzPts val="1800"/>
              <a:buFont typeface="Dosis"/>
              <a:buChar char="■"/>
              <a:defRPr sz="1800" b="0" i="0" u="none" strike="noStrike" cap="none">
                <a:solidFill>
                  <a:schemeClr val="dk1"/>
                </a:solidFill>
                <a:latin typeface="Dosis"/>
                <a:ea typeface="Dosis"/>
                <a:cs typeface="Dosis"/>
                <a:sym typeface="Dosis"/>
              </a:defRPr>
            </a:lvl9pPr>
          </a:lstStyle>
          <a:p>
            <a:pPr>
              <a:buFont typeface="Courier New" panose="02070309020205020404" pitchFamily="49" charset="0"/>
              <a:buChar char="o"/>
            </a:pPr>
            <a:r>
              <a:rPr lang="fr-FR" dirty="0"/>
              <a:t>Analyse univariée : normalisation</a:t>
            </a:r>
          </a:p>
          <a:p>
            <a:endParaRPr lang="fr-FR" dirty="0"/>
          </a:p>
        </p:txBody>
      </p:sp>
      <p:pic>
        <p:nvPicPr>
          <p:cNvPr id="4" name="Image 3">
            <a:extLst>
              <a:ext uri="{FF2B5EF4-FFF2-40B4-BE49-F238E27FC236}">
                <a16:creationId xmlns:a16="http://schemas.microsoft.com/office/drawing/2014/main" id="{2EE41F24-906B-E419-2BE9-40216931EEA0}"/>
              </a:ext>
            </a:extLst>
          </p:cNvPr>
          <p:cNvPicPr>
            <a:picLocks noChangeAspect="1"/>
          </p:cNvPicPr>
          <p:nvPr/>
        </p:nvPicPr>
        <p:blipFill>
          <a:blip r:embed="rId2"/>
          <a:stretch>
            <a:fillRect/>
          </a:stretch>
        </p:blipFill>
        <p:spPr>
          <a:xfrm>
            <a:off x="-79311" y="562831"/>
            <a:ext cx="9144000" cy="2007756"/>
          </a:xfrm>
          <a:prstGeom prst="rect">
            <a:avLst/>
          </a:prstGeom>
        </p:spPr>
      </p:pic>
    </p:spTree>
    <p:extLst>
      <p:ext uri="{BB962C8B-B14F-4D97-AF65-F5344CB8AC3E}">
        <p14:creationId xmlns:p14="http://schemas.microsoft.com/office/powerpoint/2010/main" val="197137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55BF28AA-9111-30C3-809F-76584C6BF5B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20</a:t>
            </a:fld>
            <a:endParaRPr lang="fr-FR"/>
          </a:p>
        </p:txBody>
      </p:sp>
      <p:sp>
        <p:nvSpPr>
          <p:cNvPr id="3" name="Espace réservé du texte 2">
            <a:extLst>
              <a:ext uri="{FF2B5EF4-FFF2-40B4-BE49-F238E27FC236}">
                <a16:creationId xmlns:a16="http://schemas.microsoft.com/office/drawing/2014/main" id="{D3C25683-C3E4-8EB4-20AE-139602261D50}"/>
              </a:ext>
            </a:extLst>
          </p:cNvPr>
          <p:cNvSpPr>
            <a:spLocks noGrp="1"/>
          </p:cNvSpPr>
          <p:nvPr>
            <p:ph type="body" idx="4294967295"/>
          </p:nvPr>
        </p:nvSpPr>
        <p:spPr>
          <a:xfrm>
            <a:off x="921942" y="2711549"/>
            <a:ext cx="7848816" cy="3609975"/>
          </a:xfrm>
        </p:spPr>
        <p:txBody>
          <a:bodyPr/>
          <a:lstStyle/>
          <a:p>
            <a:pPr marL="69850" indent="0">
              <a:buNone/>
            </a:pPr>
            <a:r>
              <a:rPr lang="fr-FR" sz="1200" b="1" dirty="0" err="1">
                <a:latin typeface="Andale Mono" panose="020B0509000000000004" pitchFamily="49" charset="0"/>
                <a:cs typeface="Beirut" pitchFamily="2" charset="-78"/>
              </a:rPr>
              <a:t>data_etude_pays_population_cible</a:t>
            </a:r>
            <a:r>
              <a:rPr lang="fr-FR" sz="1200" b="1" dirty="0">
                <a:latin typeface="Andale Mono" panose="020B0509000000000004" pitchFamily="49" charset="0"/>
                <a:cs typeface="Beirut" pitchFamily="2" charset="-78"/>
              </a:rPr>
              <a:t>['population cible niveau </a:t>
            </a:r>
            <a:r>
              <a:rPr lang="fr-FR" sz="1200" b="1" dirty="0" err="1">
                <a:latin typeface="Andale Mono" panose="020B0509000000000004" pitchFamily="49" charset="0"/>
                <a:cs typeface="Beirut" pitchFamily="2" charset="-78"/>
              </a:rPr>
              <a:t>etudiant</a:t>
            </a:r>
            <a:r>
              <a:rPr lang="fr-FR" sz="1200" b="1" dirty="0">
                <a:latin typeface="Andale Mono" panose="020B0509000000000004" pitchFamily="49" charset="0"/>
                <a:cs typeface="Beirut" pitchFamily="2" charset="-78"/>
              </a:rPr>
              <a:t>’]</a:t>
            </a:r>
          </a:p>
          <a:p>
            <a:pPr marL="69850" indent="0">
              <a:buNone/>
            </a:pPr>
            <a:r>
              <a:rPr lang="fr-FR" sz="1200" dirty="0">
                <a:latin typeface="Andale Mono" panose="020B0509000000000004" pitchFamily="49" charset="0"/>
                <a:cs typeface="Beirut" pitchFamily="2" charset="-78"/>
              </a:rPr>
              <a:t>=</a:t>
            </a:r>
          </a:p>
          <a:p>
            <a:pPr marL="69850" indent="0">
              <a:buNone/>
            </a:pP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data_etude_pays_population_cible</a:t>
            </a:r>
            <a:r>
              <a:rPr lang="fr-FR" sz="1200" dirty="0">
                <a:latin typeface="Andale Mono" panose="020B0509000000000004" pitchFamily="49" charset="0"/>
                <a:cs typeface="Beirut" pitchFamily="2" charset="-78"/>
              </a:rPr>
              <a:t>[' Percentage of population </a:t>
            </a:r>
            <a:r>
              <a:rPr lang="fr-FR" sz="1200" dirty="0" err="1">
                <a:latin typeface="Andale Mono" panose="020B0509000000000004" pitchFamily="49" charset="0"/>
                <a:cs typeface="Beirut" pitchFamily="2" charset="-78"/>
              </a:rPr>
              <a:t>age</a:t>
            </a:r>
            <a:r>
              <a:rPr lang="fr-FR" sz="1200" dirty="0">
                <a:latin typeface="Andale Mono" panose="020B0509000000000004" pitchFamily="49" charset="0"/>
                <a:cs typeface="Beirut" pitchFamily="2" charset="-78"/>
              </a:rPr>
              <a:t> 15-19 </a:t>
            </a:r>
            <a:r>
              <a:rPr lang="fr-FR" sz="1200" dirty="0" err="1">
                <a:latin typeface="Andale Mono" panose="020B0509000000000004" pitchFamily="49" charset="0"/>
                <a:cs typeface="Beirut" pitchFamily="2" charset="-78"/>
              </a:rPr>
              <a:t>who</a:t>
            </a: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completed</a:t>
            </a: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secondary</a:t>
            </a: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schooling</a:t>
            </a:r>
            <a:r>
              <a:rPr lang="fr-FR" sz="1200" dirty="0">
                <a:latin typeface="Andale Mono" panose="020B0509000000000004" pitchFamily="49" charset="0"/>
                <a:cs typeface="Beirut" pitchFamily="2" charset="-78"/>
              </a:rPr>
              <a:t> ‘]</a:t>
            </a:r>
          </a:p>
          <a:p>
            <a:pPr marL="69850" indent="0">
              <a:buNone/>
            </a:pPr>
            <a:r>
              <a:rPr lang="fr-FR" sz="1200" dirty="0">
                <a:latin typeface="Andale Mono" panose="020B0509000000000004" pitchFamily="49" charset="0"/>
                <a:cs typeface="Beirut" pitchFamily="2" charset="-78"/>
              </a:rPr>
              <a:t>+ </a:t>
            </a:r>
          </a:p>
          <a:p>
            <a:pPr marL="69850" indent="0">
              <a:buNone/>
            </a:pPr>
            <a:r>
              <a:rPr lang="fr-FR" sz="1200" dirty="0" err="1">
                <a:latin typeface="Andale Mono" panose="020B0509000000000004" pitchFamily="49" charset="0"/>
                <a:cs typeface="Beirut" pitchFamily="2" charset="-78"/>
              </a:rPr>
              <a:t>data_etude_pays_population_cible</a:t>
            </a:r>
            <a:r>
              <a:rPr lang="fr-FR" sz="1200" dirty="0">
                <a:latin typeface="Andale Mono" panose="020B0509000000000004" pitchFamily="49" charset="0"/>
                <a:cs typeface="Beirut" pitchFamily="2" charset="-78"/>
              </a:rPr>
              <a:t>['Percentage of population </a:t>
            </a:r>
            <a:r>
              <a:rPr lang="fr-FR" sz="1200" dirty="0" err="1">
                <a:latin typeface="Andale Mono" panose="020B0509000000000004" pitchFamily="49" charset="0"/>
                <a:cs typeface="Beirut" pitchFamily="2" charset="-78"/>
              </a:rPr>
              <a:t>age</a:t>
            </a:r>
            <a:r>
              <a:rPr lang="fr-FR" sz="1200" dirty="0">
                <a:latin typeface="Andale Mono" panose="020B0509000000000004" pitchFamily="49" charset="0"/>
                <a:cs typeface="Beirut" pitchFamily="2" charset="-78"/>
              </a:rPr>
              <a:t> 20-24 </a:t>
            </a:r>
            <a:r>
              <a:rPr lang="fr-FR" sz="1200" dirty="0" err="1">
                <a:latin typeface="Andale Mono" panose="020B0509000000000004" pitchFamily="49" charset="0"/>
                <a:cs typeface="Beirut" pitchFamily="2" charset="-78"/>
              </a:rPr>
              <a:t>who</a:t>
            </a: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completed</a:t>
            </a: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secondary</a:t>
            </a: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schooling</a:t>
            </a:r>
            <a:r>
              <a:rPr lang="fr-FR" sz="1200" dirty="0">
                <a:latin typeface="Andale Mono" panose="020B0509000000000004" pitchFamily="49" charset="0"/>
                <a:cs typeface="Beirut" pitchFamily="2" charset="-78"/>
              </a:rPr>
              <a:t> ’])</a:t>
            </a:r>
          </a:p>
          <a:p>
            <a:pPr marL="69850" indent="0">
              <a:buNone/>
            </a:pPr>
            <a:r>
              <a:rPr lang="fr-FR" sz="1200" dirty="0">
                <a:latin typeface="Andale Mono" panose="020B0509000000000004" pitchFamily="49" charset="0"/>
                <a:cs typeface="Beirut" pitchFamily="2" charset="-78"/>
              </a:rPr>
              <a:t>* </a:t>
            </a:r>
            <a:r>
              <a:rPr lang="fr-FR" sz="1200" dirty="0" err="1">
                <a:latin typeface="Andale Mono" panose="020B0509000000000004" pitchFamily="49" charset="0"/>
                <a:cs typeface="Beirut" pitchFamily="2" charset="-78"/>
              </a:rPr>
              <a:t>data_etude_pays_population_cible</a:t>
            </a:r>
            <a:r>
              <a:rPr lang="fr-FR" sz="1200" dirty="0">
                <a:latin typeface="Andale Mono" panose="020B0509000000000004" pitchFamily="49" charset="0"/>
                <a:cs typeface="Beirut" pitchFamily="2" charset="-78"/>
              </a:rPr>
              <a:t>['Population, total'])/100</a:t>
            </a:r>
          </a:p>
          <a:p>
            <a:pPr marL="69850" indent="0">
              <a:buNone/>
            </a:pPr>
            <a:endParaRPr lang="fr-FR" sz="1800" dirty="0">
              <a:latin typeface="Andale Mono" panose="020B0509000000000004" pitchFamily="49" charset="0"/>
              <a:cs typeface="Beirut" pitchFamily="2" charset="-78"/>
            </a:endParaRPr>
          </a:p>
        </p:txBody>
      </p:sp>
      <p:sp>
        <p:nvSpPr>
          <p:cNvPr id="6" name="Espace réservé du texte 7">
            <a:extLst>
              <a:ext uri="{FF2B5EF4-FFF2-40B4-BE49-F238E27FC236}">
                <a16:creationId xmlns:a16="http://schemas.microsoft.com/office/drawing/2014/main" id="{D7785B9D-10E8-3FC0-BBDB-17728CF70B37}"/>
              </a:ext>
            </a:extLst>
          </p:cNvPr>
          <p:cNvSpPr txBox="1">
            <a:spLocks/>
          </p:cNvSpPr>
          <p:nvPr/>
        </p:nvSpPr>
        <p:spPr>
          <a:xfrm>
            <a:off x="452150" y="243930"/>
            <a:ext cx="6140400" cy="8574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Font typeface="Courier New" panose="02070309020205020404" pitchFamily="49" charset="0"/>
              <a:buChar char="o"/>
            </a:pPr>
            <a:r>
              <a:rPr lang="fr-FR" sz="2400" dirty="0">
                <a:solidFill>
                  <a:schemeClr val="dk1"/>
                </a:solidFill>
                <a:latin typeface="Dosis"/>
              </a:rPr>
              <a:t>Analyse bivariée</a:t>
            </a:r>
            <a:br>
              <a:rPr lang="fr-FR" sz="2400" dirty="0"/>
            </a:br>
            <a:endParaRPr lang="fr-FR" sz="2400" dirty="0"/>
          </a:p>
        </p:txBody>
      </p:sp>
      <p:sp>
        <p:nvSpPr>
          <p:cNvPr id="2" name="ZoneTexte 1">
            <a:extLst>
              <a:ext uri="{FF2B5EF4-FFF2-40B4-BE49-F238E27FC236}">
                <a16:creationId xmlns:a16="http://schemas.microsoft.com/office/drawing/2014/main" id="{DE9784FB-DA77-B236-556D-8F4F13954BFC}"/>
              </a:ext>
            </a:extLst>
          </p:cNvPr>
          <p:cNvSpPr txBox="1"/>
          <p:nvPr/>
        </p:nvSpPr>
        <p:spPr>
          <a:xfrm>
            <a:off x="998142" y="1974673"/>
            <a:ext cx="6967825" cy="954107"/>
          </a:xfrm>
          <a:prstGeom prst="rect">
            <a:avLst/>
          </a:prstGeom>
          <a:noFill/>
        </p:spPr>
        <p:txBody>
          <a:bodyPr wrap="square" rtlCol="0">
            <a:spAutoFit/>
          </a:bodyPr>
          <a:lstStyle/>
          <a:p>
            <a:r>
              <a:rPr lang="fr-FR" dirty="0">
                <a:latin typeface="Dosis" pitchFamily="2" charset="77"/>
              </a:rPr>
              <a:t>Les deux événements ne sont pas indépendants :</a:t>
            </a:r>
          </a:p>
          <a:p>
            <a:r>
              <a:rPr lang="fr-FR" dirty="0">
                <a:latin typeface="Dosis" pitchFamily="2" charset="77"/>
              </a:rPr>
              <a:t>au risque de donner trop de poids aux pays avec forte population comme la Chine et l’Inde, on ne va garder qu'un indicateur de population.</a:t>
            </a:r>
          </a:p>
          <a:p>
            <a:endParaRPr lang="fr-FR" dirty="0">
              <a:latin typeface="Dosis" pitchFamily="2" charset="77"/>
            </a:endParaRPr>
          </a:p>
        </p:txBody>
      </p:sp>
      <p:pic>
        <p:nvPicPr>
          <p:cNvPr id="7" name="Image 6" descr="Une image contenant texte&#10;&#10;Description générée automatiquement">
            <a:extLst>
              <a:ext uri="{FF2B5EF4-FFF2-40B4-BE49-F238E27FC236}">
                <a16:creationId xmlns:a16="http://schemas.microsoft.com/office/drawing/2014/main" id="{58ECF842-5968-4F10-2C0B-49E04EBC2352}"/>
              </a:ext>
            </a:extLst>
          </p:cNvPr>
          <p:cNvPicPr>
            <a:picLocks noChangeAspect="1"/>
          </p:cNvPicPr>
          <p:nvPr/>
        </p:nvPicPr>
        <p:blipFill>
          <a:blip r:embed="rId2"/>
          <a:stretch>
            <a:fillRect/>
          </a:stretch>
        </p:blipFill>
        <p:spPr>
          <a:xfrm>
            <a:off x="1978025" y="649619"/>
            <a:ext cx="5187949" cy="1473752"/>
          </a:xfrm>
          <a:prstGeom prst="rect">
            <a:avLst/>
          </a:prstGeom>
        </p:spPr>
      </p:pic>
    </p:spTree>
    <p:extLst>
      <p:ext uri="{BB962C8B-B14F-4D97-AF65-F5344CB8AC3E}">
        <p14:creationId xmlns:p14="http://schemas.microsoft.com/office/powerpoint/2010/main" val="2872534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22218" y="229863"/>
            <a:ext cx="8564026" cy="857400"/>
          </a:xfrm>
        </p:spPr>
        <p:txBody>
          <a:bodyPr/>
          <a:lstStyle/>
          <a:p>
            <a:pPr marL="285750" indent="-285750">
              <a:buFont typeface="Wingdings" pitchFamily="2" charset="2"/>
              <a:buChar char="q"/>
            </a:pPr>
            <a:r>
              <a:rPr lang="fr-FR" sz="2800" dirty="0"/>
              <a:t>Analyse univariée/bivariée</a:t>
            </a:r>
            <a:br>
              <a:rPr lang="fr-FR" b="1" dirty="0"/>
            </a:br>
            <a:endParaRPr lang="fr-FR"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21</a:t>
            </a:fld>
            <a:endParaRPr lang="fr-FR"/>
          </a:p>
        </p:txBody>
      </p:sp>
      <p:sp>
        <p:nvSpPr>
          <p:cNvPr id="8" name="Espace réservé du texte 7">
            <a:extLst>
              <a:ext uri="{FF2B5EF4-FFF2-40B4-BE49-F238E27FC236}">
                <a16:creationId xmlns:a16="http://schemas.microsoft.com/office/drawing/2014/main" id="{56DB1F67-B449-1867-19C0-6D30A817BC73}"/>
              </a:ext>
            </a:extLst>
          </p:cNvPr>
          <p:cNvSpPr>
            <a:spLocks noGrp="1"/>
          </p:cNvSpPr>
          <p:nvPr>
            <p:ph type="body" idx="1"/>
          </p:nvPr>
        </p:nvSpPr>
        <p:spPr>
          <a:xfrm>
            <a:off x="722218" y="766350"/>
            <a:ext cx="6140400" cy="857400"/>
          </a:xfrm>
        </p:spPr>
        <p:txBody>
          <a:bodyPr/>
          <a:lstStyle/>
          <a:p>
            <a:pPr>
              <a:buFont typeface="Courier New" panose="02070309020205020404" pitchFamily="49" charset="0"/>
              <a:buChar char="o"/>
            </a:pPr>
            <a:r>
              <a:rPr lang="fr-FR" dirty="0"/>
              <a:t>Analyse bivariée</a:t>
            </a:r>
            <a:br>
              <a:rPr lang="fr-FR" dirty="0"/>
            </a:br>
            <a:endParaRPr lang="fr-FR" dirty="0"/>
          </a:p>
        </p:txBody>
      </p:sp>
      <p:pic>
        <p:nvPicPr>
          <p:cNvPr id="6" name="Image 5" descr="Une image contenant texte&#10;&#10;Description générée automatiquement">
            <a:extLst>
              <a:ext uri="{FF2B5EF4-FFF2-40B4-BE49-F238E27FC236}">
                <a16:creationId xmlns:a16="http://schemas.microsoft.com/office/drawing/2014/main" id="{C101567C-0B26-6E56-C80B-46C1B8B928DC}"/>
              </a:ext>
            </a:extLst>
          </p:cNvPr>
          <p:cNvPicPr>
            <a:picLocks noChangeAspect="1"/>
          </p:cNvPicPr>
          <p:nvPr/>
        </p:nvPicPr>
        <p:blipFill>
          <a:blip r:embed="rId2"/>
          <a:stretch>
            <a:fillRect/>
          </a:stretch>
        </p:blipFill>
        <p:spPr>
          <a:xfrm>
            <a:off x="1297901" y="1342097"/>
            <a:ext cx="5564717" cy="1485770"/>
          </a:xfrm>
          <a:prstGeom prst="rect">
            <a:avLst/>
          </a:prstGeom>
        </p:spPr>
      </p:pic>
      <p:pic>
        <p:nvPicPr>
          <p:cNvPr id="9" name="Image 8">
            <a:extLst>
              <a:ext uri="{FF2B5EF4-FFF2-40B4-BE49-F238E27FC236}">
                <a16:creationId xmlns:a16="http://schemas.microsoft.com/office/drawing/2014/main" id="{C7869BFF-9E03-3165-DDBA-E8288F7B5CC2}"/>
              </a:ext>
            </a:extLst>
          </p:cNvPr>
          <p:cNvPicPr>
            <a:picLocks noChangeAspect="1"/>
          </p:cNvPicPr>
          <p:nvPr/>
        </p:nvPicPr>
        <p:blipFill>
          <a:blip r:embed="rId3"/>
          <a:stretch>
            <a:fillRect/>
          </a:stretch>
        </p:blipFill>
        <p:spPr>
          <a:xfrm>
            <a:off x="1946275" y="2903186"/>
            <a:ext cx="3199194" cy="2119663"/>
          </a:xfrm>
          <a:prstGeom prst="rect">
            <a:avLst/>
          </a:prstGeom>
        </p:spPr>
      </p:pic>
    </p:spTree>
    <p:extLst>
      <p:ext uri="{BB962C8B-B14F-4D97-AF65-F5344CB8AC3E}">
        <p14:creationId xmlns:p14="http://schemas.microsoft.com/office/powerpoint/2010/main" val="3455518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47924" y="225024"/>
            <a:ext cx="6529953" cy="997285"/>
          </a:xfrm>
        </p:spPr>
        <p:txBody>
          <a:bodyPr/>
          <a:lstStyle/>
          <a:p>
            <a:pPr marL="285750" indent="-285750">
              <a:buFont typeface="Wingdings" pitchFamily="2" charset="2"/>
              <a:buChar char="q"/>
            </a:pPr>
            <a:r>
              <a:rPr lang="fr-FR" dirty="0"/>
              <a:t>Pays et régions avec un fort potentiel de clients pour nos services</a:t>
            </a:r>
            <a:br>
              <a:rPr lang="fr-FR" b="1" dirty="0"/>
            </a:br>
            <a:endParaRPr lang="fr-FR"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22</a:t>
            </a:fld>
            <a:endParaRPr lang="fr-FR"/>
          </a:p>
        </p:txBody>
      </p:sp>
      <p:sp>
        <p:nvSpPr>
          <p:cNvPr id="7" name="Espace réservé du texte 2">
            <a:extLst>
              <a:ext uri="{FF2B5EF4-FFF2-40B4-BE49-F238E27FC236}">
                <a16:creationId xmlns:a16="http://schemas.microsoft.com/office/drawing/2014/main" id="{FE1D93E3-1E2E-767F-5B63-E6CCB6B1459D}"/>
              </a:ext>
            </a:extLst>
          </p:cNvPr>
          <p:cNvSpPr>
            <a:spLocks noGrp="1"/>
          </p:cNvSpPr>
          <p:nvPr>
            <p:ph type="body" idx="1"/>
          </p:nvPr>
        </p:nvSpPr>
        <p:spPr>
          <a:xfrm>
            <a:off x="500460" y="828135"/>
            <a:ext cx="7435022" cy="363071"/>
          </a:xfrm>
        </p:spPr>
        <p:txBody>
          <a:bodyPr/>
          <a:lstStyle/>
          <a:p>
            <a:pPr>
              <a:buFont typeface="Courier New" panose="02070309020205020404" pitchFamily="49" charset="0"/>
              <a:buChar char="o"/>
            </a:pPr>
            <a:r>
              <a:rPr lang="fr-FR" sz="1400" b="1" dirty="0">
                <a:sym typeface="Arial"/>
              </a:rPr>
              <a:t>SCORING</a:t>
            </a:r>
            <a:endParaRPr lang="fr-FR" sz="1100" dirty="0"/>
          </a:p>
        </p:txBody>
      </p:sp>
      <p:sp>
        <p:nvSpPr>
          <p:cNvPr id="11" name="ZoneTexte 10">
            <a:extLst>
              <a:ext uri="{FF2B5EF4-FFF2-40B4-BE49-F238E27FC236}">
                <a16:creationId xmlns:a16="http://schemas.microsoft.com/office/drawing/2014/main" id="{1B973CDF-CA33-8E7B-2695-2579E4A8C8FB}"/>
              </a:ext>
            </a:extLst>
          </p:cNvPr>
          <p:cNvSpPr txBox="1"/>
          <p:nvPr/>
        </p:nvSpPr>
        <p:spPr>
          <a:xfrm>
            <a:off x="971839" y="1179410"/>
            <a:ext cx="5454373" cy="2062103"/>
          </a:xfrm>
          <a:prstGeom prst="rect">
            <a:avLst/>
          </a:prstGeom>
          <a:noFill/>
        </p:spPr>
        <p:txBody>
          <a:bodyPr wrap="square" rtlCol="0">
            <a:spAutoFit/>
          </a:bodyPr>
          <a:lstStyle/>
          <a:p>
            <a:r>
              <a:rPr lang="fr-FR" sz="1600" dirty="0">
                <a:solidFill>
                  <a:schemeClr val="dk1"/>
                </a:solidFill>
                <a:latin typeface="Dosis"/>
              </a:rPr>
              <a:t>On fixe le coefficient maximum à 10.</a:t>
            </a:r>
          </a:p>
          <a:p>
            <a:r>
              <a:rPr lang="fr-FR" sz="1600" dirty="0">
                <a:solidFill>
                  <a:schemeClr val="dk1"/>
                </a:solidFill>
                <a:latin typeface="Dosis"/>
              </a:rPr>
              <a:t>On va choisir le poids de nos indicateurs en fonction de l’importance accordé aux indicateurs.</a:t>
            </a:r>
            <a:br>
              <a:rPr lang="fr-FR" sz="1600" dirty="0">
                <a:solidFill>
                  <a:schemeClr val="dk1"/>
                </a:solidFill>
                <a:latin typeface="Dosis"/>
              </a:rPr>
            </a:br>
            <a:r>
              <a:rPr lang="fr-FR" sz="1600" dirty="0">
                <a:solidFill>
                  <a:schemeClr val="dk1"/>
                </a:solidFill>
                <a:latin typeface="Dosis"/>
              </a:rPr>
              <a:t>Le principal pour notre mission étant internet et la détention ou non d’un ordinateur personnel.</a:t>
            </a:r>
            <a:br>
              <a:rPr lang="fr-FR" sz="1600" dirty="0">
                <a:solidFill>
                  <a:schemeClr val="dk1"/>
                </a:solidFill>
                <a:latin typeface="Dosis"/>
              </a:rPr>
            </a:br>
            <a:br>
              <a:rPr lang="fr-FR" sz="1600" dirty="0">
                <a:solidFill>
                  <a:schemeClr val="dk1"/>
                </a:solidFill>
                <a:latin typeface="Dosis"/>
              </a:rPr>
            </a:br>
            <a:r>
              <a:rPr lang="fr-FR" sz="1600" dirty="0">
                <a:solidFill>
                  <a:schemeClr val="dk1"/>
                </a:solidFill>
                <a:latin typeface="Dosis"/>
              </a:rPr>
              <a:t>Pour l’instant nous n’attribuons qu’un coefficient de 1 pour la croissance de la population (qu’on augmentera pour les prédictions)</a:t>
            </a:r>
          </a:p>
        </p:txBody>
      </p:sp>
      <p:pic>
        <p:nvPicPr>
          <p:cNvPr id="5" name="Image 4" descr="Une image contenant texte&#10;&#10;Description générée automatiquement">
            <a:extLst>
              <a:ext uri="{FF2B5EF4-FFF2-40B4-BE49-F238E27FC236}">
                <a16:creationId xmlns:a16="http://schemas.microsoft.com/office/drawing/2014/main" id="{96D30EA8-19B9-59D2-9188-F66F3C35E9A7}"/>
              </a:ext>
            </a:extLst>
          </p:cNvPr>
          <p:cNvPicPr>
            <a:picLocks noChangeAspect="1"/>
          </p:cNvPicPr>
          <p:nvPr/>
        </p:nvPicPr>
        <p:blipFill>
          <a:blip r:embed="rId2"/>
          <a:stretch>
            <a:fillRect/>
          </a:stretch>
        </p:blipFill>
        <p:spPr>
          <a:xfrm>
            <a:off x="1060845" y="3224367"/>
            <a:ext cx="5365367" cy="1811988"/>
          </a:xfrm>
          <a:prstGeom prst="rect">
            <a:avLst/>
          </a:prstGeom>
        </p:spPr>
      </p:pic>
    </p:spTree>
    <p:extLst>
      <p:ext uri="{BB962C8B-B14F-4D97-AF65-F5344CB8AC3E}">
        <p14:creationId xmlns:p14="http://schemas.microsoft.com/office/powerpoint/2010/main" val="2790964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23</a:t>
            </a:fld>
            <a:endParaRPr lang="fr-FR"/>
          </a:p>
        </p:txBody>
      </p:sp>
      <p:sp>
        <p:nvSpPr>
          <p:cNvPr id="7" name="Espace réservé du texte 2">
            <a:extLst>
              <a:ext uri="{FF2B5EF4-FFF2-40B4-BE49-F238E27FC236}">
                <a16:creationId xmlns:a16="http://schemas.microsoft.com/office/drawing/2014/main" id="{FE1D93E3-1E2E-767F-5B63-E6CCB6B1459D}"/>
              </a:ext>
            </a:extLst>
          </p:cNvPr>
          <p:cNvSpPr>
            <a:spLocks noGrp="1"/>
          </p:cNvSpPr>
          <p:nvPr>
            <p:ph type="body" idx="1"/>
          </p:nvPr>
        </p:nvSpPr>
        <p:spPr>
          <a:xfrm>
            <a:off x="500460" y="707197"/>
            <a:ext cx="7435022" cy="363071"/>
          </a:xfrm>
        </p:spPr>
        <p:txBody>
          <a:bodyPr/>
          <a:lstStyle/>
          <a:p>
            <a:pPr>
              <a:buFont typeface="Courier New" panose="02070309020205020404" pitchFamily="49" charset="0"/>
              <a:buChar char="o"/>
            </a:pPr>
            <a:r>
              <a:rPr lang="fr-FR" sz="1400" b="1" dirty="0">
                <a:sym typeface="Arial"/>
              </a:rPr>
              <a:t>SCORING</a:t>
            </a:r>
            <a:endParaRPr lang="fr-FR" sz="1100" dirty="0"/>
          </a:p>
        </p:txBody>
      </p:sp>
      <p:pic>
        <p:nvPicPr>
          <p:cNvPr id="3" name="Image 2" descr="Une image contenant table&#10;&#10;Description générée automatiquement">
            <a:extLst>
              <a:ext uri="{FF2B5EF4-FFF2-40B4-BE49-F238E27FC236}">
                <a16:creationId xmlns:a16="http://schemas.microsoft.com/office/drawing/2014/main" id="{C4EFCF84-9139-B2EC-F324-0C78458327EF}"/>
              </a:ext>
            </a:extLst>
          </p:cNvPr>
          <p:cNvPicPr>
            <a:picLocks noChangeAspect="1"/>
          </p:cNvPicPr>
          <p:nvPr/>
        </p:nvPicPr>
        <p:blipFill>
          <a:blip r:embed="rId2"/>
          <a:stretch>
            <a:fillRect/>
          </a:stretch>
        </p:blipFill>
        <p:spPr>
          <a:xfrm>
            <a:off x="904875" y="1522337"/>
            <a:ext cx="3924300" cy="3200400"/>
          </a:xfrm>
          <a:prstGeom prst="rect">
            <a:avLst/>
          </a:prstGeom>
        </p:spPr>
      </p:pic>
    </p:spTree>
    <p:extLst>
      <p:ext uri="{BB962C8B-B14F-4D97-AF65-F5344CB8AC3E}">
        <p14:creationId xmlns:p14="http://schemas.microsoft.com/office/powerpoint/2010/main" val="1090681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EE151-C95B-10F5-00AF-C4D1E83EB245}"/>
              </a:ext>
            </a:extLst>
          </p:cNvPr>
          <p:cNvSpPr>
            <a:spLocks noGrp="1"/>
          </p:cNvSpPr>
          <p:nvPr>
            <p:ph type="title"/>
          </p:nvPr>
        </p:nvSpPr>
        <p:spPr>
          <a:xfrm>
            <a:off x="719049" y="-136156"/>
            <a:ext cx="7212169" cy="997285"/>
          </a:xfrm>
        </p:spPr>
        <p:txBody>
          <a:bodyPr/>
          <a:lstStyle/>
          <a:p>
            <a:pPr marL="285750" indent="-285750">
              <a:buFont typeface="Wingdings" pitchFamily="2" charset="2"/>
              <a:buChar char="q"/>
            </a:pPr>
            <a:r>
              <a:rPr lang="fr-FR" dirty="0"/>
              <a:t>Pays et régions avec un fort potentiel de clients pour nos services</a:t>
            </a:r>
            <a:br>
              <a:rPr lang="fr-FR" b="1" dirty="0"/>
            </a:br>
            <a:endParaRPr lang="fr-FR" dirty="0"/>
          </a:p>
        </p:txBody>
      </p:sp>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24</a:t>
            </a:fld>
            <a:endParaRPr lang="fr-FR"/>
          </a:p>
        </p:txBody>
      </p:sp>
      <p:sp>
        <p:nvSpPr>
          <p:cNvPr id="7" name="Espace réservé du texte 2">
            <a:extLst>
              <a:ext uri="{FF2B5EF4-FFF2-40B4-BE49-F238E27FC236}">
                <a16:creationId xmlns:a16="http://schemas.microsoft.com/office/drawing/2014/main" id="{DADF7FE9-626C-7E59-3D6D-DF140EB6E478}"/>
              </a:ext>
            </a:extLst>
          </p:cNvPr>
          <p:cNvSpPr>
            <a:spLocks noGrp="1"/>
          </p:cNvSpPr>
          <p:nvPr>
            <p:ph type="body" idx="1"/>
          </p:nvPr>
        </p:nvSpPr>
        <p:spPr>
          <a:xfrm>
            <a:off x="364969" y="504010"/>
            <a:ext cx="7435022" cy="1035884"/>
          </a:xfrm>
        </p:spPr>
        <p:txBody>
          <a:bodyPr/>
          <a:lstStyle/>
          <a:p>
            <a:pPr>
              <a:buFont typeface="Courier New" panose="02070309020205020404" pitchFamily="49" charset="0"/>
              <a:buChar char="o"/>
            </a:pPr>
            <a:r>
              <a:rPr lang="fr-FR" sz="1400" b="1" dirty="0"/>
              <a:t>choix de l’indicateur de prédiction (potentiel de croissance du pays)</a:t>
            </a:r>
          </a:p>
          <a:p>
            <a:pPr>
              <a:buFont typeface="Courier New" panose="02070309020205020404" pitchFamily="49" charset="0"/>
              <a:buChar char="o"/>
            </a:pPr>
            <a:endParaRPr lang="fr-FR" sz="1100" dirty="0"/>
          </a:p>
        </p:txBody>
      </p:sp>
      <p:sp>
        <p:nvSpPr>
          <p:cNvPr id="9" name="ZoneTexte 8">
            <a:extLst>
              <a:ext uri="{FF2B5EF4-FFF2-40B4-BE49-F238E27FC236}">
                <a16:creationId xmlns:a16="http://schemas.microsoft.com/office/drawing/2014/main" id="{9C1F0870-C515-47E5-52B5-219B81DD0F51}"/>
              </a:ext>
            </a:extLst>
          </p:cNvPr>
          <p:cNvSpPr txBox="1"/>
          <p:nvPr/>
        </p:nvSpPr>
        <p:spPr>
          <a:xfrm>
            <a:off x="847286" y="1722878"/>
            <a:ext cx="7212169" cy="307777"/>
          </a:xfrm>
          <a:prstGeom prst="rect">
            <a:avLst/>
          </a:prstGeom>
          <a:noFill/>
        </p:spPr>
        <p:txBody>
          <a:bodyPr wrap="square" rtlCol="0">
            <a:spAutoFit/>
          </a:bodyPr>
          <a:lstStyle/>
          <a:p>
            <a:r>
              <a:rPr lang="fr-FR" dirty="0"/>
              <a:t>Score de prédiction avec un coefficient de 10 pour l’indicateur « croissance du pays » :</a:t>
            </a:r>
          </a:p>
        </p:txBody>
      </p:sp>
      <p:pic>
        <p:nvPicPr>
          <p:cNvPr id="11" name="Image 10">
            <a:extLst>
              <a:ext uri="{FF2B5EF4-FFF2-40B4-BE49-F238E27FC236}">
                <a16:creationId xmlns:a16="http://schemas.microsoft.com/office/drawing/2014/main" id="{6C748921-8D41-615A-F18E-C481D6166F91}"/>
              </a:ext>
            </a:extLst>
          </p:cNvPr>
          <p:cNvPicPr>
            <a:picLocks noChangeAspect="1"/>
          </p:cNvPicPr>
          <p:nvPr/>
        </p:nvPicPr>
        <p:blipFill>
          <a:blip r:embed="rId2"/>
          <a:stretch>
            <a:fillRect/>
          </a:stretch>
        </p:blipFill>
        <p:spPr>
          <a:xfrm>
            <a:off x="1253569" y="2180060"/>
            <a:ext cx="6143127" cy="2897291"/>
          </a:xfrm>
          <a:prstGeom prst="rect">
            <a:avLst/>
          </a:prstGeom>
        </p:spPr>
      </p:pic>
      <p:pic>
        <p:nvPicPr>
          <p:cNvPr id="8" name="Image 7">
            <a:extLst>
              <a:ext uri="{FF2B5EF4-FFF2-40B4-BE49-F238E27FC236}">
                <a16:creationId xmlns:a16="http://schemas.microsoft.com/office/drawing/2014/main" id="{EDC37282-EE4C-2B5D-8A6F-B666DEB01FE5}"/>
              </a:ext>
            </a:extLst>
          </p:cNvPr>
          <p:cNvPicPr>
            <a:picLocks noChangeAspect="1"/>
          </p:cNvPicPr>
          <p:nvPr/>
        </p:nvPicPr>
        <p:blipFill>
          <a:blip r:embed="rId3"/>
          <a:stretch>
            <a:fillRect/>
          </a:stretch>
        </p:blipFill>
        <p:spPr>
          <a:xfrm>
            <a:off x="364969" y="1021952"/>
            <a:ext cx="7091346" cy="540103"/>
          </a:xfrm>
          <a:prstGeom prst="rect">
            <a:avLst/>
          </a:prstGeom>
        </p:spPr>
      </p:pic>
    </p:spTree>
    <p:extLst>
      <p:ext uri="{BB962C8B-B14F-4D97-AF65-F5344CB8AC3E}">
        <p14:creationId xmlns:p14="http://schemas.microsoft.com/office/powerpoint/2010/main" val="148270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6F32D00-0B8D-FD76-D37E-C95EDBF984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25</a:t>
            </a:fld>
            <a:endParaRPr lang="fr-FR"/>
          </a:p>
        </p:txBody>
      </p:sp>
      <p:sp>
        <p:nvSpPr>
          <p:cNvPr id="10" name="Espace réservé du texte 2">
            <a:extLst>
              <a:ext uri="{FF2B5EF4-FFF2-40B4-BE49-F238E27FC236}">
                <a16:creationId xmlns:a16="http://schemas.microsoft.com/office/drawing/2014/main" id="{CEB4F228-7851-1684-AC17-07B8D6D85E23}"/>
              </a:ext>
            </a:extLst>
          </p:cNvPr>
          <p:cNvSpPr>
            <a:spLocks noGrp="1"/>
          </p:cNvSpPr>
          <p:nvPr>
            <p:ph type="body" idx="1"/>
          </p:nvPr>
        </p:nvSpPr>
        <p:spPr>
          <a:xfrm>
            <a:off x="364969" y="504010"/>
            <a:ext cx="7435022" cy="1035884"/>
          </a:xfrm>
        </p:spPr>
        <p:txBody>
          <a:bodyPr/>
          <a:lstStyle/>
          <a:p>
            <a:pPr>
              <a:buFont typeface="Courier New" panose="02070309020205020404" pitchFamily="49" charset="0"/>
              <a:buChar char="o"/>
            </a:pPr>
            <a:r>
              <a:rPr lang="fr-FR" sz="1400" b="1" dirty="0"/>
              <a:t>Classement des pays en tenant compte de l’attractivité par régions</a:t>
            </a:r>
          </a:p>
          <a:p>
            <a:pPr>
              <a:buFont typeface="Courier New" panose="02070309020205020404" pitchFamily="49" charset="0"/>
              <a:buChar char="o"/>
            </a:pPr>
            <a:endParaRPr lang="fr-FR" sz="1400" b="1" dirty="0"/>
          </a:p>
          <a:p>
            <a:pPr>
              <a:buFont typeface="Courier New" panose="02070309020205020404" pitchFamily="49" charset="0"/>
              <a:buChar char="o"/>
            </a:pPr>
            <a:endParaRPr lang="fr-FR" sz="1100" dirty="0"/>
          </a:p>
        </p:txBody>
      </p:sp>
      <p:sp>
        <p:nvSpPr>
          <p:cNvPr id="11" name="ZoneTexte 10">
            <a:extLst>
              <a:ext uri="{FF2B5EF4-FFF2-40B4-BE49-F238E27FC236}">
                <a16:creationId xmlns:a16="http://schemas.microsoft.com/office/drawing/2014/main" id="{06F56B8B-DE03-4134-888B-51B60A8A833E}"/>
              </a:ext>
            </a:extLst>
          </p:cNvPr>
          <p:cNvSpPr txBox="1"/>
          <p:nvPr/>
        </p:nvSpPr>
        <p:spPr>
          <a:xfrm>
            <a:off x="777966" y="1021952"/>
            <a:ext cx="6609028" cy="523220"/>
          </a:xfrm>
          <a:prstGeom prst="rect">
            <a:avLst/>
          </a:prstGeom>
          <a:noFill/>
        </p:spPr>
        <p:txBody>
          <a:bodyPr wrap="square" rtlCol="0">
            <a:spAutoFit/>
          </a:bodyPr>
          <a:lstStyle/>
          <a:p>
            <a:r>
              <a:rPr lang="fr-FR" dirty="0"/>
              <a:t>Méthode de calcul : suppression des Nan en prenant la moyenne des valeurs par régions pour chacun des 7 indicateurs</a:t>
            </a:r>
          </a:p>
        </p:txBody>
      </p:sp>
      <p:pic>
        <p:nvPicPr>
          <p:cNvPr id="8" name="Image 7">
            <a:extLst>
              <a:ext uri="{FF2B5EF4-FFF2-40B4-BE49-F238E27FC236}">
                <a16:creationId xmlns:a16="http://schemas.microsoft.com/office/drawing/2014/main" id="{E0DA5F55-AB3D-F32E-5D60-734F1F70118E}"/>
              </a:ext>
            </a:extLst>
          </p:cNvPr>
          <p:cNvPicPr>
            <a:picLocks noChangeAspect="1"/>
          </p:cNvPicPr>
          <p:nvPr/>
        </p:nvPicPr>
        <p:blipFill>
          <a:blip r:embed="rId2"/>
          <a:stretch>
            <a:fillRect/>
          </a:stretch>
        </p:blipFill>
        <p:spPr>
          <a:xfrm>
            <a:off x="450694" y="1876861"/>
            <a:ext cx="7972334" cy="2350506"/>
          </a:xfrm>
          <a:prstGeom prst="rect">
            <a:avLst/>
          </a:prstGeom>
        </p:spPr>
      </p:pic>
      <p:sp>
        <p:nvSpPr>
          <p:cNvPr id="12" name="Ellipse 11">
            <a:extLst>
              <a:ext uri="{FF2B5EF4-FFF2-40B4-BE49-F238E27FC236}">
                <a16:creationId xmlns:a16="http://schemas.microsoft.com/office/drawing/2014/main" id="{756B8C8B-1007-0C88-E4DD-11366177F07A}"/>
              </a:ext>
            </a:extLst>
          </p:cNvPr>
          <p:cNvSpPr/>
          <p:nvPr/>
        </p:nvSpPr>
        <p:spPr>
          <a:xfrm>
            <a:off x="1323975" y="2571750"/>
            <a:ext cx="3400425" cy="14592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4" name="Ellipse 13">
            <a:extLst>
              <a:ext uri="{FF2B5EF4-FFF2-40B4-BE49-F238E27FC236}">
                <a16:creationId xmlns:a16="http://schemas.microsoft.com/office/drawing/2014/main" id="{2F8CEC2D-29D8-691C-3AD8-3BDDDDFD1831}"/>
              </a:ext>
            </a:extLst>
          </p:cNvPr>
          <p:cNvSpPr/>
          <p:nvPr/>
        </p:nvSpPr>
        <p:spPr>
          <a:xfrm>
            <a:off x="4981575" y="2571750"/>
            <a:ext cx="3400425" cy="14592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5" name="Ellipse 14">
            <a:extLst>
              <a:ext uri="{FF2B5EF4-FFF2-40B4-BE49-F238E27FC236}">
                <a16:creationId xmlns:a16="http://schemas.microsoft.com/office/drawing/2014/main" id="{F08DC1D4-8247-52F7-2F0E-571D004732B1}"/>
              </a:ext>
            </a:extLst>
          </p:cNvPr>
          <p:cNvSpPr/>
          <p:nvPr/>
        </p:nvSpPr>
        <p:spPr>
          <a:xfrm>
            <a:off x="4972050" y="2286000"/>
            <a:ext cx="3400425" cy="145924"/>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6" name="Ellipse 15">
            <a:extLst>
              <a:ext uri="{FF2B5EF4-FFF2-40B4-BE49-F238E27FC236}">
                <a16:creationId xmlns:a16="http://schemas.microsoft.com/office/drawing/2014/main" id="{A7C5DFCC-CD3D-5F9F-83CD-4FDAD58F5A51}"/>
              </a:ext>
            </a:extLst>
          </p:cNvPr>
          <p:cNvSpPr/>
          <p:nvPr/>
        </p:nvSpPr>
        <p:spPr>
          <a:xfrm>
            <a:off x="1485900" y="2286000"/>
            <a:ext cx="3400425" cy="145924"/>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8" name="Virage 17">
            <a:extLst>
              <a:ext uri="{FF2B5EF4-FFF2-40B4-BE49-F238E27FC236}">
                <a16:creationId xmlns:a16="http://schemas.microsoft.com/office/drawing/2014/main" id="{1005CDE8-F5E2-8DA4-686B-787465FE382A}"/>
              </a:ext>
            </a:extLst>
          </p:cNvPr>
          <p:cNvSpPr/>
          <p:nvPr/>
        </p:nvSpPr>
        <p:spPr>
          <a:xfrm>
            <a:off x="4591051" y="2860771"/>
            <a:ext cx="190500" cy="294617"/>
          </a:xfrm>
          <a:prstGeom prst="ben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240033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9E406F63-96D9-7DFF-2BB6-7AFE8AB6AA8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26</a:t>
            </a:fld>
            <a:endParaRPr lang="fr-FR"/>
          </a:p>
        </p:txBody>
      </p:sp>
      <p:pic>
        <p:nvPicPr>
          <p:cNvPr id="7" name="Image 6">
            <a:extLst>
              <a:ext uri="{FF2B5EF4-FFF2-40B4-BE49-F238E27FC236}">
                <a16:creationId xmlns:a16="http://schemas.microsoft.com/office/drawing/2014/main" id="{E76ABA04-C803-B925-AD0B-3EB6543F0F56}"/>
              </a:ext>
            </a:extLst>
          </p:cNvPr>
          <p:cNvPicPr>
            <a:picLocks noChangeAspect="1"/>
          </p:cNvPicPr>
          <p:nvPr/>
        </p:nvPicPr>
        <p:blipFill>
          <a:blip r:embed="rId2"/>
          <a:stretch>
            <a:fillRect/>
          </a:stretch>
        </p:blipFill>
        <p:spPr>
          <a:xfrm>
            <a:off x="3204461" y="209933"/>
            <a:ext cx="5839309" cy="2754000"/>
          </a:xfrm>
          <a:prstGeom prst="rect">
            <a:avLst/>
          </a:prstGeom>
          <a:noFill/>
          <a:ln w="28575" cap="flat" cmpd="sng" algn="ctr">
            <a:solidFill>
              <a:srgbClr val="00B0F0"/>
            </a:solidFill>
            <a:prstDash val="solid"/>
            <a:round/>
            <a:headEnd type="none" w="med" len="med"/>
            <a:tailEnd type="none" w="med" len="med"/>
          </a:ln>
        </p:spPr>
      </p:pic>
      <p:sp>
        <p:nvSpPr>
          <p:cNvPr id="2" name="Ellipse 1">
            <a:extLst>
              <a:ext uri="{FF2B5EF4-FFF2-40B4-BE49-F238E27FC236}">
                <a16:creationId xmlns:a16="http://schemas.microsoft.com/office/drawing/2014/main" id="{FA07E50F-D491-70F7-3729-27E0F9A18DD8}"/>
              </a:ext>
            </a:extLst>
          </p:cNvPr>
          <p:cNvSpPr/>
          <p:nvPr/>
        </p:nvSpPr>
        <p:spPr>
          <a:xfrm>
            <a:off x="4076700" y="1968626"/>
            <a:ext cx="2409825" cy="164974"/>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8" name="Ellipse 7">
            <a:extLst>
              <a:ext uri="{FF2B5EF4-FFF2-40B4-BE49-F238E27FC236}">
                <a16:creationId xmlns:a16="http://schemas.microsoft.com/office/drawing/2014/main" id="{B966EBB0-723C-402C-65EE-3A11C0EC25C2}"/>
              </a:ext>
            </a:extLst>
          </p:cNvPr>
          <p:cNvSpPr/>
          <p:nvPr/>
        </p:nvSpPr>
        <p:spPr>
          <a:xfrm>
            <a:off x="6486525" y="1736702"/>
            <a:ext cx="2409825" cy="164974"/>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0" name="Ellipse 9">
            <a:extLst>
              <a:ext uri="{FF2B5EF4-FFF2-40B4-BE49-F238E27FC236}">
                <a16:creationId xmlns:a16="http://schemas.microsoft.com/office/drawing/2014/main" id="{5A25DD00-1458-AA92-2BD9-A145004D5183}"/>
              </a:ext>
            </a:extLst>
          </p:cNvPr>
          <p:cNvSpPr/>
          <p:nvPr/>
        </p:nvSpPr>
        <p:spPr>
          <a:xfrm>
            <a:off x="6486525" y="867773"/>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1" name="Ellipse 10">
            <a:extLst>
              <a:ext uri="{FF2B5EF4-FFF2-40B4-BE49-F238E27FC236}">
                <a16:creationId xmlns:a16="http://schemas.microsoft.com/office/drawing/2014/main" id="{E2CDF4CC-E3E3-54E8-BEE9-A21E9CDE3BC5}"/>
              </a:ext>
            </a:extLst>
          </p:cNvPr>
          <p:cNvSpPr/>
          <p:nvPr/>
        </p:nvSpPr>
        <p:spPr>
          <a:xfrm>
            <a:off x="4076700" y="1049112"/>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3" name="Ellipse 12">
            <a:extLst>
              <a:ext uri="{FF2B5EF4-FFF2-40B4-BE49-F238E27FC236}">
                <a16:creationId xmlns:a16="http://schemas.microsoft.com/office/drawing/2014/main" id="{79DE0987-F9F3-85C7-DE00-E82553D2C1C6}"/>
              </a:ext>
            </a:extLst>
          </p:cNvPr>
          <p:cNvSpPr/>
          <p:nvPr/>
        </p:nvSpPr>
        <p:spPr>
          <a:xfrm>
            <a:off x="6486525" y="1277434"/>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4" name="Ellipse 13">
            <a:extLst>
              <a:ext uri="{FF2B5EF4-FFF2-40B4-BE49-F238E27FC236}">
                <a16:creationId xmlns:a16="http://schemas.microsoft.com/office/drawing/2014/main" id="{073CF49B-3407-BFB3-1A03-FBC54F66B136}"/>
              </a:ext>
            </a:extLst>
          </p:cNvPr>
          <p:cNvSpPr/>
          <p:nvPr/>
        </p:nvSpPr>
        <p:spPr>
          <a:xfrm>
            <a:off x="6496050" y="1067884"/>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6" name="Ellipse 15">
            <a:extLst>
              <a:ext uri="{FF2B5EF4-FFF2-40B4-BE49-F238E27FC236}">
                <a16:creationId xmlns:a16="http://schemas.microsoft.com/office/drawing/2014/main" id="{C786667C-0533-1133-2267-F639DB825082}"/>
              </a:ext>
            </a:extLst>
          </p:cNvPr>
          <p:cNvSpPr/>
          <p:nvPr/>
        </p:nvSpPr>
        <p:spPr>
          <a:xfrm>
            <a:off x="3933825" y="839284"/>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7" name="Ellipse 16">
            <a:extLst>
              <a:ext uri="{FF2B5EF4-FFF2-40B4-BE49-F238E27FC236}">
                <a16:creationId xmlns:a16="http://schemas.microsoft.com/office/drawing/2014/main" id="{89D618E5-2A58-C88C-7562-FA3F8B4C340A}"/>
              </a:ext>
            </a:extLst>
          </p:cNvPr>
          <p:cNvSpPr/>
          <p:nvPr/>
        </p:nvSpPr>
        <p:spPr>
          <a:xfrm>
            <a:off x="4057650" y="601159"/>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8" name="Ellipse 17">
            <a:extLst>
              <a:ext uri="{FF2B5EF4-FFF2-40B4-BE49-F238E27FC236}">
                <a16:creationId xmlns:a16="http://schemas.microsoft.com/office/drawing/2014/main" id="{BC42FC16-9134-3DFD-AD37-BC85B649B4DE}"/>
              </a:ext>
            </a:extLst>
          </p:cNvPr>
          <p:cNvSpPr/>
          <p:nvPr/>
        </p:nvSpPr>
        <p:spPr>
          <a:xfrm>
            <a:off x="6515100" y="601159"/>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9" name="Ellipse 18">
            <a:extLst>
              <a:ext uri="{FF2B5EF4-FFF2-40B4-BE49-F238E27FC236}">
                <a16:creationId xmlns:a16="http://schemas.microsoft.com/office/drawing/2014/main" id="{6F6ACF1D-61D4-1573-B3E8-94B338416D2A}"/>
              </a:ext>
            </a:extLst>
          </p:cNvPr>
          <p:cNvSpPr/>
          <p:nvPr/>
        </p:nvSpPr>
        <p:spPr>
          <a:xfrm>
            <a:off x="4086225" y="1515559"/>
            <a:ext cx="2409825" cy="164974"/>
          </a:xfrm>
          <a:prstGeom prst="ellipse">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pic>
        <p:nvPicPr>
          <p:cNvPr id="20" name="Image 19" descr="Une image contenant texte&#10;&#10;Description générée automatiquement">
            <a:extLst>
              <a:ext uri="{FF2B5EF4-FFF2-40B4-BE49-F238E27FC236}">
                <a16:creationId xmlns:a16="http://schemas.microsoft.com/office/drawing/2014/main" id="{407C647F-2F36-435F-3EBE-F452F3A6A69E}"/>
              </a:ext>
            </a:extLst>
          </p:cNvPr>
          <p:cNvPicPr>
            <a:picLocks noChangeAspect="1"/>
          </p:cNvPicPr>
          <p:nvPr/>
        </p:nvPicPr>
        <p:blipFill>
          <a:blip r:embed="rId3"/>
          <a:stretch>
            <a:fillRect/>
          </a:stretch>
        </p:blipFill>
        <p:spPr>
          <a:xfrm>
            <a:off x="0" y="1016126"/>
            <a:ext cx="3149600" cy="1905000"/>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07AFF5A9-8655-DE39-095F-A50E8531759C}"/>
              </a:ext>
            </a:extLst>
          </p:cNvPr>
          <p:cNvPicPr>
            <a:picLocks noChangeAspect="1"/>
          </p:cNvPicPr>
          <p:nvPr/>
        </p:nvPicPr>
        <p:blipFill>
          <a:blip r:embed="rId4"/>
          <a:stretch>
            <a:fillRect/>
          </a:stretch>
        </p:blipFill>
        <p:spPr>
          <a:xfrm>
            <a:off x="1108973" y="3195211"/>
            <a:ext cx="5283200" cy="1104900"/>
          </a:xfrm>
          <a:prstGeom prst="rect">
            <a:avLst/>
          </a:prstGeom>
        </p:spPr>
      </p:pic>
      <p:pic>
        <p:nvPicPr>
          <p:cNvPr id="22" name="Image 21">
            <a:extLst>
              <a:ext uri="{FF2B5EF4-FFF2-40B4-BE49-F238E27FC236}">
                <a16:creationId xmlns:a16="http://schemas.microsoft.com/office/drawing/2014/main" id="{9F1F09BD-DCE9-BA72-1BEA-47B2449527E4}"/>
              </a:ext>
            </a:extLst>
          </p:cNvPr>
          <p:cNvPicPr>
            <a:picLocks noChangeAspect="1"/>
          </p:cNvPicPr>
          <p:nvPr/>
        </p:nvPicPr>
        <p:blipFill>
          <a:blip r:embed="rId5"/>
          <a:stretch>
            <a:fillRect/>
          </a:stretch>
        </p:blipFill>
        <p:spPr>
          <a:xfrm>
            <a:off x="90619" y="4329037"/>
            <a:ext cx="8521700" cy="393700"/>
          </a:xfrm>
          <a:prstGeom prst="rect">
            <a:avLst/>
          </a:prstGeom>
        </p:spPr>
      </p:pic>
    </p:spTree>
    <p:extLst>
      <p:ext uri="{BB962C8B-B14F-4D97-AF65-F5344CB8AC3E}">
        <p14:creationId xmlns:p14="http://schemas.microsoft.com/office/powerpoint/2010/main" val="3692073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34"/>
          <p:cNvSpPr txBox="1">
            <a:spLocks noGrp="1"/>
          </p:cNvSpPr>
          <p:nvPr>
            <p:ph type="ctrTitle" idx="4294967295"/>
          </p:nvPr>
        </p:nvSpPr>
        <p:spPr>
          <a:xfrm>
            <a:off x="2957399" y="686611"/>
            <a:ext cx="4311147"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dirty="0"/>
              <a:t>Conclusion</a:t>
            </a:r>
            <a:endParaRPr sz="6000" dirty="0"/>
          </a:p>
        </p:txBody>
      </p:sp>
      <p:sp>
        <p:nvSpPr>
          <p:cNvPr id="753" name="Google Shape;753;p34"/>
          <p:cNvSpPr txBox="1">
            <a:spLocks noGrp="1"/>
          </p:cNvSpPr>
          <p:nvPr>
            <p:ph type="body" idx="4294967295"/>
          </p:nvPr>
        </p:nvSpPr>
        <p:spPr>
          <a:xfrm>
            <a:off x="2532978" y="1846411"/>
            <a:ext cx="5159987" cy="2461500"/>
          </a:xfrm>
          <a:prstGeom prst="rect">
            <a:avLst/>
          </a:prstGeom>
        </p:spPr>
        <p:txBody>
          <a:bodyPr spcFirstLastPara="1" wrap="square" lIns="91425" tIns="91425" rIns="91425" bIns="91425" anchor="t" anchorCtr="0">
            <a:noAutofit/>
          </a:bodyPr>
          <a:lstStyle/>
          <a:p>
            <a:pPr marL="0" lvl="0" indent="0" eaLnBrk="0" fontAlgn="base" hangingPunct="0">
              <a:spcBef>
                <a:spcPct val="0"/>
              </a:spcBef>
              <a:spcAft>
                <a:spcPct val="0"/>
              </a:spcAft>
              <a:buNone/>
            </a:pPr>
            <a:r>
              <a:rPr lang="fr-FR" sz="1200" dirty="0">
                <a:solidFill>
                  <a:srgbClr val="FFFFFF"/>
                </a:solidFill>
                <a:highlight>
                  <a:srgbClr val="3C78D8"/>
                </a:highlight>
                <a:cs typeface="Arial"/>
                <a:sym typeface="Arial"/>
              </a:rPr>
              <a:t>Ce jeu de données peut-il informer les décisions d'ouverture vers de nouveaux pays ? </a:t>
            </a:r>
          </a:p>
          <a:p>
            <a:pPr marL="0" lvl="0" indent="0" eaLnBrk="0" fontAlgn="base" hangingPunct="0">
              <a:spcBef>
                <a:spcPct val="0"/>
              </a:spcBef>
              <a:spcAft>
                <a:spcPct val="0"/>
              </a:spcAft>
              <a:buNone/>
            </a:pPr>
            <a:endParaRPr lang="fr-FR" altLang="fr-FR" sz="1000" b="1" dirty="0">
              <a:latin typeface="Nunito" pitchFamily="2" charset="77"/>
            </a:endParaRPr>
          </a:p>
          <a:p>
            <a:pPr marL="0" lvl="0" indent="0" eaLnBrk="0" fontAlgn="base" hangingPunct="0">
              <a:spcBef>
                <a:spcPct val="0"/>
              </a:spcBef>
              <a:spcAft>
                <a:spcPct val="0"/>
              </a:spcAft>
              <a:buNone/>
            </a:pPr>
            <a:r>
              <a:rPr lang="fr-FR" altLang="fr-FR" sz="1000" b="1" dirty="0">
                <a:latin typeface="Nunito" pitchFamily="2" charset="77"/>
              </a:rPr>
              <a:t>Pertinence du jeu de </a:t>
            </a:r>
            <a:r>
              <a:rPr lang="fr-FR" altLang="fr-FR" sz="1000" b="1" dirty="0" err="1">
                <a:latin typeface="Nunito" pitchFamily="2" charset="77"/>
              </a:rPr>
              <a:t>données</a:t>
            </a:r>
            <a:r>
              <a:rPr lang="fr-FR" altLang="fr-FR" sz="1000" b="1" dirty="0">
                <a:latin typeface="Nunito" pitchFamily="2" charset="77"/>
              </a:rPr>
              <a:t> </a:t>
            </a:r>
            <a:endParaRPr lang="fr-FR" altLang="fr-FR" sz="1000" dirty="0">
              <a:solidFill>
                <a:schemeClr val="tx1"/>
              </a:solidFill>
            </a:endParaRPr>
          </a:p>
          <a:p>
            <a:pPr marL="0" lvl="0" indent="0" eaLnBrk="0" fontAlgn="base" hangingPunct="0">
              <a:spcBef>
                <a:spcPct val="0"/>
              </a:spcBef>
              <a:spcAft>
                <a:spcPct val="0"/>
              </a:spcAft>
              <a:buNone/>
            </a:pPr>
            <a:r>
              <a:rPr lang="fr-FR" altLang="fr-FR" sz="1000" dirty="0" err="1">
                <a:latin typeface="ArialMT"/>
              </a:rPr>
              <a:t>Dataset</a:t>
            </a:r>
            <a:r>
              <a:rPr lang="fr-FR" altLang="fr-FR" sz="1000" dirty="0">
                <a:latin typeface="ArialMT"/>
              </a:rPr>
              <a:t> complet avec </a:t>
            </a:r>
            <a:r>
              <a:rPr lang="fr-FR" altLang="fr-FR" sz="1000" dirty="0">
                <a:latin typeface="Nunito" pitchFamily="2" charset="77"/>
              </a:rPr>
              <a:t>tous les pays et indicateurs pertinents, </a:t>
            </a:r>
            <a:r>
              <a:rPr lang="fr-FR" altLang="fr-FR" sz="1000" dirty="0" err="1">
                <a:latin typeface="Nunito" pitchFamily="2" charset="77"/>
              </a:rPr>
              <a:t>données</a:t>
            </a:r>
            <a:r>
              <a:rPr lang="fr-FR" altLang="fr-FR" sz="1000" dirty="0">
                <a:latin typeface="Nunito" pitchFamily="2" charset="77"/>
              </a:rPr>
              <a:t> relatives à l’</a:t>
            </a:r>
            <a:r>
              <a:rPr lang="fr-FR" altLang="fr-FR" sz="1000" dirty="0" err="1">
                <a:latin typeface="Nunito" pitchFamily="2" charset="77"/>
              </a:rPr>
              <a:t>éducation</a:t>
            </a:r>
            <a:r>
              <a:rPr lang="fr-FR" altLang="fr-FR" sz="1000" dirty="0">
                <a:latin typeface="Nunito" pitchFamily="2" charset="77"/>
              </a:rPr>
              <a:t> et utiles + </a:t>
            </a:r>
            <a:r>
              <a:rPr lang="fr-FR" altLang="fr-FR" sz="1000" dirty="0" err="1">
                <a:latin typeface="Nunito" pitchFamily="2" charset="77"/>
              </a:rPr>
              <a:t>données</a:t>
            </a:r>
            <a:r>
              <a:rPr lang="fr-FR" altLang="fr-FR" sz="1000" dirty="0">
                <a:latin typeface="Nunito" pitchFamily="2" charset="77"/>
              </a:rPr>
              <a:t> </a:t>
            </a:r>
            <a:r>
              <a:rPr lang="fr-FR" altLang="fr-FR" sz="1000" dirty="0" err="1">
                <a:latin typeface="Nunito" pitchFamily="2" charset="77"/>
              </a:rPr>
              <a:t>complémentaires</a:t>
            </a:r>
            <a:r>
              <a:rPr lang="fr-FR" altLang="fr-FR" sz="1000" dirty="0">
                <a:latin typeface="Nunito" pitchFamily="2" charset="77"/>
              </a:rPr>
              <a:t> </a:t>
            </a:r>
            <a:endParaRPr lang="fr-FR" altLang="fr-FR" sz="1000" dirty="0">
              <a:solidFill>
                <a:schemeClr val="tx1"/>
              </a:solidFill>
            </a:endParaRPr>
          </a:p>
          <a:p>
            <a:pPr marL="0" lvl="0" indent="0" eaLnBrk="0" fontAlgn="base" hangingPunct="0">
              <a:spcBef>
                <a:spcPct val="0"/>
              </a:spcBef>
              <a:spcAft>
                <a:spcPct val="0"/>
              </a:spcAft>
              <a:buNone/>
            </a:pPr>
            <a:r>
              <a:rPr lang="fr-FR" altLang="fr-FR" sz="1000" dirty="0">
                <a:latin typeface="Nunito" pitchFamily="2" charset="77"/>
              </a:rPr>
              <a:t>Sources fiables (</a:t>
            </a:r>
            <a:r>
              <a:rPr lang="fr-FR" altLang="fr-FR" sz="1000" dirty="0" err="1">
                <a:latin typeface="Nunito" pitchFamily="2" charset="77"/>
              </a:rPr>
              <a:t>WorldBank</a:t>
            </a:r>
            <a:r>
              <a:rPr lang="fr-FR" altLang="fr-FR" sz="1000" dirty="0">
                <a:latin typeface="Nunito" pitchFamily="2" charset="77"/>
              </a:rPr>
              <a:t>), pas de doublons ou données aberrantes, bonne qualité du jeu de données au global malgré les environ 80% de données manquantes</a:t>
            </a:r>
          </a:p>
          <a:p>
            <a:pPr marL="0" lvl="0" indent="0" eaLnBrk="0" fontAlgn="base" hangingPunct="0">
              <a:spcBef>
                <a:spcPct val="0"/>
              </a:spcBef>
              <a:spcAft>
                <a:spcPct val="0"/>
              </a:spcAft>
              <a:buNone/>
            </a:pPr>
            <a:endParaRPr lang="fr-FR" altLang="fr-FR" sz="1000" b="1" dirty="0">
              <a:latin typeface="Nunito" pitchFamily="2" charset="77"/>
            </a:endParaRPr>
          </a:p>
          <a:p>
            <a:pPr marL="0" lvl="0" indent="0" eaLnBrk="0" fontAlgn="base" hangingPunct="0">
              <a:spcBef>
                <a:spcPct val="0"/>
              </a:spcBef>
              <a:spcAft>
                <a:spcPct val="0"/>
              </a:spcAft>
              <a:buNone/>
            </a:pPr>
            <a:r>
              <a:rPr lang="fr-FR" altLang="fr-FR" sz="1000" b="1" dirty="0">
                <a:latin typeface="Nunito" pitchFamily="2" charset="77"/>
              </a:rPr>
              <a:t>Difficultés </a:t>
            </a:r>
            <a:r>
              <a:rPr lang="fr-FR" altLang="fr-FR" sz="1000" dirty="0">
                <a:latin typeface="Nunito" pitchFamily="2" charset="77"/>
              </a:rPr>
              <a:t>: le nom des indicateurs avec des espaces en trop qu’il fallait identifier, nettoyage de données, trouver la bonne méthode pour contourner le taux de Nan élevé (sélection de la moyenne pour l’étude par région et valeur non Nan la plus proche de l’année d’étude pour l’étude par pays)</a:t>
            </a:r>
          </a:p>
          <a:p>
            <a:pPr marL="0" lvl="0" indent="0" eaLnBrk="0" fontAlgn="base" hangingPunct="0">
              <a:spcBef>
                <a:spcPct val="0"/>
              </a:spcBef>
              <a:spcAft>
                <a:spcPct val="0"/>
              </a:spcAft>
              <a:buFontTx/>
              <a:buChar char="•"/>
            </a:pPr>
            <a:endParaRPr lang="fr-FR" altLang="fr-FR" sz="1000" dirty="0">
              <a:solidFill>
                <a:schemeClr val="tx1"/>
              </a:solidFill>
            </a:endParaRPr>
          </a:p>
          <a:p>
            <a:pPr marL="0" lvl="0" indent="0" eaLnBrk="0" fontAlgn="base" hangingPunct="0">
              <a:spcBef>
                <a:spcPct val="0"/>
              </a:spcBef>
              <a:spcAft>
                <a:spcPct val="0"/>
              </a:spcAft>
              <a:buNone/>
            </a:pPr>
            <a:r>
              <a:rPr lang="fr-FR" altLang="fr-FR" sz="1000" dirty="0">
                <a:latin typeface="Nunito" pitchFamily="2" charset="77"/>
              </a:rPr>
              <a:t>Ces données nous ont permis d’informer sur ces questions business :</a:t>
            </a:r>
          </a:p>
          <a:p>
            <a:pPr>
              <a:buSzPts val="1100"/>
            </a:pPr>
            <a:r>
              <a:rPr lang="fr-FR" sz="1000" b="1" dirty="0">
                <a:solidFill>
                  <a:srgbClr val="FFFFFF"/>
                </a:solidFill>
                <a:highlight>
                  <a:srgbClr val="3C78D8"/>
                </a:highlight>
              </a:rPr>
              <a:t>Quels sont les pays avec un fort potentiel de clients pour nos services ?</a:t>
            </a:r>
          </a:p>
          <a:p>
            <a:pPr>
              <a:buSzPts val="1100"/>
            </a:pPr>
            <a:r>
              <a:rPr lang="fr-FR" sz="1000" b="1" dirty="0">
                <a:solidFill>
                  <a:srgbClr val="FFFFFF"/>
                </a:solidFill>
                <a:highlight>
                  <a:srgbClr val="3C78D8"/>
                </a:highlight>
              </a:rPr>
              <a:t>Pour chacun de ces pays, quelle sera l’évolution de ce potentiel de clients ?</a:t>
            </a:r>
          </a:p>
          <a:p>
            <a:pPr>
              <a:buSzPts val="1100"/>
            </a:pPr>
            <a:r>
              <a:rPr lang="fr-FR" sz="1000" b="1" dirty="0">
                <a:solidFill>
                  <a:srgbClr val="FFFFFF"/>
                </a:solidFill>
                <a:highlight>
                  <a:srgbClr val="3C78D8"/>
                </a:highlight>
              </a:rPr>
              <a:t>Dans quels pays l'entreprise doit-elle opérer en priorité ?</a:t>
            </a:r>
          </a:p>
          <a:p>
            <a:pPr marL="0" lvl="0" indent="0" eaLnBrk="0" fontAlgn="base" hangingPunct="0">
              <a:spcBef>
                <a:spcPct val="0"/>
              </a:spcBef>
              <a:spcAft>
                <a:spcPct val="0"/>
              </a:spcAft>
              <a:buNone/>
            </a:pPr>
            <a:endParaRPr lang="fr-FR" altLang="fr-FR" sz="1000" dirty="0">
              <a:latin typeface="Nunito" pitchFamily="2" charset="77"/>
            </a:endParaRPr>
          </a:p>
          <a:p>
            <a:endParaRPr lang="fr-FR" sz="1000" dirty="0"/>
          </a:p>
        </p:txBody>
      </p:sp>
      <p:sp>
        <p:nvSpPr>
          <p:cNvPr id="754" name="Google Shape;754;p34"/>
          <p:cNvSpPr/>
          <p:nvPr/>
        </p:nvSpPr>
        <p:spPr>
          <a:xfrm>
            <a:off x="1077654" y="1906513"/>
            <a:ext cx="1180108" cy="1089975"/>
          </a:xfrm>
          <a:custGeom>
            <a:avLst/>
            <a:gdLst/>
            <a:ahLst/>
            <a:cxnLst/>
            <a:rect l="l" t="t" r="r" b="b"/>
            <a:pathLst>
              <a:path w="17204" h="15890" extrusionOk="0">
                <a:moveTo>
                  <a:pt x="1241" y="6108"/>
                </a:moveTo>
                <a:lnTo>
                  <a:pt x="1022" y="6376"/>
                </a:lnTo>
                <a:lnTo>
                  <a:pt x="852" y="6644"/>
                </a:lnTo>
                <a:lnTo>
                  <a:pt x="755" y="6765"/>
                </a:lnTo>
                <a:lnTo>
                  <a:pt x="730" y="6425"/>
                </a:lnTo>
                <a:lnTo>
                  <a:pt x="682" y="6108"/>
                </a:lnTo>
                <a:close/>
                <a:moveTo>
                  <a:pt x="3188" y="6181"/>
                </a:moveTo>
                <a:lnTo>
                  <a:pt x="3918" y="6206"/>
                </a:lnTo>
                <a:lnTo>
                  <a:pt x="3772" y="6327"/>
                </a:lnTo>
                <a:lnTo>
                  <a:pt x="3626" y="6498"/>
                </a:lnTo>
                <a:lnTo>
                  <a:pt x="3382" y="6814"/>
                </a:lnTo>
                <a:lnTo>
                  <a:pt x="3236" y="7009"/>
                </a:lnTo>
                <a:lnTo>
                  <a:pt x="3115" y="6936"/>
                </a:lnTo>
                <a:lnTo>
                  <a:pt x="2969" y="6911"/>
                </a:lnTo>
                <a:lnTo>
                  <a:pt x="2896" y="6887"/>
                </a:lnTo>
                <a:lnTo>
                  <a:pt x="2798" y="6863"/>
                </a:lnTo>
                <a:lnTo>
                  <a:pt x="2725" y="6863"/>
                </a:lnTo>
                <a:lnTo>
                  <a:pt x="2969" y="6546"/>
                </a:lnTo>
                <a:lnTo>
                  <a:pt x="3188" y="6230"/>
                </a:lnTo>
                <a:lnTo>
                  <a:pt x="3188" y="6181"/>
                </a:lnTo>
                <a:close/>
                <a:moveTo>
                  <a:pt x="4112" y="6206"/>
                </a:moveTo>
                <a:lnTo>
                  <a:pt x="4064" y="6376"/>
                </a:lnTo>
                <a:lnTo>
                  <a:pt x="4039" y="6546"/>
                </a:lnTo>
                <a:lnTo>
                  <a:pt x="4039" y="6863"/>
                </a:lnTo>
                <a:lnTo>
                  <a:pt x="3991" y="7398"/>
                </a:lnTo>
                <a:lnTo>
                  <a:pt x="3796" y="7617"/>
                </a:lnTo>
                <a:lnTo>
                  <a:pt x="3626" y="7860"/>
                </a:lnTo>
                <a:lnTo>
                  <a:pt x="3650" y="7714"/>
                </a:lnTo>
                <a:lnTo>
                  <a:pt x="3650" y="7568"/>
                </a:lnTo>
                <a:lnTo>
                  <a:pt x="3626" y="7447"/>
                </a:lnTo>
                <a:lnTo>
                  <a:pt x="3577" y="7325"/>
                </a:lnTo>
                <a:lnTo>
                  <a:pt x="3504" y="7203"/>
                </a:lnTo>
                <a:lnTo>
                  <a:pt x="3820" y="6717"/>
                </a:lnTo>
                <a:lnTo>
                  <a:pt x="3966" y="6473"/>
                </a:lnTo>
                <a:lnTo>
                  <a:pt x="4088" y="6206"/>
                </a:lnTo>
                <a:close/>
                <a:moveTo>
                  <a:pt x="2701" y="7301"/>
                </a:moveTo>
                <a:lnTo>
                  <a:pt x="2750" y="7325"/>
                </a:lnTo>
                <a:lnTo>
                  <a:pt x="2823" y="7325"/>
                </a:lnTo>
                <a:lnTo>
                  <a:pt x="2969" y="7374"/>
                </a:lnTo>
                <a:lnTo>
                  <a:pt x="3090" y="7447"/>
                </a:lnTo>
                <a:lnTo>
                  <a:pt x="3163" y="7568"/>
                </a:lnTo>
                <a:lnTo>
                  <a:pt x="3188" y="7690"/>
                </a:lnTo>
                <a:lnTo>
                  <a:pt x="3188" y="7836"/>
                </a:lnTo>
                <a:lnTo>
                  <a:pt x="3139" y="7982"/>
                </a:lnTo>
                <a:lnTo>
                  <a:pt x="3042" y="8104"/>
                </a:lnTo>
                <a:lnTo>
                  <a:pt x="2920" y="8201"/>
                </a:lnTo>
                <a:lnTo>
                  <a:pt x="2847" y="8225"/>
                </a:lnTo>
                <a:lnTo>
                  <a:pt x="2774" y="8250"/>
                </a:lnTo>
                <a:lnTo>
                  <a:pt x="2677" y="8225"/>
                </a:lnTo>
                <a:lnTo>
                  <a:pt x="2604" y="8201"/>
                </a:lnTo>
                <a:lnTo>
                  <a:pt x="2531" y="8152"/>
                </a:lnTo>
                <a:lnTo>
                  <a:pt x="2482" y="8079"/>
                </a:lnTo>
                <a:lnTo>
                  <a:pt x="2433" y="8031"/>
                </a:lnTo>
                <a:lnTo>
                  <a:pt x="2409" y="7958"/>
                </a:lnTo>
                <a:lnTo>
                  <a:pt x="2385" y="7836"/>
                </a:lnTo>
                <a:lnTo>
                  <a:pt x="2385" y="7714"/>
                </a:lnTo>
                <a:lnTo>
                  <a:pt x="2433" y="7593"/>
                </a:lnTo>
                <a:lnTo>
                  <a:pt x="2482" y="7495"/>
                </a:lnTo>
                <a:lnTo>
                  <a:pt x="2579" y="7374"/>
                </a:lnTo>
                <a:lnTo>
                  <a:pt x="2701" y="7301"/>
                </a:lnTo>
                <a:close/>
                <a:moveTo>
                  <a:pt x="1582" y="6133"/>
                </a:moveTo>
                <a:lnTo>
                  <a:pt x="1898" y="6157"/>
                </a:lnTo>
                <a:lnTo>
                  <a:pt x="2239" y="6157"/>
                </a:lnTo>
                <a:lnTo>
                  <a:pt x="3042" y="6181"/>
                </a:lnTo>
                <a:lnTo>
                  <a:pt x="2823" y="6303"/>
                </a:lnTo>
                <a:lnTo>
                  <a:pt x="2628" y="6473"/>
                </a:lnTo>
                <a:lnTo>
                  <a:pt x="2458" y="6692"/>
                </a:lnTo>
                <a:lnTo>
                  <a:pt x="2287" y="6911"/>
                </a:lnTo>
                <a:lnTo>
                  <a:pt x="1995" y="7398"/>
                </a:lnTo>
                <a:lnTo>
                  <a:pt x="1728" y="7836"/>
                </a:lnTo>
                <a:lnTo>
                  <a:pt x="1485" y="8225"/>
                </a:lnTo>
                <a:lnTo>
                  <a:pt x="1193" y="8639"/>
                </a:lnTo>
                <a:lnTo>
                  <a:pt x="925" y="9053"/>
                </a:lnTo>
                <a:lnTo>
                  <a:pt x="657" y="9466"/>
                </a:lnTo>
                <a:lnTo>
                  <a:pt x="633" y="8639"/>
                </a:lnTo>
                <a:lnTo>
                  <a:pt x="755" y="8566"/>
                </a:lnTo>
                <a:lnTo>
                  <a:pt x="852" y="8469"/>
                </a:lnTo>
                <a:lnTo>
                  <a:pt x="1047" y="8225"/>
                </a:lnTo>
                <a:lnTo>
                  <a:pt x="1193" y="7982"/>
                </a:lnTo>
                <a:lnTo>
                  <a:pt x="1314" y="7714"/>
                </a:lnTo>
                <a:lnTo>
                  <a:pt x="1436" y="7544"/>
                </a:lnTo>
                <a:lnTo>
                  <a:pt x="1582" y="7349"/>
                </a:lnTo>
                <a:lnTo>
                  <a:pt x="1874" y="6984"/>
                </a:lnTo>
                <a:lnTo>
                  <a:pt x="1995" y="6790"/>
                </a:lnTo>
                <a:lnTo>
                  <a:pt x="2141" y="6619"/>
                </a:lnTo>
                <a:lnTo>
                  <a:pt x="2239" y="6425"/>
                </a:lnTo>
                <a:lnTo>
                  <a:pt x="2312" y="6206"/>
                </a:lnTo>
                <a:lnTo>
                  <a:pt x="2312" y="6181"/>
                </a:lnTo>
                <a:lnTo>
                  <a:pt x="2287" y="6181"/>
                </a:lnTo>
                <a:lnTo>
                  <a:pt x="2117" y="6279"/>
                </a:lnTo>
                <a:lnTo>
                  <a:pt x="1971" y="6400"/>
                </a:lnTo>
                <a:lnTo>
                  <a:pt x="1825" y="6546"/>
                </a:lnTo>
                <a:lnTo>
                  <a:pt x="1703" y="6692"/>
                </a:lnTo>
                <a:lnTo>
                  <a:pt x="1460" y="7009"/>
                </a:lnTo>
                <a:lnTo>
                  <a:pt x="1217" y="7325"/>
                </a:lnTo>
                <a:lnTo>
                  <a:pt x="925" y="7714"/>
                </a:lnTo>
                <a:lnTo>
                  <a:pt x="657" y="8152"/>
                </a:lnTo>
                <a:lnTo>
                  <a:pt x="657" y="8128"/>
                </a:lnTo>
                <a:lnTo>
                  <a:pt x="730" y="7398"/>
                </a:lnTo>
                <a:lnTo>
                  <a:pt x="828" y="7276"/>
                </a:lnTo>
                <a:lnTo>
                  <a:pt x="901" y="7130"/>
                </a:lnTo>
                <a:lnTo>
                  <a:pt x="1047" y="6887"/>
                </a:lnTo>
                <a:lnTo>
                  <a:pt x="1339" y="6522"/>
                </a:lnTo>
                <a:lnTo>
                  <a:pt x="1460" y="6327"/>
                </a:lnTo>
                <a:lnTo>
                  <a:pt x="1582" y="6133"/>
                </a:lnTo>
                <a:close/>
                <a:moveTo>
                  <a:pt x="1971" y="7982"/>
                </a:moveTo>
                <a:lnTo>
                  <a:pt x="1995" y="8104"/>
                </a:lnTo>
                <a:lnTo>
                  <a:pt x="2044" y="8225"/>
                </a:lnTo>
                <a:lnTo>
                  <a:pt x="2117" y="8323"/>
                </a:lnTo>
                <a:lnTo>
                  <a:pt x="2190" y="8396"/>
                </a:lnTo>
                <a:lnTo>
                  <a:pt x="1533" y="9369"/>
                </a:lnTo>
                <a:lnTo>
                  <a:pt x="682" y="10658"/>
                </a:lnTo>
                <a:lnTo>
                  <a:pt x="682" y="10512"/>
                </a:lnTo>
                <a:lnTo>
                  <a:pt x="657" y="10123"/>
                </a:lnTo>
                <a:lnTo>
                  <a:pt x="1241" y="9150"/>
                </a:lnTo>
                <a:lnTo>
                  <a:pt x="1849" y="8201"/>
                </a:lnTo>
                <a:lnTo>
                  <a:pt x="1971" y="7982"/>
                </a:lnTo>
                <a:close/>
                <a:moveTo>
                  <a:pt x="3188" y="8566"/>
                </a:moveTo>
                <a:lnTo>
                  <a:pt x="2312" y="9928"/>
                </a:lnTo>
                <a:lnTo>
                  <a:pt x="1436" y="11242"/>
                </a:lnTo>
                <a:lnTo>
                  <a:pt x="1047" y="11753"/>
                </a:lnTo>
                <a:lnTo>
                  <a:pt x="828" y="11997"/>
                </a:lnTo>
                <a:lnTo>
                  <a:pt x="657" y="12264"/>
                </a:lnTo>
                <a:lnTo>
                  <a:pt x="657" y="11242"/>
                </a:lnTo>
                <a:lnTo>
                  <a:pt x="974" y="10780"/>
                </a:lnTo>
                <a:lnTo>
                  <a:pt x="1922" y="9369"/>
                </a:lnTo>
                <a:lnTo>
                  <a:pt x="2458" y="8590"/>
                </a:lnTo>
                <a:lnTo>
                  <a:pt x="2579" y="8639"/>
                </a:lnTo>
                <a:lnTo>
                  <a:pt x="2725" y="8663"/>
                </a:lnTo>
                <a:lnTo>
                  <a:pt x="2871" y="8663"/>
                </a:lnTo>
                <a:lnTo>
                  <a:pt x="2993" y="8639"/>
                </a:lnTo>
                <a:lnTo>
                  <a:pt x="3090" y="8615"/>
                </a:lnTo>
                <a:lnTo>
                  <a:pt x="3188" y="8566"/>
                </a:lnTo>
                <a:close/>
                <a:moveTo>
                  <a:pt x="3991" y="7787"/>
                </a:moveTo>
                <a:lnTo>
                  <a:pt x="3991" y="8834"/>
                </a:lnTo>
                <a:lnTo>
                  <a:pt x="3820" y="8980"/>
                </a:lnTo>
                <a:lnTo>
                  <a:pt x="3650" y="9174"/>
                </a:lnTo>
                <a:lnTo>
                  <a:pt x="3358" y="9588"/>
                </a:lnTo>
                <a:lnTo>
                  <a:pt x="2823" y="10342"/>
                </a:lnTo>
                <a:lnTo>
                  <a:pt x="2555" y="10707"/>
                </a:lnTo>
                <a:lnTo>
                  <a:pt x="2287" y="11096"/>
                </a:lnTo>
                <a:lnTo>
                  <a:pt x="1436" y="12143"/>
                </a:lnTo>
                <a:lnTo>
                  <a:pt x="1022" y="12654"/>
                </a:lnTo>
                <a:lnTo>
                  <a:pt x="633" y="13189"/>
                </a:lnTo>
                <a:lnTo>
                  <a:pt x="633" y="12946"/>
                </a:lnTo>
                <a:lnTo>
                  <a:pt x="633" y="12775"/>
                </a:lnTo>
                <a:lnTo>
                  <a:pt x="755" y="12654"/>
                </a:lnTo>
                <a:lnTo>
                  <a:pt x="876" y="12532"/>
                </a:lnTo>
                <a:lnTo>
                  <a:pt x="1120" y="12264"/>
                </a:lnTo>
                <a:lnTo>
                  <a:pt x="1509" y="11680"/>
                </a:lnTo>
                <a:lnTo>
                  <a:pt x="2020" y="10975"/>
                </a:lnTo>
                <a:lnTo>
                  <a:pt x="2506" y="10245"/>
                </a:lnTo>
                <a:lnTo>
                  <a:pt x="2993" y="9490"/>
                </a:lnTo>
                <a:lnTo>
                  <a:pt x="3455" y="8736"/>
                </a:lnTo>
                <a:lnTo>
                  <a:pt x="3723" y="8274"/>
                </a:lnTo>
                <a:lnTo>
                  <a:pt x="3869" y="8031"/>
                </a:lnTo>
                <a:lnTo>
                  <a:pt x="3991" y="7787"/>
                </a:lnTo>
                <a:close/>
                <a:moveTo>
                  <a:pt x="4039" y="14065"/>
                </a:moveTo>
                <a:lnTo>
                  <a:pt x="4039" y="14430"/>
                </a:lnTo>
                <a:lnTo>
                  <a:pt x="3820" y="14430"/>
                </a:lnTo>
                <a:lnTo>
                  <a:pt x="4015" y="14089"/>
                </a:lnTo>
                <a:lnTo>
                  <a:pt x="4039" y="14065"/>
                </a:lnTo>
                <a:close/>
                <a:moveTo>
                  <a:pt x="4039" y="12921"/>
                </a:moveTo>
                <a:lnTo>
                  <a:pt x="4039" y="13140"/>
                </a:lnTo>
                <a:lnTo>
                  <a:pt x="4039" y="13554"/>
                </a:lnTo>
                <a:lnTo>
                  <a:pt x="3918" y="13724"/>
                </a:lnTo>
                <a:lnTo>
                  <a:pt x="3820" y="13870"/>
                </a:lnTo>
                <a:lnTo>
                  <a:pt x="3577" y="14235"/>
                </a:lnTo>
                <a:lnTo>
                  <a:pt x="3431" y="14454"/>
                </a:lnTo>
                <a:lnTo>
                  <a:pt x="2993" y="14454"/>
                </a:lnTo>
                <a:lnTo>
                  <a:pt x="3431" y="13797"/>
                </a:lnTo>
                <a:lnTo>
                  <a:pt x="3747" y="13359"/>
                </a:lnTo>
                <a:lnTo>
                  <a:pt x="4039" y="12921"/>
                </a:lnTo>
                <a:close/>
                <a:moveTo>
                  <a:pt x="4039" y="11826"/>
                </a:moveTo>
                <a:lnTo>
                  <a:pt x="4039" y="12483"/>
                </a:lnTo>
                <a:lnTo>
                  <a:pt x="3845" y="12678"/>
                </a:lnTo>
                <a:lnTo>
                  <a:pt x="3650" y="12873"/>
                </a:lnTo>
                <a:lnTo>
                  <a:pt x="3334" y="13311"/>
                </a:lnTo>
                <a:lnTo>
                  <a:pt x="2896" y="13895"/>
                </a:lnTo>
                <a:lnTo>
                  <a:pt x="2677" y="14187"/>
                </a:lnTo>
                <a:lnTo>
                  <a:pt x="2482" y="14503"/>
                </a:lnTo>
                <a:lnTo>
                  <a:pt x="2312" y="14503"/>
                </a:lnTo>
                <a:lnTo>
                  <a:pt x="2433" y="14333"/>
                </a:lnTo>
                <a:lnTo>
                  <a:pt x="2555" y="14162"/>
                </a:lnTo>
                <a:lnTo>
                  <a:pt x="2871" y="13651"/>
                </a:lnTo>
                <a:lnTo>
                  <a:pt x="3188" y="13116"/>
                </a:lnTo>
                <a:lnTo>
                  <a:pt x="3504" y="12581"/>
                </a:lnTo>
                <a:lnTo>
                  <a:pt x="3845" y="12070"/>
                </a:lnTo>
                <a:lnTo>
                  <a:pt x="4039" y="11826"/>
                </a:lnTo>
                <a:close/>
                <a:moveTo>
                  <a:pt x="4015" y="10391"/>
                </a:moveTo>
                <a:lnTo>
                  <a:pt x="4015" y="11218"/>
                </a:lnTo>
                <a:lnTo>
                  <a:pt x="4039" y="11364"/>
                </a:lnTo>
                <a:lnTo>
                  <a:pt x="3869" y="11486"/>
                </a:lnTo>
                <a:lnTo>
                  <a:pt x="3723" y="11656"/>
                </a:lnTo>
                <a:lnTo>
                  <a:pt x="3577" y="11826"/>
                </a:lnTo>
                <a:lnTo>
                  <a:pt x="3455" y="12021"/>
                </a:lnTo>
                <a:lnTo>
                  <a:pt x="3236" y="12386"/>
                </a:lnTo>
                <a:lnTo>
                  <a:pt x="3042" y="12702"/>
                </a:lnTo>
                <a:lnTo>
                  <a:pt x="2725" y="13238"/>
                </a:lnTo>
                <a:lnTo>
                  <a:pt x="2409" y="13773"/>
                </a:lnTo>
                <a:lnTo>
                  <a:pt x="2263" y="13968"/>
                </a:lnTo>
                <a:lnTo>
                  <a:pt x="2117" y="14138"/>
                </a:lnTo>
                <a:lnTo>
                  <a:pt x="1971" y="14333"/>
                </a:lnTo>
                <a:lnTo>
                  <a:pt x="1849" y="14527"/>
                </a:lnTo>
                <a:lnTo>
                  <a:pt x="1047" y="14600"/>
                </a:lnTo>
                <a:lnTo>
                  <a:pt x="1460" y="14089"/>
                </a:lnTo>
                <a:lnTo>
                  <a:pt x="1825" y="13554"/>
                </a:lnTo>
                <a:lnTo>
                  <a:pt x="2214" y="13019"/>
                </a:lnTo>
                <a:lnTo>
                  <a:pt x="2604" y="12508"/>
                </a:lnTo>
                <a:lnTo>
                  <a:pt x="2823" y="12240"/>
                </a:lnTo>
                <a:lnTo>
                  <a:pt x="3017" y="11972"/>
                </a:lnTo>
                <a:lnTo>
                  <a:pt x="3382" y="11388"/>
                </a:lnTo>
                <a:lnTo>
                  <a:pt x="3723" y="10902"/>
                </a:lnTo>
                <a:lnTo>
                  <a:pt x="3869" y="10634"/>
                </a:lnTo>
                <a:lnTo>
                  <a:pt x="4015" y="10391"/>
                </a:lnTo>
                <a:close/>
                <a:moveTo>
                  <a:pt x="4015" y="9271"/>
                </a:moveTo>
                <a:lnTo>
                  <a:pt x="4015" y="10147"/>
                </a:lnTo>
                <a:lnTo>
                  <a:pt x="3893" y="10220"/>
                </a:lnTo>
                <a:lnTo>
                  <a:pt x="3796" y="10318"/>
                </a:lnTo>
                <a:lnTo>
                  <a:pt x="3626" y="10512"/>
                </a:lnTo>
                <a:lnTo>
                  <a:pt x="3455" y="10731"/>
                </a:lnTo>
                <a:lnTo>
                  <a:pt x="3285" y="10975"/>
                </a:lnTo>
                <a:lnTo>
                  <a:pt x="2847" y="11632"/>
                </a:lnTo>
                <a:lnTo>
                  <a:pt x="2628" y="11972"/>
                </a:lnTo>
                <a:lnTo>
                  <a:pt x="2385" y="12289"/>
                </a:lnTo>
                <a:lnTo>
                  <a:pt x="1947" y="12873"/>
                </a:lnTo>
                <a:lnTo>
                  <a:pt x="1509" y="13481"/>
                </a:lnTo>
                <a:lnTo>
                  <a:pt x="1071" y="14065"/>
                </a:lnTo>
                <a:lnTo>
                  <a:pt x="828" y="14333"/>
                </a:lnTo>
                <a:lnTo>
                  <a:pt x="584" y="14625"/>
                </a:lnTo>
                <a:lnTo>
                  <a:pt x="609" y="14430"/>
                </a:lnTo>
                <a:lnTo>
                  <a:pt x="609" y="14235"/>
                </a:lnTo>
                <a:lnTo>
                  <a:pt x="609" y="13895"/>
                </a:lnTo>
                <a:lnTo>
                  <a:pt x="1120" y="13213"/>
                </a:lnTo>
                <a:lnTo>
                  <a:pt x="1631" y="12556"/>
                </a:lnTo>
                <a:lnTo>
                  <a:pt x="2677" y="11242"/>
                </a:lnTo>
                <a:lnTo>
                  <a:pt x="3090" y="10658"/>
                </a:lnTo>
                <a:lnTo>
                  <a:pt x="3480" y="10050"/>
                </a:lnTo>
                <a:lnTo>
                  <a:pt x="3747" y="9661"/>
                </a:lnTo>
                <a:lnTo>
                  <a:pt x="4015" y="9271"/>
                </a:lnTo>
                <a:close/>
                <a:moveTo>
                  <a:pt x="10341" y="488"/>
                </a:moveTo>
                <a:lnTo>
                  <a:pt x="10536" y="512"/>
                </a:lnTo>
                <a:lnTo>
                  <a:pt x="10755" y="536"/>
                </a:lnTo>
                <a:lnTo>
                  <a:pt x="10950" y="585"/>
                </a:lnTo>
                <a:lnTo>
                  <a:pt x="11071" y="609"/>
                </a:lnTo>
                <a:lnTo>
                  <a:pt x="11169" y="658"/>
                </a:lnTo>
                <a:lnTo>
                  <a:pt x="11266" y="731"/>
                </a:lnTo>
                <a:lnTo>
                  <a:pt x="11339" y="828"/>
                </a:lnTo>
                <a:lnTo>
                  <a:pt x="11485" y="999"/>
                </a:lnTo>
                <a:lnTo>
                  <a:pt x="11582" y="1217"/>
                </a:lnTo>
                <a:lnTo>
                  <a:pt x="11655" y="1436"/>
                </a:lnTo>
                <a:lnTo>
                  <a:pt x="11704" y="1680"/>
                </a:lnTo>
                <a:lnTo>
                  <a:pt x="11728" y="1923"/>
                </a:lnTo>
                <a:lnTo>
                  <a:pt x="11728" y="2385"/>
                </a:lnTo>
                <a:lnTo>
                  <a:pt x="11680" y="2848"/>
                </a:lnTo>
                <a:lnTo>
                  <a:pt x="11582" y="3310"/>
                </a:lnTo>
                <a:lnTo>
                  <a:pt x="11461" y="3772"/>
                </a:lnTo>
                <a:lnTo>
                  <a:pt x="11315" y="4210"/>
                </a:lnTo>
                <a:lnTo>
                  <a:pt x="10974" y="5111"/>
                </a:lnTo>
                <a:lnTo>
                  <a:pt x="10804" y="5549"/>
                </a:lnTo>
                <a:lnTo>
                  <a:pt x="10658" y="5987"/>
                </a:lnTo>
                <a:lnTo>
                  <a:pt x="10658" y="6084"/>
                </a:lnTo>
                <a:lnTo>
                  <a:pt x="10658" y="6181"/>
                </a:lnTo>
                <a:lnTo>
                  <a:pt x="10731" y="6254"/>
                </a:lnTo>
                <a:lnTo>
                  <a:pt x="10779" y="6303"/>
                </a:lnTo>
                <a:lnTo>
                  <a:pt x="10877" y="6327"/>
                </a:lnTo>
                <a:lnTo>
                  <a:pt x="10950" y="6327"/>
                </a:lnTo>
                <a:lnTo>
                  <a:pt x="11047" y="6303"/>
                </a:lnTo>
                <a:lnTo>
                  <a:pt x="11120" y="6279"/>
                </a:lnTo>
                <a:lnTo>
                  <a:pt x="11388" y="6303"/>
                </a:lnTo>
                <a:lnTo>
                  <a:pt x="11655" y="6327"/>
                </a:lnTo>
                <a:lnTo>
                  <a:pt x="12215" y="6352"/>
                </a:lnTo>
                <a:lnTo>
                  <a:pt x="12775" y="6327"/>
                </a:lnTo>
                <a:lnTo>
                  <a:pt x="13310" y="6327"/>
                </a:lnTo>
                <a:lnTo>
                  <a:pt x="13748" y="6352"/>
                </a:lnTo>
                <a:lnTo>
                  <a:pt x="14210" y="6425"/>
                </a:lnTo>
                <a:lnTo>
                  <a:pt x="14673" y="6498"/>
                </a:lnTo>
                <a:lnTo>
                  <a:pt x="15111" y="6595"/>
                </a:lnTo>
                <a:lnTo>
                  <a:pt x="15476" y="6668"/>
                </a:lnTo>
                <a:lnTo>
                  <a:pt x="15841" y="6790"/>
                </a:lnTo>
                <a:lnTo>
                  <a:pt x="16011" y="6887"/>
                </a:lnTo>
                <a:lnTo>
                  <a:pt x="16157" y="6960"/>
                </a:lnTo>
                <a:lnTo>
                  <a:pt x="16327" y="7082"/>
                </a:lnTo>
                <a:lnTo>
                  <a:pt x="16449" y="7203"/>
                </a:lnTo>
                <a:lnTo>
                  <a:pt x="16546" y="7301"/>
                </a:lnTo>
                <a:lnTo>
                  <a:pt x="16619" y="7398"/>
                </a:lnTo>
                <a:lnTo>
                  <a:pt x="16644" y="7520"/>
                </a:lnTo>
                <a:lnTo>
                  <a:pt x="16668" y="7641"/>
                </a:lnTo>
                <a:lnTo>
                  <a:pt x="16692" y="7763"/>
                </a:lnTo>
                <a:lnTo>
                  <a:pt x="16668" y="7885"/>
                </a:lnTo>
                <a:lnTo>
                  <a:pt x="16644" y="8031"/>
                </a:lnTo>
                <a:lnTo>
                  <a:pt x="16595" y="8152"/>
                </a:lnTo>
                <a:lnTo>
                  <a:pt x="16473" y="8371"/>
                </a:lnTo>
                <a:lnTo>
                  <a:pt x="16303" y="8566"/>
                </a:lnTo>
                <a:lnTo>
                  <a:pt x="16206" y="8663"/>
                </a:lnTo>
                <a:lnTo>
                  <a:pt x="16108" y="8736"/>
                </a:lnTo>
                <a:lnTo>
                  <a:pt x="15987" y="8785"/>
                </a:lnTo>
                <a:lnTo>
                  <a:pt x="15889" y="8834"/>
                </a:lnTo>
                <a:lnTo>
                  <a:pt x="15792" y="8882"/>
                </a:lnTo>
                <a:lnTo>
                  <a:pt x="15719" y="8955"/>
                </a:lnTo>
                <a:lnTo>
                  <a:pt x="15695" y="9053"/>
                </a:lnTo>
                <a:lnTo>
                  <a:pt x="15719" y="9150"/>
                </a:lnTo>
                <a:lnTo>
                  <a:pt x="15743" y="9247"/>
                </a:lnTo>
                <a:lnTo>
                  <a:pt x="15816" y="9296"/>
                </a:lnTo>
                <a:lnTo>
                  <a:pt x="15914" y="9344"/>
                </a:lnTo>
                <a:lnTo>
                  <a:pt x="16035" y="9344"/>
                </a:lnTo>
                <a:lnTo>
                  <a:pt x="16157" y="9296"/>
                </a:lnTo>
                <a:lnTo>
                  <a:pt x="16279" y="9393"/>
                </a:lnTo>
                <a:lnTo>
                  <a:pt x="16376" y="9490"/>
                </a:lnTo>
                <a:lnTo>
                  <a:pt x="16425" y="9636"/>
                </a:lnTo>
                <a:lnTo>
                  <a:pt x="16473" y="9782"/>
                </a:lnTo>
                <a:lnTo>
                  <a:pt x="16473" y="9953"/>
                </a:lnTo>
                <a:lnTo>
                  <a:pt x="16449" y="10123"/>
                </a:lnTo>
                <a:lnTo>
                  <a:pt x="16376" y="10415"/>
                </a:lnTo>
                <a:lnTo>
                  <a:pt x="16303" y="10610"/>
                </a:lnTo>
                <a:lnTo>
                  <a:pt x="16206" y="10756"/>
                </a:lnTo>
                <a:lnTo>
                  <a:pt x="16084" y="10902"/>
                </a:lnTo>
                <a:lnTo>
                  <a:pt x="15938" y="11023"/>
                </a:lnTo>
                <a:lnTo>
                  <a:pt x="15743" y="11145"/>
                </a:lnTo>
                <a:lnTo>
                  <a:pt x="15670" y="11194"/>
                </a:lnTo>
                <a:lnTo>
                  <a:pt x="15622" y="11315"/>
                </a:lnTo>
                <a:lnTo>
                  <a:pt x="15622" y="11388"/>
                </a:lnTo>
                <a:lnTo>
                  <a:pt x="15646" y="11437"/>
                </a:lnTo>
                <a:lnTo>
                  <a:pt x="15670" y="11486"/>
                </a:lnTo>
                <a:lnTo>
                  <a:pt x="15719" y="11510"/>
                </a:lnTo>
                <a:lnTo>
                  <a:pt x="15792" y="11559"/>
                </a:lnTo>
                <a:lnTo>
                  <a:pt x="15889" y="11583"/>
                </a:lnTo>
                <a:lnTo>
                  <a:pt x="15962" y="11753"/>
                </a:lnTo>
                <a:lnTo>
                  <a:pt x="15987" y="11924"/>
                </a:lnTo>
                <a:lnTo>
                  <a:pt x="16011" y="12070"/>
                </a:lnTo>
                <a:lnTo>
                  <a:pt x="15987" y="12410"/>
                </a:lnTo>
                <a:lnTo>
                  <a:pt x="15962" y="12678"/>
                </a:lnTo>
                <a:lnTo>
                  <a:pt x="15914" y="12824"/>
                </a:lnTo>
                <a:lnTo>
                  <a:pt x="15865" y="12994"/>
                </a:lnTo>
                <a:lnTo>
                  <a:pt x="15792" y="13140"/>
                </a:lnTo>
                <a:lnTo>
                  <a:pt x="15719" y="13262"/>
                </a:lnTo>
                <a:lnTo>
                  <a:pt x="15622" y="13335"/>
                </a:lnTo>
                <a:lnTo>
                  <a:pt x="15549" y="13359"/>
                </a:lnTo>
                <a:lnTo>
                  <a:pt x="15500" y="13359"/>
                </a:lnTo>
                <a:lnTo>
                  <a:pt x="15403" y="13384"/>
                </a:lnTo>
                <a:lnTo>
                  <a:pt x="15330" y="13432"/>
                </a:lnTo>
                <a:lnTo>
                  <a:pt x="15281" y="13505"/>
                </a:lnTo>
                <a:lnTo>
                  <a:pt x="15257" y="13578"/>
                </a:lnTo>
                <a:lnTo>
                  <a:pt x="15257" y="13676"/>
                </a:lnTo>
                <a:lnTo>
                  <a:pt x="15281" y="13749"/>
                </a:lnTo>
                <a:lnTo>
                  <a:pt x="15354" y="13797"/>
                </a:lnTo>
                <a:lnTo>
                  <a:pt x="15427" y="13846"/>
                </a:lnTo>
                <a:lnTo>
                  <a:pt x="15524" y="13846"/>
                </a:lnTo>
                <a:lnTo>
                  <a:pt x="15573" y="14089"/>
                </a:lnTo>
                <a:lnTo>
                  <a:pt x="15622" y="14357"/>
                </a:lnTo>
                <a:lnTo>
                  <a:pt x="15622" y="14479"/>
                </a:lnTo>
                <a:lnTo>
                  <a:pt x="15622" y="14600"/>
                </a:lnTo>
                <a:lnTo>
                  <a:pt x="15597" y="14722"/>
                </a:lnTo>
                <a:lnTo>
                  <a:pt x="15549" y="14868"/>
                </a:lnTo>
                <a:lnTo>
                  <a:pt x="15476" y="14965"/>
                </a:lnTo>
                <a:lnTo>
                  <a:pt x="15403" y="15063"/>
                </a:lnTo>
                <a:lnTo>
                  <a:pt x="15305" y="15136"/>
                </a:lnTo>
                <a:lnTo>
                  <a:pt x="15208" y="15184"/>
                </a:lnTo>
                <a:lnTo>
                  <a:pt x="15208" y="15184"/>
                </a:lnTo>
                <a:lnTo>
                  <a:pt x="15257" y="14917"/>
                </a:lnTo>
                <a:lnTo>
                  <a:pt x="15330" y="14625"/>
                </a:lnTo>
                <a:lnTo>
                  <a:pt x="15330" y="14600"/>
                </a:lnTo>
                <a:lnTo>
                  <a:pt x="15330" y="14552"/>
                </a:lnTo>
                <a:lnTo>
                  <a:pt x="15281" y="14527"/>
                </a:lnTo>
                <a:lnTo>
                  <a:pt x="15208" y="14503"/>
                </a:lnTo>
                <a:lnTo>
                  <a:pt x="15184" y="14527"/>
                </a:lnTo>
                <a:lnTo>
                  <a:pt x="15159" y="14552"/>
                </a:lnTo>
                <a:lnTo>
                  <a:pt x="15013" y="14917"/>
                </a:lnTo>
                <a:lnTo>
                  <a:pt x="14965" y="15087"/>
                </a:lnTo>
                <a:lnTo>
                  <a:pt x="14965" y="15282"/>
                </a:lnTo>
                <a:lnTo>
                  <a:pt x="14648" y="15355"/>
                </a:lnTo>
                <a:lnTo>
                  <a:pt x="14721" y="15038"/>
                </a:lnTo>
                <a:lnTo>
                  <a:pt x="14819" y="14673"/>
                </a:lnTo>
                <a:lnTo>
                  <a:pt x="14867" y="14308"/>
                </a:lnTo>
                <a:lnTo>
                  <a:pt x="14867" y="14284"/>
                </a:lnTo>
                <a:lnTo>
                  <a:pt x="14843" y="14235"/>
                </a:lnTo>
                <a:lnTo>
                  <a:pt x="14794" y="14211"/>
                </a:lnTo>
                <a:lnTo>
                  <a:pt x="14721" y="14235"/>
                </a:lnTo>
                <a:lnTo>
                  <a:pt x="14673" y="14260"/>
                </a:lnTo>
                <a:lnTo>
                  <a:pt x="14673" y="14284"/>
                </a:lnTo>
                <a:lnTo>
                  <a:pt x="14551" y="14625"/>
                </a:lnTo>
                <a:lnTo>
                  <a:pt x="14454" y="14965"/>
                </a:lnTo>
                <a:lnTo>
                  <a:pt x="14356" y="15184"/>
                </a:lnTo>
                <a:lnTo>
                  <a:pt x="14332" y="15306"/>
                </a:lnTo>
                <a:lnTo>
                  <a:pt x="14332" y="15403"/>
                </a:lnTo>
                <a:lnTo>
                  <a:pt x="14064" y="15428"/>
                </a:lnTo>
                <a:lnTo>
                  <a:pt x="14064" y="15428"/>
                </a:lnTo>
                <a:lnTo>
                  <a:pt x="14089" y="15379"/>
                </a:lnTo>
                <a:lnTo>
                  <a:pt x="14089" y="15330"/>
                </a:lnTo>
                <a:lnTo>
                  <a:pt x="14113" y="15063"/>
                </a:lnTo>
                <a:lnTo>
                  <a:pt x="14162" y="14771"/>
                </a:lnTo>
                <a:lnTo>
                  <a:pt x="14235" y="14503"/>
                </a:lnTo>
                <a:lnTo>
                  <a:pt x="14356" y="14260"/>
                </a:lnTo>
                <a:lnTo>
                  <a:pt x="14356" y="14211"/>
                </a:lnTo>
                <a:lnTo>
                  <a:pt x="14332" y="14162"/>
                </a:lnTo>
                <a:lnTo>
                  <a:pt x="14283" y="14138"/>
                </a:lnTo>
                <a:lnTo>
                  <a:pt x="14235" y="14162"/>
                </a:lnTo>
                <a:lnTo>
                  <a:pt x="14064" y="14430"/>
                </a:lnTo>
                <a:lnTo>
                  <a:pt x="13918" y="14722"/>
                </a:lnTo>
                <a:lnTo>
                  <a:pt x="13845" y="14868"/>
                </a:lnTo>
                <a:lnTo>
                  <a:pt x="13821" y="15014"/>
                </a:lnTo>
                <a:lnTo>
                  <a:pt x="13797" y="15160"/>
                </a:lnTo>
                <a:lnTo>
                  <a:pt x="13797" y="15330"/>
                </a:lnTo>
                <a:lnTo>
                  <a:pt x="13821" y="15379"/>
                </a:lnTo>
                <a:lnTo>
                  <a:pt x="13845" y="15428"/>
                </a:lnTo>
                <a:lnTo>
                  <a:pt x="13383" y="15428"/>
                </a:lnTo>
                <a:lnTo>
                  <a:pt x="13432" y="15209"/>
                </a:lnTo>
                <a:lnTo>
                  <a:pt x="13456" y="14990"/>
                </a:lnTo>
                <a:lnTo>
                  <a:pt x="13505" y="14771"/>
                </a:lnTo>
                <a:lnTo>
                  <a:pt x="13578" y="14552"/>
                </a:lnTo>
                <a:lnTo>
                  <a:pt x="13748" y="14114"/>
                </a:lnTo>
                <a:lnTo>
                  <a:pt x="13748" y="14089"/>
                </a:lnTo>
                <a:lnTo>
                  <a:pt x="13748" y="14065"/>
                </a:lnTo>
                <a:lnTo>
                  <a:pt x="13699" y="14016"/>
                </a:lnTo>
                <a:lnTo>
                  <a:pt x="13651" y="14016"/>
                </a:lnTo>
                <a:lnTo>
                  <a:pt x="13602" y="14065"/>
                </a:lnTo>
                <a:lnTo>
                  <a:pt x="13456" y="14260"/>
                </a:lnTo>
                <a:lnTo>
                  <a:pt x="13334" y="14454"/>
                </a:lnTo>
                <a:lnTo>
                  <a:pt x="13237" y="14673"/>
                </a:lnTo>
                <a:lnTo>
                  <a:pt x="13140" y="14917"/>
                </a:lnTo>
                <a:lnTo>
                  <a:pt x="13067" y="15136"/>
                </a:lnTo>
                <a:lnTo>
                  <a:pt x="13042" y="15282"/>
                </a:lnTo>
                <a:lnTo>
                  <a:pt x="13042" y="15403"/>
                </a:lnTo>
                <a:lnTo>
                  <a:pt x="12556" y="15330"/>
                </a:lnTo>
                <a:lnTo>
                  <a:pt x="12604" y="15038"/>
                </a:lnTo>
                <a:lnTo>
                  <a:pt x="12677" y="14746"/>
                </a:lnTo>
                <a:lnTo>
                  <a:pt x="12775" y="14479"/>
                </a:lnTo>
                <a:lnTo>
                  <a:pt x="12921" y="14211"/>
                </a:lnTo>
                <a:lnTo>
                  <a:pt x="12921" y="14162"/>
                </a:lnTo>
                <a:lnTo>
                  <a:pt x="12896" y="14114"/>
                </a:lnTo>
                <a:lnTo>
                  <a:pt x="12799" y="14114"/>
                </a:lnTo>
                <a:lnTo>
                  <a:pt x="12702" y="14235"/>
                </a:lnTo>
                <a:lnTo>
                  <a:pt x="12604" y="14357"/>
                </a:lnTo>
                <a:lnTo>
                  <a:pt x="12507" y="14479"/>
                </a:lnTo>
                <a:lnTo>
                  <a:pt x="12410" y="14649"/>
                </a:lnTo>
                <a:lnTo>
                  <a:pt x="12337" y="14795"/>
                </a:lnTo>
                <a:lnTo>
                  <a:pt x="12288" y="14965"/>
                </a:lnTo>
                <a:lnTo>
                  <a:pt x="12239" y="15136"/>
                </a:lnTo>
                <a:lnTo>
                  <a:pt x="12239" y="15282"/>
                </a:lnTo>
                <a:lnTo>
                  <a:pt x="11801" y="15233"/>
                </a:lnTo>
                <a:lnTo>
                  <a:pt x="11753" y="15209"/>
                </a:lnTo>
                <a:lnTo>
                  <a:pt x="11874" y="14941"/>
                </a:lnTo>
                <a:lnTo>
                  <a:pt x="11947" y="14673"/>
                </a:lnTo>
                <a:lnTo>
                  <a:pt x="12118" y="14114"/>
                </a:lnTo>
                <a:lnTo>
                  <a:pt x="12118" y="14089"/>
                </a:lnTo>
                <a:lnTo>
                  <a:pt x="12118" y="14065"/>
                </a:lnTo>
                <a:lnTo>
                  <a:pt x="12093" y="14065"/>
                </a:lnTo>
                <a:lnTo>
                  <a:pt x="12069" y="14089"/>
                </a:lnTo>
                <a:lnTo>
                  <a:pt x="11874" y="14357"/>
                </a:lnTo>
                <a:lnTo>
                  <a:pt x="11680" y="14600"/>
                </a:lnTo>
                <a:lnTo>
                  <a:pt x="11509" y="14868"/>
                </a:lnTo>
                <a:lnTo>
                  <a:pt x="11363" y="15136"/>
                </a:lnTo>
                <a:lnTo>
                  <a:pt x="11363" y="15160"/>
                </a:lnTo>
                <a:lnTo>
                  <a:pt x="10974" y="15087"/>
                </a:lnTo>
                <a:lnTo>
                  <a:pt x="11096" y="14990"/>
                </a:lnTo>
                <a:lnTo>
                  <a:pt x="11169" y="14868"/>
                </a:lnTo>
                <a:lnTo>
                  <a:pt x="11290" y="14600"/>
                </a:lnTo>
                <a:lnTo>
                  <a:pt x="11655" y="13870"/>
                </a:lnTo>
                <a:lnTo>
                  <a:pt x="11680" y="13846"/>
                </a:lnTo>
                <a:lnTo>
                  <a:pt x="11680" y="13822"/>
                </a:lnTo>
                <a:lnTo>
                  <a:pt x="11631" y="13773"/>
                </a:lnTo>
                <a:lnTo>
                  <a:pt x="11558" y="13773"/>
                </a:lnTo>
                <a:lnTo>
                  <a:pt x="11534" y="13797"/>
                </a:lnTo>
                <a:lnTo>
                  <a:pt x="11144" y="14406"/>
                </a:lnTo>
                <a:lnTo>
                  <a:pt x="10974" y="14722"/>
                </a:lnTo>
                <a:lnTo>
                  <a:pt x="10901" y="14868"/>
                </a:lnTo>
                <a:lnTo>
                  <a:pt x="10877" y="14941"/>
                </a:lnTo>
                <a:lnTo>
                  <a:pt x="10877" y="15038"/>
                </a:lnTo>
                <a:lnTo>
                  <a:pt x="10901" y="15063"/>
                </a:lnTo>
                <a:lnTo>
                  <a:pt x="10341" y="14941"/>
                </a:lnTo>
                <a:lnTo>
                  <a:pt x="10487" y="14625"/>
                </a:lnTo>
                <a:lnTo>
                  <a:pt x="10633" y="14333"/>
                </a:lnTo>
                <a:lnTo>
                  <a:pt x="10804" y="14041"/>
                </a:lnTo>
                <a:lnTo>
                  <a:pt x="10998" y="13773"/>
                </a:lnTo>
                <a:lnTo>
                  <a:pt x="11023" y="13724"/>
                </a:lnTo>
                <a:lnTo>
                  <a:pt x="10998" y="13700"/>
                </a:lnTo>
                <a:lnTo>
                  <a:pt x="10950" y="13676"/>
                </a:lnTo>
                <a:lnTo>
                  <a:pt x="10901" y="13700"/>
                </a:lnTo>
                <a:lnTo>
                  <a:pt x="10658" y="13943"/>
                </a:lnTo>
                <a:lnTo>
                  <a:pt x="10414" y="14211"/>
                </a:lnTo>
                <a:lnTo>
                  <a:pt x="10317" y="14357"/>
                </a:lnTo>
                <a:lnTo>
                  <a:pt x="10220" y="14503"/>
                </a:lnTo>
                <a:lnTo>
                  <a:pt x="10147" y="14673"/>
                </a:lnTo>
                <a:lnTo>
                  <a:pt x="10098" y="14844"/>
                </a:lnTo>
                <a:lnTo>
                  <a:pt x="10098" y="14892"/>
                </a:lnTo>
                <a:lnTo>
                  <a:pt x="9709" y="14771"/>
                </a:lnTo>
                <a:lnTo>
                  <a:pt x="9757" y="14576"/>
                </a:lnTo>
                <a:lnTo>
                  <a:pt x="9830" y="14381"/>
                </a:lnTo>
                <a:lnTo>
                  <a:pt x="10001" y="13968"/>
                </a:lnTo>
                <a:lnTo>
                  <a:pt x="10147" y="13530"/>
                </a:lnTo>
                <a:lnTo>
                  <a:pt x="10147" y="13505"/>
                </a:lnTo>
                <a:lnTo>
                  <a:pt x="10122" y="13530"/>
                </a:lnTo>
                <a:lnTo>
                  <a:pt x="9879" y="13919"/>
                </a:lnTo>
                <a:lnTo>
                  <a:pt x="9636" y="14308"/>
                </a:lnTo>
                <a:lnTo>
                  <a:pt x="9539" y="14503"/>
                </a:lnTo>
                <a:lnTo>
                  <a:pt x="9466" y="14698"/>
                </a:lnTo>
                <a:lnTo>
                  <a:pt x="8906" y="14527"/>
                </a:lnTo>
                <a:lnTo>
                  <a:pt x="8979" y="14430"/>
                </a:lnTo>
                <a:lnTo>
                  <a:pt x="9028" y="14308"/>
                </a:lnTo>
                <a:lnTo>
                  <a:pt x="9149" y="14089"/>
                </a:lnTo>
                <a:lnTo>
                  <a:pt x="9344" y="13724"/>
                </a:lnTo>
                <a:lnTo>
                  <a:pt x="9417" y="13554"/>
                </a:lnTo>
                <a:lnTo>
                  <a:pt x="9490" y="13359"/>
                </a:lnTo>
                <a:lnTo>
                  <a:pt x="9490" y="13311"/>
                </a:lnTo>
                <a:lnTo>
                  <a:pt x="9441" y="13286"/>
                </a:lnTo>
                <a:lnTo>
                  <a:pt x="9393" y="13262"/>
                </a:lnTo>
                <a:lnTo>
                  <a:pt x="9368" y="13311"/>
                </a:lnTo>
                <a:lnTo>
                  <a:pt x="9247" y="13481"/>
                </a:lnTo>
                <a:lnTo>
                  <a:pt x="9149" y="13627"/>
                </a:lnTo>
                <a:lnTo>
                  <a:pt x="8906" y="13943"/>
                </a:lnTo>
                <a:lnTo>
                  <a:pt x="8736" y="14162"/>
                </a:lnTo>
                <a:lnTo>
                  <a:pt x="8663" y="14284"/>
                </a:lnTo>
                <a:lnTo>
                  <a:pt x="8638" y="14430"/>
                </a:lnTo>
                <a:lnTo>
                  <a:pt x="8419" y="14333"/>
                </a:lnTo>
                <a:lnTo>
                  <a:pt x="8492" y="14065"/>
                </a:lnTo>
                <a:lnTo>
                  <a:pt x="8541" y="13846"/>
                </a:lnTo>
                <a:lnTo>
                  <a:pt x="8711" y="13384"/>
                </a:lnTo>
                <a:lnTo>
                  <a:pt x="8833" y="13165"/>
                </a:lnTo>
                <a:lnTo>
                  <a:pt x="8955" y="12946"/>
                </a:lnTo>
                <a:lnTo>
                  <a:pt x="8955" y="12897"/>
                </a:lnTo>
                <a:lnTo>
                  <a:pt x="8930" y="12848"/>
                </a:lnTo>
                <a:lnTo>
                  <a:pt x="8882" y="12848"/>
                </a:lnTo>
                <a:lnTo>
                  <a:pt x="8833" y="12873"/>
                </a:lnTo>
                <a:lnTo>
                  <a:pt x="8687" y="13092"/>
                </a:lnTo>
                <a:lnTo>
                  <a:pt x="8565" y="13286"/>
                </a:lnTo>
                <a:lnTo>
                  <a:pt x="8444" y="13505"/>
                </a:lnTo>
                <a:lnTo>
                  <a:pt x="8322" y="13749"/>
                </a:lnTo>
                <a:lnTo>
                  <a:pt x="8225" y="13968"/>
                </a:lnTo>
                <a:lnTo>
                  <a:pt x="8176" y="14089"/>
                </a:lnTo>
                <a:lnTo>
                  <a:pt x="8152" y="14211"/>
                </a:lnTo>
                <a:lnTo>
                  <a:pt x="7762" y="14041"/>
                </a:lnTo>
                <a:lnTo>
                  <a:pt x="7908" y="13627"/>
                </a:lnTo>
                <a:lnTo>
                  <a:pt x="8103" y="13213"/>
                </a:lnTo>
                <a:lnTo>
                  <a:pt x="8322" y="12800"/>
                </a:lnTo>
                <a:lnTo>
                  <a:pt x="8322" y="12751"/>
                </a:lnTo>
                <a:lnTo>
                  <a:pt x="8298" y="12727"/>
                </a:lnTo>
                <a:lnTo>
                  <a:pt x="8249" y="12727"/>
                </a:lnTo>
                <a:lnTo>
                  <a:pt x="7908" y="13140"/>
                </a:lnTo>
                <a:lnTo>
                  <a:pt x="7762" y="13335"/>
                </a:lnTo>
                <a:lnTo>
                  <a:pt x="7616" y="13578"/>
                </a:lnTo>
                <a:lnTo>
                  <a:pt x="7543" y="13700"/>
                </a:lnTo>
                <a:lnTo>
                  <a:pt x="7470" y="13870"/>
                </a:lnTo>
                <a:lnTo>
                  <a:pt x="7130" y="13700"/>
                </a:lnTo>
                <a:lnTo>
                  <a:pt x="7154" y="13554"/>
                </a:lnTo>
                <a:lnTo>
                  <a:pt x="7178" y="13408"/>
                </a:lnTo>
                <a:lnTo>
                  <a:pt x="7300" y="13165"/>
                </a:lnTo>
                <a:lnTo>
                  <a:pt x="7495" y="12751"/>
                </a:lnTo>
                <a:lnTo>
                  <a:pt x="7689" y="12313"/>
                </a:lnTo>
                <a:lnTo>
                  <a:pt x="7689" y="12289"/>
                </a:lnTo>
                <a:lnTo>
                  <a:pt x="7665" y="12264"/>
                </a:lnTo>
                <a:lnTo>
                  <a:pt x="7641" y="12264"/>
                </a:lnTo>
                <a:lnTo>
                  <a:pt x="7616" y="12289"/>
                </a:lnTo>
                <a:lnTo>
                  <a:pt x="7397" y="12581"/>
                </a:lnTo>
                <a:lnTo>
                  <a:pt x="7178" y="12873"/>
                </a:lnTo>
                <a:lnTo>
                  <a:pt x="7081" y="13043"/>
                </a:lnTo>
                <a:lnTo>
                  <a:pt x="7008" y="13189"/>
                </a:lnTo>
                <a:lnTo>
                  <a:pt x="6935" y="13359"/>
                </a:lnTo>
                <a:lnTo>
                  <a:pt x="6886" y="13530"/>
                </a:lnTo>
                <a:lnTo>
                  <a:pt x="6570" y="13335"/>
                </a:lnTo>
                <a:lnTo>
                  <a:pt x="6692" y="13043"/>
                </a:lnTo>
                <a:lnTo>
                  <a:pt x="6813" y="12751"/>
                </a:lnTo>
                <a:lnTo>
                  <a:pt x="7105" y="12216"/>
                </a:lnTo>
                <a:lnTo>
                  <a:pt x="7130" y="12191"/>
                </a:lnTo>
                <a:lnTo>
                  <a:pt x="7105" y="12167"/>
                </a:lnTo>
                <a:lnTo>
                  <a:pt x="7057" y="12167"/>
                </a:lnTo>
                <a:lnTo>
                  <a:pt x="6838" y="12386"/>
                </a:lnTo>
                <a:lnTo>
                  <a:pt x="6619" y="12629"/>
                </a:lnTo>
                <a:lnTo>
                  <a:pt x="6448" y="12897"/>
                </a:lnTo>
                <a:lnTo>
                  <a:pt x="6327" y="13165"/>
                </a:lnTo>
                <a:lnTo>
                  <a:pt x="6254" y="13165"/>
                </a:lnTo>
                <a:lnTo>
                  <a:pt x="6181" y="13189"/>
                </a:lnTo>
                <a:lnTo>
                  <a:pt x="6132" y="13238"/>
                </a:lnTo>
                <a:lnTo>
                  <a:pt x="6083" y="13286"/>
                </a:lnTo>
                <a:lnTo>
                  <a:pt x="5937" y="13238"/>
                </a:lnTo>
                <a:lnTo>
                  <a:pt x="5791" y="13213"/>
                </a:lnTo>
                <a:lnTo>
                  <a:pt x="5816" y="13140"/>
                </a:lnTo>
                <a:lnTo>
                  <a:pt x="6059" y="12654"/>
                </a:lnTo>
                <a:lnTo>
                  <a:pt x="6254" y="12264"/>
                </a:lnTo>
                <a:lnTo>
                  <a:pt x="6351" y="12045"/>
                </a:lnTo>
                <a:lnTo>
                  <a:pt x="6424" y="11851"/>
                </a:lnTo>
                <a:lnTo>
                  <a:pt x="6424" y="11826"/>
                </a:lnTo>
                <a:lnTo>
                  <a:pt x="6400" y="11802"/>
                </a:lnTo>
                <a:lnTo>
                  <a:pt x="6375" y="11802"/>
                </a:lnTo>
                <a:lnTo>
                  <a:pt x="6351" y="11826"/>
                </a:lnTo>
                <a:lnTo>
                  <a:pt x="6108" y="12143"/>
                </a:lnTo>
                <a:lnTo>
                  <a:pt x="5864" y="12459"/>
                </a:lnTo>
                <a:lnTo>
                  <a:pt x="5743" y="12654"/>
                </a:lnTo>
                <a:lnTo>
                  <a:pt x="5621" y="12824"/>
                </a:lnTo>
                <a:lnTo>
                  <a:pt x="5548" y="13019"/>
                </a:lnTo>
                <a:lnTo>
                  <a:pt x="5475" y="13213"/>
                </a:lnTo>
                <a:lnTo>
                  <a:pt x="5451" y="13213"/>
                </a:lnTo>
                <a:lnTo>
                  <a:pt x="5183" y="13189"/>
                </a:lnTo>
                <a:lnTo>
                  <a:pt x="4891" y="13213"/>
                </a:lnTo>
                <a:lnTo>
                  <a:pt x="5037" y="12921"/>
                </a:lnTo>
                <a:lnTo>
                  <a:pt x="5353" y="12410"/>
                </a:lnTo>
                <a:lnTo>
                  <a:pt x="5451" y="12240"/>
                </a:lnTo>
                <a:lnTo>
                  <a:pt x="5524" y="12070"/>
                </a:lnTo>
                <a:lnTo>
                  <a:pt x="5548" y="11972"/>
                </a:lnTo>
                <a:lnTo>
                  <a:pt x="5548" y="11899"/>
                </a:lnTo>
                <a:lnTo>
                  <a:pt x="5524" y="11802"/>
                </a:lnTo>
                <a:lnTo>
                  <a:pt x="5475" y="11729"/>
                </a:lnTo>
                <a:lnTo>
                  <a:pt x="5451" y="11729"/>
                </a:lnTo>
                <a:lnTo>
                  <a:pt x="5451" y="11753"/>
                </a:lnTo>
                <a:lnTo>
                  <a:pt x="5426" y="11802"/>
                </a:lnTo>
                <a:lnTo>
                  <a:pt x="5378" y="11875"/>
                </a:lnTo>
                <a:lnTo>
                  <a:pt x="5280" y="11997"/>
                </a:lnTo>
                <a:lnTo>
                  <a:pt x="4988" y="12435"/>
                </a:lnTo>
                <a:lnTo>
                  <a:pt x="4745" y="12800"/>
                </a:lnTo>
                <a:lnTo>
                  <a:pt x="4623" y="13019"/>
                </a:lnTo>
                <a:lnTo>
                  <a:pt x="4599" y="13140"/>
                </a:lnTo>
                <a:lnTo>
                  <a:pt x="4599" y="13238"/>
                </a:lnTo>
                <a:lnTo>
                  <a:pt x="4599" y="13262"/>
                </a:lnTo>
                <a:lnTo>
                  <a:pt x="4575" y="13262"/>
                </a:lnTo>
                <a:lnTo>
                  <a:pt x="4550" y="11802"/>
                </a:lnTo>
                <a:lnTo>
                  <a:pt x="4550" y="10537"/>
                </a:lnTo>
                <a:lnTo>
                  <a:pt x="4526" y="9271"/>
                </a:lnTo>
                <a:lnTo>
                  <a:pt x="4477" y="8396"/>
                </a:lnTo>
                <a:lnTo>
                  <a:pt x="4477" y="7520"/>
                </a:lnTo>
                <a:lnTo>
                  <a:pt x="4453" y="7130"/>
                </a:lnTo>
                <a:lnTo>
                  <a:pt x="4453" y="6863"/>
                </a:lnTo>
                <a:lnTo>
                  <a:pt x="4453" y="6595"/>
                </a:lnTo>
                <a:lnTo>
                  <a:pt x="4648" y="6619"/>
                </a:lnTo>
                <a:lnTo>
                  <a:pt x="4818" y="6619"/>
                </a:lnTo>
                <a:lnTo>
                  <a:pt x="5183" y="6595"/>
                </a:lnTo>
                <a:lnTo>
                  <a:pt x="5791" y="6595"/>
                </a:lnTo>
                <a:lnTo>
                  <a:pt x="6010" y="6571"/>
                </a:lnTo>
                <a:lnTo>
                  <a:pt x="6108" y="6522"/>
                </a:lnTo>
                <a:lnTo>
                  <a:pt x="6156" y="6449"/>
                </a:lnTo>
                <a:lnTo>
                  <a:pt x="6546" y="6230"/>
                </a:lnTo>
                <a:lnTo>
                  <a:pt x="6935" y="5962"/>
                </a:lnTo>
                <a:lnTo>
                  <a:pt x="7300" y="5646"/>
                </a:lnTo>
                <a:lnTo>
                  <a:pt x="7665" y="5330"/>
                </a:lnTo>
                <a:lnTo>
                  <a:pt x="8006" y="4989"/>
                </a:lnTo>
                <a:lnTo>
                  <a:pt x="8322" y="4648"/>
                </a:lnTo>
                <a:lnTo>
                  <a:pt x="8930" y="3943"/>
                </a:lnTo>
                <a:lnTo>
                  <a:pt x="9003" y="3870"/>
                </a:lnTo>
                <a:lnTo>
                  <a:pt x="9003" y="3797"/>
                </a:lnTo>
                <a:lnTo>
                  <a:pt x="9003" y="3699"/>
                </a:lnTo>
                <a:lnTo>
                  <a:pt x="8979" y="3626"/>
                </a:lnTo>
                <a:lnTo>
                  <a:pt x="9125" y="3456"/>
                </a:lnTo>
                <a:lnTo>
                  <a:pt x="9247" y="3286"/>
                </a:lnTo>
                <a:lnTo>
                  <a:pt x="9514" y="2872"/>
                </a:lnTo>
                <a:lnTo>
                  <a:pt x="9709" y="2434"/>
                </a:lnTo>
                <a:lnTo>
                  <a:pt x="9855" y="2020"/>
                </a:lnTo>
                <a:lnTo>
                  <a:pt x="10074" y="1266"/>
                </a:lnTo>
                <a:lnTo>
                  <a:pt x="10195" y="877"/>
                </a:lnTo>
                <a:lnTo>
                  <a:pt x="10341" y="512"/>
                </a:lnTo>
                <a:lnTo>
                  <a:pt x="10341" y="488"/>
                </a:lnTo>
                <a:close/>
                <a:moveTo>
                  <a:pt x="10536" y="1"/>
                </a:moveTo>
                <a:lnTo>
                  <a:pt x="10366" y="25"/>
                </a:lnTo>
                <a:lnTo>
                  <a:pt x="10195" y="74"/>
                </a:lnTo>
                <a:lnTo>
                  <a:pt x="10049" y="171"/>
                </a:lnTo>
                <a:lnTo>
                  <a:pt x="10025" y="196"/>
                </a:lnTo>
                <a:lnTo>
                  <a:pt x="9952" y="244"/>
                </a:lnTo>
                <a:lnTo>
                  <a:pt x="9903" y="293"/>
                </a:lnTo>
                <a:lnTo>
                  <a:pt x="9782" y="415"/>
                </a:lnTo>
                <a:lnTo>
                  <a:pt x="9709" y="585"/>
                </a:lnTo>
                <a:lnTo>
                  <a:pt x="9636" y="780"/>
                </a:lnTo>
                <a:lnTo>
                  <a:pt x="9539" y="1169"/>
                </a:lnTo>
                <a:lnTo>
                  <a:pt x="9466" y="1509"/>
                </a:lnTo>
                <a:lnTo>
                  <a:pt x="9320" y="1972"/>
                </a:lnTo>
                <a:lnTo>
                  <a:pt x="9247" y="2215"/>
                </a:lnTo>
                <a:lnTo>
                  <a:pt x="9149" y="2458"/>
                </a:lnTo>
                <a:lnTo>
                  <a:pt x="9003" y="2726"/>
                </a:lnTo>
                <a:lnTo>
                  <a:pt x="8833" y="2994"/>
                </a:lnTo>
                <a:lnTo>
                  <a:pt x="8663" y="3286"/>
                </a:lnTo>
                <a:lnTo>
                  <a:pt x="8614" y="3407"/>
                </a:lnTo>
                <a:lnTo>
                  <a:pt x="8565" y="3578"/>
                </a:lnTo>
                <a:lnTo>
                  <a:pt x="7324" y="4867"/>
                </a:lnTo>
                <a:lnTo>
                  <a:pt x="6692" y="5500"/>
                </a:lnTo>
                <a:lnTo>
                  <a:pt x="6035" y="6108"/>
                </a:lnTo>
                <a:lnTo>
                  <a:pt x="5937" y="6084"/>
                </a:lnTo>
                <a:lnTo>
                  <a:pt x="5524" y="6084"/>
                </a:lnTo>
                <a:lnTo>
                  <a:pt x="5110" y="6133"/>
                </a:lnTo>
                <a:lnTo>
                  <a:pt x="4867" y="6133"/>
                </a:lnTo>
                <a:lnTo>
                  <a:pt x="4599" y="6157"/>
                </a:lnTo>
                <a:lnTo>
                  <a:pt x="4599" y="6157"/>
                </a:lnTo>
                <a:lnTo>
                  <a:pt x="4623" y="6133"/>
                </a:lnTo>
                <a:lnTo>
                  <a:pt x="4623" y="6084"/>
                </a:lnTo>
                <a:lnTo>
                  <a:pt x="4599" y="5987"/>
                </a:lnTo>
                <a:lnTo>
                  <a:pt x="4526" y="5914"/>
                </a:lnTo>
                <a:lnTo>
                  <a:pt x="4453" y="5889"/>
                </a:lnTo>
                <a:lnTo>
                  <a:pt x="4404" y="5816"/>
                </a:lnTo>
                <a:lnTo>
                  <a:pt x="4331" y="5768"/>
                </a:lnTo>
                <a:lnTo>
                  <a:pt x="4112" y="5670"/>
                </a:lnTo>
                <a:lnTo>
                  <a:pt x="3869" y="5622"/>
                </a:lnTo>
                <a:lnTo>
                  <a:pt x="3626" y="5597"/>
                </a:lnTo>
                <a:lnTo>
                  <a:pt x="2871" y="5597"/>
                </a:lnTo>
                <a:lnTo>
                  <a:pt x="2385" y="5646"/>
                </a:lnTo>
                <a:lnTo>
                  <a:pt x="2166" y="5646"/>
                </a:lnTo>
                <a:lnTo>
                  <a:pt x="1922" y="5622"/>
                </a:lnTo>
                <a:lnTo>
                  <a:pt x="1412" y="5597"/>
                </a:lnTo>
                <a:lnTo>
                  <a:pt x="1144" y="5597"/>
                </a:lnTo>
                <a:lnTo>
                  <a:pt x="901" y="5622"/>
                </a:lnTo>
                <a:lnTo>
                  <a:pt x="682" y="5670"/>
                </a:lnTo>
                <a:lnTo>
                  <a:pt x="463" y="5792"/>
                </a:lnTo>
                <a:lnTo>
                  <a:pt x="365" y="5792"/>
                </a:lnTo>
                <a:lnTo>
                  <a:pt x="317" y="5841"/>
                </a:lnTo>
                <a:lnTo>
                  <a:pt x="292" y="5889"/>
                </a:lnTo>
                <a:lnTo>
                  <a:pt x="244" y="6133"/>
                </a:lnTo>
                <a:lnTo>
                  <a:pt x="219" y="6400"/>
                </a:lnTo>
                <a:lnTo>
                  <a:pt x="219" y="6911"/>
                </a:lnTo>
                <a:lnTo>
                  <a:pt x="195" y="7422"/>
                </a:lnTo>
                <a:lnTo>
                  <a:pt x="171" y="7933"/>
                </a:lnTo>
                <a:lnTo>
                  <a:pt x="146" y="8493"/>
                </a:lnTo>
                <a:lnTo>
                  <a:pt x="146" y="9028"/>
                </a:lnTo>
                <a:lnTo>
                  <a:pt x="146" y="10123"/>
                </a:lnTo>
                <a:lnTo>
                  <a:pt x="171" y="10707"/>
                </a:lnTo>
                <a:lnTo>
                  <a:pt x="171" y="11267"/>
                </a:lnTo>
                <a:lnTo>
                  <a:pt x="122" y="12386"/>
                </a:lnTo>
                <a:lnTo>
                  <a:pt x="98" y="13530"/>
                </a:lnTo>
                <a:lnTo>
                  <a:pt x="98" y="14162"/>
                </a:lnTo>
                <a:lnTo>
                  <a:pt x="73" y="14479"/>
                </a:lnTo>
                <a:lnTo>
                  <a:pt x="25" y="14795"/>
                </a:lnTo>
                <a:lnTo>
                  <a:pt x="0" y="14868"/>
                </a:lnTo>
                <a:lnTo>
                  <a:pt x="25" y="14965"/>
                </a:lnTo>
                <a:lnTo>
                  <a:pt x="73" y="15014"/>
                </a:lnTo>
                <a:lnTo>
                  <a:pt x="122" y="15063"/>
                </a:lnTo>
                <a:lnTo>
                  <a:pt x="195" y="15087"/>
                </a:lnTo>
                <a:lnTo>
                  <a:pt x="268" y="15111"/>
                </a:lnTo>
                <a:lnTo>
                  <a:pt x="341" y="15087"/>
                </a:lnTo>
                <a:lnTo>
                  <a:pt x="414" y="15038"/>
                </a:lnTo>
                <a:lnTo>
                  <a:pt x="463" y="15087"/>
                </a:lnTo>
                <a:lnTo>
                  <a:pt x="536" y="15111"/>
                </a:lnTo>
                <a:lnTo>
                  <a:pt x="998" y="15136"/>
                </a:lnTo>
                <a:lnTo>
                  <a:pt x="1460" y="15136"/>
                </a:lnTo>
                <a:lnTo>
                  <a:pt x="1922" y="15111"/>
                </a:lnTo>
                <a:lnTo>
                  <a:pt x="2385" y="15087"/>
                </a:lnTo>
                <a:lnTo>
                  <a:pt x="2482" y="15087"/>
                </a:lnTo>
                <a:lnTo>
                  <a:pt x="3309" y="15014"/>
                </a:lnTo>
                <a:lnTo>
                  <a:pt x="3723" y="14990"/>
                </a:lnTo>
                <a:lnTo>
                  <a:pt x="4112" y="14965"/>
                </a:lnTo>
                <a:lnTo>
                  <a:pt x="4137" y="14965"/>
                </a:lnTo>
                <a:lnTo>
                  <a:pt x="4185" y="14990"/>
                </a:lnTo>
                <a:lnTo>
                  <a:pt x="4234" y="15014"/>
                </a:lnTo>
                <a:lnTo>
                  <a:pt x="4356" y="15014"/>
                </a:lnTo>
                <a:lnTo>
                  <a:pt x="4453" y="14941"/>
                </a:lnTo>
                <a:lnTo>
                  <a:pt x="4502" y="14917"/>
                </a:lnTo>
                <a:lnTo>
                  <a:pt x="4526" y="14868"/>
                </a:lnTo>
                <a:lnTo>
                  <a:pt x="4575" y="14746"/>
                </a:lnTo>
                <a:lnTo>
                  <a:pt x="4599" y="14600"/>
                </a:lnTo>
                <a:lnTo>
                  <a:pt x="4599" y="14333"/>
                </a:lnTo>
                <a:lnTo>
                  <a:pt x="4599" y="14065"/>
                </a:lnTo>
                <a:lnTo>
                  <a:pt x="4575" y="13797"/>
                </a:lnTo>
                <a:lnTo>
                  <a:pt x="4599" y="13773"/>
                </a:lnTo>
                <a:lnTo>
                  <a:pt x="5037" y="13724"/>
                </a:lnTo>
                <a:lnTo>
                  <a:pt x="5451" y="13676"/>
                </a:lnTo>
                <a:lnTo>
                  <a:pt x="5791" y="13700"/>
                </a:lnTo>
                <a:lnTo>
                  <a:pt x="5986" y="13676"/>
                </a:lnTo>
                <a:lnTo>
                  <a:pt x="6132" y="13627"/>
                </a:lnTo>
                <a:lnTo>
                  <a:pt x="6156" y="13651"/>
                </a:lnTo>
                <a:lnTo>
                  <a:pt x="6521" y="13895"/>
                </a:lnTo>
                <a:lnTo>
                  <a:pt x="6886" y="14138"/>
                </a:lnTo>
                <a:lnTo>
                  <a:pt x="7276" y="14357"/>
                </a:lnTo>
                <a:lnTo>
                  <a:pt x="7665" y="14552"/>
                </a:lnTo>
                <a:lnTo>
                  <a:pt x="8054" y="14722"/>
                </a:lnTo>
                <a:lnTo>
                  <a:pt x="8444" y="14892"/>
                </a:lnTo>
                <a:lnTo>
                  <a:pt x="8833" y="15038"/>
                </a:lnTo>
                <a:lnTo>
                  <a:pt x="9247" y="15160"/>
                </a:lnTo>
                <a:lnTo>
                  <a:pt x="10074" y="15403"/>
                </a:lnTo>
                <a:lnTo>
                  <a:pt x="10925" y="15574"/>
                </a:lnTo>
                <a:lnTo>
                  <a:pt x="11777" y="15695"/>
                </a:lnTo>
                <a:lnTo>
                  <a:pt x="12653" y="15817"/>
                </a:lnTo>
                <a:lnTo>
                  <a:pt x="13310" y="15866"/>
                </a:lnTo>
                <a:lnTo>
                  <a:pt x="13651" y="15890"/>
                </a:lnTo>
                <a:lnTo>
                  <a:pt x="14016" y="15866"/>
                </a:lnTo>
                <a:lnTo>
                  <a:pt x="14356" y="15866"/>
                </a:lnTo>
                <a:lnTo>
                  <a:pt x="14697" y="15793"/>
                </a:lnTo>
                <a:lnTo>
                  <a:pt x="15013" y="15720"/>
                </a:lnTo>
                <a:lnTo>
                  <a:pt x="15330" y="15598"/>
                </a:lnTo>
                <a:lnTo>
                  <a:pt x="15476" y="15525"/>
                </a:lnTo>
                <a:lnTo>
                  <a:pt x="15597" y="15452"/>
                </a:lnTo>
                <a:lnTo>
                  <a:pt x="15719" y="15355"/>
                </a:lnTo>
                <a:lnTo>
                  <a:pt x="15792" y="15257"/>
                </a:lnTo>
                <a:lnTo>
                  <a:pt x="15865" y="15160"/>
                </a:lnTo>
                <a:lnTo>
                  <a:pt x="15914" y="15038"/>
                </a:lnTo>
                <a:lnTo>
                  <a:pt x="15962" y="14941"/>
                </a:lnTo>
                <a:lnTo>
                  <a:pt x="15987" y="14819"/>
                </a:lnTo>
                <a:lnTo>
                  <a:pt x="16011" y="14552"/>
                </a:lnTo>
                <a:lnTo>
                  <a:pt x="15987" y="14284"/>
                </a:lnTo>
                <a:lnTo>
                  <a:pt x="15938" y="14016"/>
                </a:lnTo>
                <a:lnTo>
                  <a:pt x="15865" y="13749"/>
                </a:lnTo>
                <a:lnTo>
                  <a:pt x="15987" y="13651"/>
                </a:lnTo>
                <a:lnTo>
                  <a:pt x="16084" y="13530"/>
                </a:lnTo>
                <a:lnTo>
                  <a:pt x="16181" y="13408"/>
                </a:lnTo>
                <a:lnTo>
                  <a:pt x="16254" y="13262"/>
                </a:lnTo>
                <a:lnTo>
                  <a:pt x="16376" y="12946"/>
                </a:lnTo>
                <a:lnTo>
                  <a:pt x="16425" y="12654"/>
                </a:lnTo>
                <a:lnTo>
                  <a:pt x="16449" y="12410"/>
                </a:lnTo>
                <a:lnTo>
                  <a:pt x="16449" y="12070"/>
                </a:lnTo>
                <a:lnTo>
                  <a:pt x="16425" y="11875"/>
                </a:lnTo>
                <a:lnTo>
                  <a:pt x="16400" y="11680"/>
                </a:lnTo>
                <a:lnTo>
                  <a:pt x="16352" y="11534"/>
                </a:lnTo>
                <a:lnTo>
                  <a:pt x="16279" y="11388"/>
                </a:lnTo>
                <a:lnTo>
                  <a:pt x="16425" y="11267"/>
                </a:lnTo>
                <a:lnTo>
                  <a:pt x="16546" y="11096"/>
                </a:lnTo>
                <a:lnTo>
                  <a:pt x="16668" y="10926"/>
                </a:lnTo>
                <a:lnTo>
                  <a:pt x="16765" y="10756"/>
                </a:lnTo>
                <a:lnTo>
                  <a:pt x="16838" y="10561"/>
                </a:lnTo>
                <a:lnTo>
                  <a:pt x="16887" y="10342"/>
                </a:lnTo>
                <a:lnTo>
                  <a:pt x="16911" y="10147"/>
                </a:lnTo>
                <a:lnTo>
                  <a:pt x="16936" y="9953"/>
                </a:lnTo>
                <a:lnTo>
                  <a:pt x="16911" y="9758"/>
                </a:lnTo>
                <a:lnTo>
                  <a:pt x="16838" y="9515"/>
                </a:lnTo>
                <a:lnTo>
                  <a:pt x="16717" y="9271"/>
                </a:lnTo>
                <a:lnTo>
                  <a:pt x="16571" y="9053"/>
                </a:lnTo>
                <a:lnTo>
                  <a:pt x="16717" y="8931"/>
                </a:lnTo>
                <a:lnTo>
                  <a:pt x="16838" y="8785"/>
                </a:lnTo>
                <a:lnTo>
                  <a:pt x="16936" y="8615"/>
                </a:lnTo>
                <a:lnTo>
                  <a:pt x="17033" y="8444"/>
                </a:lnTo>
                <a:lnTo>
                  <a:pt x="17106" y="8274"/>
                </a:lnTo>
                <a:lnTo>
                  <a:pt x="17155" y="8079"/>
                </a:lnTo>
                <a:lnTo>
                  <a:pt x="17179" y="7885"/>
                </a:lnTo>
                <a:lnTo>
                  <a:pt x="17203" y="7690"/>
                </a:lnTo>
                <a:lnTo>
                  <a:pt x="17179" y="7447"/>
                </a:lnTo>
                <a:lnTo>
                  <a:pt x="17106" y="7252"/>
                </a:lnTo>
                <a:lnTo>
                  <a:pt x="17009" y="7057"/>
                </a:lnTo>
                <a:lnTo>
                  <a:pt x="16887" y="6887"/>
                </a:lnTo>
                <a:lnTo>
                  <a:pt x="16717" y="6741"/>
                </a:lnTo>
                <a:lnTo>
                  <a:pt x="16546" y="6619"/>
                </a:lnTo>
                <a:lnTo>
                  <a:pt x="16352" y="6498"/>
                </a:lnTo>
                <a:lnTo>
                  <a:pt x="16157" y="6400"/>
                </a:lnTo>
                <a:lnTo>
                  <a:pt x="15938" y="6303"/>
                </a:lnTo>
                <a:lnTo>
                  <a:pt x="15719" y="6206"/>
                </a:lnTo>
                <a:lnTo>
                  <a:pt x="15232" y="6084"/>
                </a:lnTo>
                <a:lnTo>
                  <a:pt x="14746" y="5987"/>
                </a:lnTo>
                <a:lnTo>
                  <a:pt x="14259" y="5938"/>
                </a:lnTo>
                <a:lnTo>
                  <a:pt x="13845" y="5889"/>
                </a:lnTo>
                <a:lnTo>
                  <a:pt x="13432" y="5865"/>
                </a:lnTo>
                <a:lnTo>
                  <a:pt x="12604" y="5841"/>
                </a:lnTo>
                <a:lnTo>
                  <a:pt x="11607" y="5841"/>
                </a:lnTo>
                <a:lnTo>
                  <a:pt x="11266" y="5865"/>
                </a:lnTo>
                <a:lnTo>
                  <a:pt x="11461" y="5354"/>
                </a:lnTo>
                <a:lnTo>
                  <a:pt x="11655" y="4843"/>
                </a:lnTo>
                <a:lnTo>
                  <a:pt x="11826" y="4308"/>
                </a:lnTo>
                <a:lnTo>
                  <a:pt x="11996" y="3797"/>
                </a:lnTo>
                <a:lnTo>
                  <a:pt x="12142" y="3261"/>
                </a:lnTo>
                <a:lnTo>
                  <a:pt x="12239" y="2726"/>
                </a:lnTo>
                <a:lnTo>
                  <a:pt x="12264" y="2458"/>
                </a:lnTo>
                <a:lnTo>
                  <a:pt x="12264" y="2191"/>
                </a:lnTo>
                <a:lnTo>
                  <a:pt x="12239" y="1899"/>
                </a:lnTo>
                <a:lnTo>
                  <a:pt x="12215" y="1631"/>
                </a:lnTo>
                <a:lnTo>
                  <a:pt x="12166" y="1412"/>
                </a:lnTo>
                <a:lnTo>
                  <a:pt x="12118" y="1217"/>
                </a:lnTo>
                <a:lnTo>
                  <a:pt x="12045" y="1023"/>
                </a:lnTo>
                <a:lnTo>
                  <a:pt x="11972" y="853"/>
                </a:lnTo>
                <a:lnTo>
                  <a:pt x="11850" y="682"/>
                </a:lnTo>
                <a:lnTo>
                  <a:pt x="11728" y="512"/>
                </a:lnTo>
                <a:lnTo>
                  <a:pt x="11582" y="366"/>
                </a:lnTo>
                <a:lnTo>
                  <a:pt x="11412" y="220"/>
                </a:lnTo>
                <a:lnTo>
                  <a:pt x="11266" y="147"/>
                </a:lnTo>
                <a:lnTo>
                  <a:pt x="11120" y="74"/>
                </a:lnTo>
                <a:lnTo>
                  <a:pt x="10925" y="25"/>
                </a:lnTo>
                <a:lnTo>
                  <a:pt x="10731"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C78D8"/>
              </a:solidFill>
            </a:endParaRPr>
          </a:p>
        </p:txBody>
      </p:sp>
      <p:sp>
        <p:nvSpPr>
          <p:cNvPr id="755" name="Google Shape;755;p34"/>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27</a:t>
            </a:fld>
            <a:endParaRPr/>
          </a:p>
        </p:txBody>
      </p:sp>
    </p:spTree>
  </p:cSld>
  <p:clrMapOvr>
    <a:masterClrMapping/>
  </p:clrMapOvr>
</p:sld>
</file>

<file path=ppt/theme/theme1.xml><?xml version="1.0" encoding="utf-8"?>
<a:theme xmlns:a="http://schemas.openxmlformats.org/drawingml/2006/main" name="Friar template">
  <a:themeElements>
    <a:clrScheme name="Custom 347">
      <a:dk1>
        <a:srgbClr val="3D4965"/>
      </a:dk1>
      <a:lt1>
        <a:srgbClr val="FFFFFF"/>
      </a:lt1>
      <a:dk2>
        <a:srgbClr val="1C4587"/>
      </a:dk2>
      <a:lt2>
        <a:srgbClr val="F3F3F3"/>
      </a:lt2>
      <a:accent1>
        <a:srgbClr val="3C78D8"/>
      </a:accent1>
      <a:accent2>
        <a:srgbClr val="89ABE6"/>
      </a:accent2>
      <a:accent3>
        <a:srgbClr val="8EA3C3"/>
      </a:accent3>
      <a:accent4>
        <a:srgbClr val="EFEFEF"/>
      </a:accent4>
      <a:accent5>
        <a:srgbClr val="D9D9D9"/>
      </a:accent5>
      <a:accent6>
        <a:srgbClr val="C9DAF8"/>
      </a:accent6>
      <a:hlink>
        <a:srgbClr val="3C78D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18181</TotalTime>
  <Words>2068</Words>
  <Application>Microsoft Macintosh PowerPoint</Application>
  <PresentationFormat>Affichage à l'écran (16:9)</PresentationFormat>
  <Paragraphs>191</Paragraphs>
  <Slides>27</Slides>
  <Notes>6</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Dosis</vt:lpstr>
      <vt:lpstr>Andale Mono</vt:lpstr>
      <vt:lpstr>Sniglet</vt:lpstr>
      <vt:lpstr>Nunito</vt:lpstr>
      <vt:lpstr>Arial</vt:lpstr>
      <vt:lpstr>Wingdings</vt:lpstr>
      <vt:lpstr>Courier New</vt:lpstr>
      <vt:lpstr>ArialMT</vt:lpstr>
      <vt:lpstr>Friar template</vt:lpstr>
      <vt:lpstr>Academia : Analyse données système éducatif</vt:lpstr>
      <vt:lpstr>Projet d’expansion à l’international, analyse exploratoire DS P2 Laure Agrech</vt:lpstr>
      <vt:lpstr>Plan du livrable</vt:lpstr>
      <vt:lpstr>Description du jeu de données : </vt:lpstr>
      <vt:lpstr>Description du jeu de données : </vt:lpstr>
      <vt:lpstr>Présentation PowerPoint</vt:lpstr>
      <vt:lpstr> </vt:lpstr>
      <vt:lpstr>Présentation PowerPoint</vt:lpstr>
      <vt:lpstr>Présentation PowerPoint</vt:lpstr>
      <vt:lpstr>Démarche dans le choix des indicateurs </vt:lpstr>
      <vt:lpstr>Présentation PowerPoint</vt:lpstr>
      <vt:lpstr>Présentation PowerPoint</vt:lpstr>
      <vt:lpstr>Présentation PowerPoint</vt:lpstr>
      <vt:lpstr>Autres critères d’étude</vt:lpstr>
      <vt:lpstr>Présentation PowerPoint</vt:lpstr>
      <vt:lpstr>Analyse univariée/bivariée  </vt:lpstr>
      <vt:lpstr>Présentation PowerPoint</vt:lpstr>
      <vt:lpstr>Présentation PowerPoint</vt:lpstr>
      <vt:lpstr>Présentation PowerPoint</vt:lpstr>
      <vt:lpstr>Présentation PowerPoint</vt:lpstr>
      <vt:lpstr>Analyse univariée/bivariée </vt:lpstr>
      <vt:lpstr>Pays et régions avec un fort potentiel de clients pour nos services </vt:lpstr>
      <vt:lpstr>Présentation PowerPoint</vt:lpstr>
      <vt:lpstr>Pays et régions avec un fort potentiel de clients pour nos services </vt:lpstr>
      <vt:lpstr>Présentation PowerPoint</vt:lpstr>
      <vt:lpstr>Présentation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Laure Agrech</cp:lastModifiedBy>
  <cp:revision>199</cp:revision>
  <dcterms:modified xsi:type="dcterms:W3CDTF">2022-07-09T06:59:25Z</dcterms:modified>
</cp:coreProperties>
</file>